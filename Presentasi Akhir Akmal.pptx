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x="18288000" cy="10287000"/>
  <p:notesSz cx="6858000" cy="9144000"/>
  <p:embeddedFontLst>
    <p:embeddedFont>
      <p:font typeface="Geometrica Sans Medium" charset="1" panose="00000000000000000000"/>
      <p:regular r:id="rId28"/>
    </p:embeddedFont>
    <p:embeddedFont>
      <p:font typeface="TS Qamus" charset="1" panose="00000500000000000000"/>
      <p:regular r:id="rId29"/>
    </p:embeddedFont>
    <p:embeddedFont>
      <p:font typeface="Poppins" charset="1" panose="00000500000000000000"/>
      <p:regular r:id="rId30"/>
    </p:embeddedFont>
    <p:embeddedFont>
      <p:font typeface="Poppins Bold" charset="1" panose="00000800000000000000"/>
      <p:regular r:id="rId31"/>
    </p:embeddedFont>
    <p:embeddedFont>
      <p:font typeface="Poppins Italics" charset="1" panose="00000500000000000000"/>
      <p:regular r:id="rId32"/>
    </p:embeddedFont>
    <p:embeddedFont>
      <p:font typeface="TS Qamus Bold" charset="1" panose="00000800000000000000"/>
      <p:regular r:id="rId33"/>
    </p:embeddedFont>
    <p:embeddedFont>
      <p:font typeface="Geometrica Sans Bold" charset="1" panose="00000000000000000000"/>
      <p:regular r:id="rId34"/>
    </p:embeddedFont>
    <p:embeddedFont>
      <p:font typeface="Open Sans Bold" charset="1" panose="020B0806030504020204"/>
      <p:regular r:id="rId35"/>
    </p:embeddedFont>
    <p:embeddedFont>
      <p:font typeface="Poppins Light Italics" charset="1" panose="00000400000000000000"/>
      <p:regular r:id="rId3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36" Target="fonts/font36.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5.jpeg" Type="http://schemas.openxmlformats.org/officeDocument/2006/relationships/image"/><Relationship Id="rId6" Target="../media/image6.jpeg" Type="http://schemas.openxmlformats.org/officeDocument/2006/relationships/image"/><Relationship Id="rId7" Target="../media/image7.jpeg" Type="http://schemas.openxmlformats.org/officeDocument/2006/relationships/image"/><Relationship Id="rId8" Target="../media/image8.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9.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12.jpe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7.png" Type="http://schemas.openxmlformats.org/officeDocument/2006/relationships/image"/><Relationship Id="rId4" Target="../media/image18.svg" Type="http://schemas.openxmlformats.org/officeDocument/2006/relationships/image"/><Relationship Id="rId5" Target="../media/image12.jpe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19.jpe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20.jpe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3.png" Type="http://schemas.openxmlformats.org/officeDocument/2006/relationships/image"/><Relationship Id="rId4" Target="../media/image14.svg" Type="http://schemas.openxmlformats.org/officeDocument/2006/relationships/image"/><Relationship Id="rId5" Target="../media/image21.png" Type="http://schemas.openxmlformats.org/officeDocument/2006/relationships/image"/><Relationship Id="rId6" Target="../media/image22.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23.jpe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4.jpe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12.jpe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13.png" Type="http://schemas.openxmlformats.org/officeDocument/2006/relationships/image"/><Relationship Id="rId6" Target="../media/image14.svg" Type="http://schemas.openxmlformats.org/officeDocument/2006/relationships/image"/><Relationship Id="rId7" Target="../media/image15.png" Type="http://schemas.openxmlformats.org/officeDocument/2006/relationships/image"/><Relationship Id="rId8" Target="../media/image16.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23.jpe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19.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23.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12.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25.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26.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27.png" Type="http://schemas.openxmlformats.org/officeDocument/2006/relationships/image"/><Relationship Id="rId6" Target="../media/image12.jpe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28.jpeg" Type="http://schemas.openxmlformats.org/officeDocument/2006/relationships/image"/><Relationship Id="rId6" Target="../media/image29.jpeg" Type="http://schemas.openxmlformats.org/officeDocument/2006/relationships/image"/><Relationship Id="rId7" Target="../media/image30.jpeg" Type="http://schemas.openxmlformats.org/officeDocument/2006/relationships/image"/><Relationship Id="rId8" Target="../media/image31.jpe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6.png" Type="http://schemas.openxmlformats.org/officeDocument/2006/relationships/image"/><Relationship Id="rId11" Target="../media/image37.svg" Type="http://schemas.openxmlformats.org/officeDocument/2006/relationships/image"/><Relationship Id="rId12" Target="../media/image38.png" Type="http://schemas.openxmlformats.org/officeDocument/2006/relationships/image"/><Relationship Id="rId13" Target="../media/image39.svg" Type="http://schemas.openxmlformats.org/officeDocument/2006/relationships/image"/><Relationship Id="rId2" Target="../media/image1.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2.png" Type="http://schemas.openxmlformats.org/officeDocument/2006/relationships/image"/><Relationship Id="rId6" Target="../media/image32.png" Type="http://schemas.openxmlformats.org/officeDocument/2006/relationships/image"/><Relationship Id="rId7" Target="../media/image33.svg" Type="http://schemas.openxmlformats.org/officeDocument/2006/relationships/image"/><Relationship Id="rId8" Target="../media/image34.png" Type="http://schemas.openxmlformats.org/officeDocument/2006/relationships/image"/><Relationship Id="rId9" Target="../media/image35.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777" r="0" b="-1777"/>
            </a:stretch>
          </a:blipFill>
        </p:spPr>
      </p:sp>
      <p:sp>
        <p:nvSpPr>
          <p:cNvPr name="AutoShape 3" id="3"/>
          <p:cNvSpPr/>
          <p:nvPr/>
        </p:nvSpPr>
        <p:spPr>
          <a:xfrm>
            <a:off x="8759186" y="-448043"/>
            <a:ext cx="0" cy="11118486"/>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
        <p:nvSpPr>
          <p:cNvPr name="AutoShape 4" id="4"/>
          <p:cNvSpPr/>
          <p:nvPr/>
        </p:nvSpPr>
        <p:spPr>
          <a:xfrm>
            <a:off x="477889" y="-448043"/>
            <a:ext cx="0" cy="11118486"/>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
        <p:nvSpPr>
          <p:cNvPr name="AutoShape 5" id="5"/>
          <p:cNvSpPr/>
          <p:nvPr/>
        </p:nvSpPr>
        <p:spPr>
          <a:xfrm>
            <a:off x="-417053" y="1167061"/>
            <a:ext cx="19109210" cy="0"/>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grpSp>
        <p:nvGrpSpPr>
          <p:cNvPr name="Group 6" id="6"/>
          <p:cNvGrpSpPr/>
          <p:nvPr/>
        </p:nvGrpSpPr>
        <p:grpSpPr>
          <a:xfrm rot="0">
            <a:off x="16845300" y="391766"/>
            <a:ext cx="635507" cy="554019"/>
            <a:chOff x="0" y="0"/>
            <a:chExt cx="167376" cy="145915"/>
          </a:xfrm>
        </p:grpSpPr>
        <p:sp>
          <p:nvSpPr>
            <p:cNvPr name="Freeform 7" id="7"/>
            <p:cNvSpPr/>
            <p:nvPr/>
          </p:nvSpPr>
          <p:spPr>
            <a:xfrm flipH="false" flipV="false" rot="0">
              <a:off x="0" y="0"/>
              <a:ext cx="167376" cy="145915"/>
            </a:xfrm>
            <a:custGeom>
              <a:avLst/>
              <a:gdLst/>
              <a:ahLst/>
              <a:cxnLst/>
              <a:rect r="r" b="b" t="t" l="l"/>
              <a:pathLst>
                <a:path h="145915" w="167376">
                  <a:moveTo>
                    <a:pt x="72957" y="0"/>
                  </a:moveTo>
                  <a:lnTo>
                    <a:pt x="94419" y="0"/>
                  </a:lnTo>
                  <a:cubicBezTo>
                    <a:pt x="134712" y="0"/>
                    <a:pt x="167376" y="32664"/>
                    <a:pt x="167376" y="72957"/>
                  </a:cubicBezTo>
                  <a:lnTo>
                    <a:pt x="167376" y="72957"/>
                  </a:lnTo>
                  <a:cubicBezTo>
                    <a:pt x="167376" y="113250"/>
                    <a:pt x="134712" y="145915"/>
                    <a:pt x="94419" y="145915"/>
                  </a:cubicBezTo>
                  <a:lnTo>
                    <a:pt x="72957" y="145915"/>
                  </a:lnTo>
                  <a:cubicBezTo>
                    <a:pt x="32664" y="145915"/>
                    <a:pt x="0" y="113250"/>
                    <a:pt x="0" y="72957"/>
                  </a:cubicBezTo>
                  <a:lnTo>
                    <a:pt x="0" y="72957"/>
                  </a:lnTo>
                  <a:cubicBezTo>
                    <a:pt x="0" y="32664"/>
                    <a:pt x="32664" y="0"/>
                    <a:pt x="72957" y="0"/>
                  </a:cubicBezTo>
                  <a:close/>
                </a:path>
              </a:pathLst>
            </a:custGeom>
            <a:gradFill rotWithShape="true">
              <a:gsLst>
                <a:gs pos="0">
                  <a:srgbClr val="9B9B9B">
                    <a:alpha val="28000"/>
                  </a:srgbClr>
                </a:gs>
                <a:gs pos="25000">
                  <a:srgbClr val="FFFFFF">
                    <a:alpha val="29000"/>
                  </a:srgbClr>
                </a:gs>
                <a:gs pos="50000">
                  <a:srgbClr val="FFFFFF">
                    <a:alpha val="44500"/>
                  </a:srgbClr>
                </a:gs>
                <a:gs pos="75000">
                  <a:srgbClr val="FFFFFF">
                    <a:alpha val="29000"/>
                  </a:srgbClr>
                </a:gs>
                <a:gs pos="100000">
                  <a:srgbClr val="9B9B9B">
                    <a:alpha val="28000"/>
                  </a:srgbClr>
                </a:gs>
              </a:gsLst>
              <a:lin ang="2700000"/>
            </a:grad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8" id="8"/>
            <p:cNvSpPr txBox="true"/>
            <p:nvPr/>
          </p:nvSpPr>
          <p:spPr>
            <a:xfrm>
              <a:off x="0" y="-47625"/>
              <a:ext cx="167376" cy="193540"/>
            </a:xfrm>
            <a:prstGeom prst="rect">
              <a:avLst/>
            </a:prstGeom>
          </p:spPr>
          <p:txBody>
            <a:bodyPr anchor="ctr" rtlCol="false" tIns="50800" lIns="50800" bIns="50800" rIns="50800"/>
            <a:lstStyle/>
            <a:p>
              <a:pPr algn="ctr">
                <a:lnSpc>
                  <a:spcPts val="3359"/>
                </a:lnSpc>
              </a:pPr>
            </a:p>
          </p:txBody>
        </p:sp>
      </p:grpSp>
      <p:grpSp>
        <p:nvGrpSpPr>
          <p:cNvPr name="Group 9" id="9"/>
          <p:cNvGrpSpPr/>
          <p:nvPr/>
        </p:nvGrpSpPr>
        <p:grpSpPr>
          <a:xfrm rot="0">
            <a:off x="13913154" y="391766"/>
            <a:ext cx="2743897" cy="554019"/>
            <a:chOff x="0" y="0"/>
            <a:chExt cx="722672" cy="145915"/>
          </a:xfrm>
        </p:grpSpPr>
        <p:sp>
          <p:nvSpPr>
            <p:cNvPr name="Freeform 10" id="10"/>
            <p:cNvSpPr/>
            <p:nvPr/>
          </p:nvSpPr>
          <p:spPr>
            <a:xfrm flipH="false" flipV="false" rot="0">
              <a:off x="0" y="0"/>
              <a:ext cx="722672" cy="145915"/>
            </a:xfrm>
            <a:custGeom>
              <a:avLst/>
              <a:gdLst/>
              <a:ahLst/>
              <a:cxnLst/>
              <a:rect r="r" b="b" t="t" l="l"/>
              <a:pathLst>
                <a:path h="145915" w="722672">
                  <a:moveTo>
                    <a:pt x="72957" y="0"/>
                  </a:moveTo>
                  <a:lnTo>
                    <a:pt x="649715" y="0"/>
                  </a:lnTo>
                  <a:cubicBezTo>
                    <a:pt x="690008" y="0"/>
                    <a:pt x="722672" y="32664"/>
                    <a:pt x="722672" y="72957"/>
                  </a:cubicBezTo>
                  <a:lnTo>
                    <a:pt x="722672" y="72957"/>
                  </a:lnTo>
                  <a:cubicBezTo>
                    <a:pt x="722672" y="113250"/>
                    <a:pt x="690008" y="145915"/>
                    <a:pt x="649715" y="145915"/>
                  </a:cubicBezTo>
                  <a:lnTo>
                    <a:pt x="72957" y="145915"/>
                  </a:lnTo>
                  <a:cubicBezTo>
                    <a:pt x="32664" y="145915"/>
                    <a:pt x="0" y="113250"/>
                    <a:pt x="0" y="72957"/>
                  </a:cubicBezTo>
                  <a:lnTo>
                    <a:pt x="0" y="72957"/>
                  </a:lnTo>
                  <a:cubicBezTo>
                    <a:pt x="0" y="32664"/>
                    <a:pt x="32664" y="0"/>
                    <a:pt x="72957" y="0"/>
                  </a:cubicBezTo>
                  <a:close/>
                </a:path>
              </a:pathLst>
            </a:custGeom>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11" id="11"/>
            <p:cNvSpPr txBox="true"/>
            <p:nvPr/>
          </p:nvSpPr>
          <p:spPr>
            <a:xfrm>
              <a:off x="0" y="-47625"/>
              <a:ext cx="722672" cy="193540"/>
            </a:xfrm>
            <a:prstGeom prst="rect">
              <a:avLst/>
            </a:prstGeom>
          </p:spPr>
          <p:txBody>
            <a:bodyPr anchor="ctr" rtlCol="false" tIns="50800" lIns="50800" bIns="50800" rIns="50800"/>
            <a:lstStyle/>
            <a:p>
              <a:pPr algn="ctr">
                <a:lnSpc>
                  <a:spcPts val="3359"/>
                </a:lnSpc>
              </a:pPr>
            </a:p>
          </p:txBody>
        </p:sp>
      </p:grpSp>
      <p:grpSp>
        <p:nvGrpSpPr>
          <p:cNvPr name="Group 12" id="12"/>
          <p:cNvGrpSpPr/>
          <p:nvPr/>
        </p:nvGrpSpPr>
        <p:grpSpPr>
          <a:xfrm rot="0">
            <a:off x="8999840" y="5143500"/>
            <a:ext cx="4419257" cy="925019"/>
            <a:chOff x="0" y="0"/>
            <a:chExt cx="1163919" cy="243627"/>
          </a:xfrm>
        </p:grpSpPr>
        <p:sp>
          <p:nvSpPr>
            <p:cNvPr name="Freeform 13" id="13"/>
            <p:cNvSpPr/>
            <p:nvPr/>
          </p:nvSpPr>
          <p:spPr>
            <a:xfrm flipH="false" flipV="false" rot="0">
              <a:off x="0" y="0"/>
              <a:ext cx="1163919" cy="243627"/>
            </a:xfrm>
            <a:custGeom>
              <a:avLst/>
              <a:gdLst/>
              <a:ahLst/>
              <a:cxnLst/>
              <a:rect r="r" b="b" t="t" l="l"/>
              <a:pathLst>
                <a:path h="243627" w="1163919">
                  <a:moveTo>
                    <a:pt x="70074" y="0"/>
                  </a:moveTo>
                  <a:lnTo>
                    <a:pt x="1093845" y="0"/>
                  </a:lnTo>
                  <a:cubicBezTo>
                    <a:pt x="1112430" y="0"/>
                    <a:pt x="1130254" y="7383"/>
                    <a:pt x="1143395" y="20524"/>
                  </a:cubicBezTo>
                  <a:cubicBezTo>
                    <a:pt x="1156537" y="33666"/>
                    <a:pt x="1163919" y="51490"/>
                    <a:pt x="1163919" y="70074"/>
                  </a:cubicBezTo>
                  <a:lnTo>
                    <a:pt x="1163919" y="173552"/>
                  </a:lnTo>
                  <a:cubicBezTo>
                    <a:pt x="1163919" y="212253"/>
                    <a:pt x="1132546" y="243627"/>
                    <a:pt x="1093845" y="243627"/>
                  </a:cubicBezTo>
                  <a:lnTo>
                    <a:pt x="70074" y="243627"/>
                  </a:lnTo>
                  <a:cubicBezTo>
                    <a:pt x="51490" y="243627"/>
                    <a:pt x="33666" y="236244"/>
                    <a:pt x="20524" y="223102"/>
                  </a:cubicBezTo>
                  <a:cubicBezTo>
                    <a:pt x="7383" y="209961"/>
                    <a:pt x="0" y="192137"/>
                    <a:pt x="0" y="173552"/>
                  </a:cubicBezTo>
                  <a:lnTo>
                    <a:pt x="0" y="70074"/>
                  </a:lnTo>
                  <a:cubicBezTo>
                    <a:pt x="0" y="51490"/>
                    <a:pt x="7383" y="33666"/>
                    <a:pt x="20524" y="20524"/>
                  </a:cubicBezTo>
                  <a:cubicBezTo>
                    <a:pt x="33666" y="7383"/>
                    <a:pt x="51490" y="0"/>
                    <a:pt x="70074" y="0"/>
                  </a:cubicBezTo>
                  <a:close/>
                </a:path>
              </a:pathLst>
            </a:custGeom>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14" id="14"/>
            <p:cNvSpPr txBox="true"/>
            <p:nvPr/>
          </p:nvSpPr>
          <p:spPr>
            <a:xfrm>
              <a:off x="0" y="-47625"/>
              <a:ext cx="1163919" cy="291252"/>
            </a:xfrm>
            <a:prstGeom prst="rect">
              <a:avLst/>
            </a:prstGeom>
          </p:spPr>
          <p:txBody>
            <a:bodyPr anchor="ctr" rtlCol="false" tIns="50800" lIns="50800" bIns="50800" rIns="50800"/>
            <a:lstStyle/>
            <a:p>
              <a:pPr algn="ctr">
                <a:lnSpc>
                  <a:spcPts val="3359"/>
                </a:lnSpc>
              </a:pPr>
            </a:p>
          </p:txBody>
        </p:sp>
      </p:grpSp>
      <p:grpSp>
        <p:nvGrpSpPr>
          <p:cNvPr name="Group 15" id="15"/>
          <p:cNvGrpSpPr/>
          <p:nvPr/>
        </p:nvGrpSpPr>
        <p:grpSpPr>
          <a:xfrm rot="0">
            <a:off x="13801046" y="5143500"/>
            <a:ext cx="3679761" cy="925019"/>
            <a:chOff x="0" y="0"/>
            <a:chExt cx="969155" cy="243627"/>
          </a:xfrm>
        </p:grpSpPr>
        <p:sp>
          <p:nvSpPr>
            <p:cNvPr name="Freeform 16" id="16"/>
            <p:cNvSpPr/>
            <p:nvPr/>
          </p:nvSpPr>
          <p:spPr>
            <a:xfrm flipH="false" flipV="false" rot="0">
              <a:off x="0" y="0"/>
              <a:ext cx="969155" cy="243627"/>
            </a:xfrm>
            <a:custGeom>
              <a:avLst/>
              <a:gdLst/>
              <a:ahLst/>
              <a:cxnLst/>
              <a:rect r="r" b="b" t="t" l="l"/>
              <a:pathLst>
                <a:path h="243627" w="969155">
                  <a:moveTo>
                    <a:pt x="84157" y="0"/>
                  </a:moveTo>
                  <a:lnTo>
                    <a:pt x="884998" y="0"/>
                  </a:lnTo>
                  <a:cubicBezTo>
                    <a:pt x="907318" y="0"/>
                    <a:pt x="928724" y="8866"/>
                    <a:pt x="944506" y="24649"/>
                  </a:cubicBezTo>
                  <a:cubicBezTo>
                    <a:pt x="960289" y="40431"/>
                    <a:pt x="969155" y="61837"/>
                    <a:pt x="969155" y="84157"/>
                  </a:cubicBezTo>
                  <a:lnTo>
                    <a:pt x="969155" y="159470"/>
                  </a:lnTo>
                  <a:cubicBezTo>
                    <a:pt x="969155" y="181789"/>
                    <a:pt x="960289" y="203195"/>
                    <a:pt x="944506" y="218978"/>
                  </a:cubicBezTo>
                  <a:cubicBezTo>
                    <a:pt x="928724" y="234760"/>
                    <a:pt x="907318" y="243627"/>
                    <a:pt x="884998" y="243627"/>
                  </a:cubicBezTo>
                  <a:lnTo>
                    <a:pt x="84157" y="243627"/>
                  </a:lnTo>
                  <a:cubicBezTo>
                    <a:pt x="61837" y="243627"/>
                    <a:pt x="40431" y="234760"/>
                    <a:pt x="24649" y="218978"/>
                  </a:cubicBezTo>
                  <a:cubicBezTo>
                    <a:pt x="8866" y="203195"/>
                    <a:pt x="0" y="181789"/>
                    <a:pt x="0" y="159470"/>
                  </a:cubicBezTo>
                  <a:lnTo>
                    <a:pt x="0" y="84157"/>
                  </a:lnTo>
                  <a:cubicBezTo>
                    <a:pt x="0" y="61837"/>
                    <a:pt x="8866" y="40431"/>
                    <a:pt x="24649" y="24649"/>
                  </a:cubicBezTo>
                  <a:cubicBezTo>
                    <a:pt x="40431" y="8866"/>
                    <a:pt x="61837" y="0"/>
                    <a:pt x="84157" y="0"/>
                  </a:cubicBezTo>
                  <a:close/>
                </a:path>
              </a:pathLst>
            </a:custGeom>
            <a:gradFill rotWithShape="true">
              <a:gsLst>
                <a:gs pos="0">
                  <a:srgbClr val="9B9B9B">
                    <a:alpha val="28000"/>
                  </a:srgbClr>
                </a:gs>
                <a:gs pos="25000">
                  <a:srgbClr val="FFFFFF">
                    <a:alpha val="29000"/>
                  </a:srgbClr>
                </a:gs>
                <a:gs pos="50000">
                  <a:srgbClr val="FFFFFF">
                    <a:alpha val="44500"/>
                  </a:srgbClr>
                </a:gs>
                <a:gs pos="75000">
                  <a:srgbClr val="FFFFFF">
                    <a:alpha val="29000"/>
                  </a:srgbClr>
                </a:gs>
                <a:gs pos="100000">
                  <a:srgbClr val="9B9B9B">
                    <a:alpha val="28000"/>
                  </a:srgbClr>
                </a:gs>
              </a:gsLst>
              <a:lin ang="2700000"/>
            </a:grad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17" id="17"/>
            <p:cNvSpPr txBox="true"/>
            <p:nvPr/>
          </p:nvSpPr>
          <p:spPr>
            <a:xfrm>
              <a:off x="0" y="-47625"/>
              <a:ext cx="969155" cy="291252"/>
            </a:xfrm>
            <a:prstGeom prst="rect">
              <a:avLst/>
            </a:prstGeom>
          </p:spPr>
          <p:txBody>
            <a:bodyPr anchor="ctr" rtlCol="false" tIns="50800" lIns="50800" bIns="50800" rIns="50800"/>
            <a:lstStyle/>
            <a:p>
              <a:pPr algn="ctr">
                <a:lnSpc>
                  <a:spcPts val="3359"/>
                </a:lnSpc>
              </a:pPr>
            </a:p>
          </p:txBody>
        </p:sp>
      </p:grpSp>
      <p:sp>
        <p:nvSpPr>
          <p:cNvPr name="TextBox 18" id="18"/>
          <p:cNvSpPr txBox="true"/>
          <p:nvPr/>
        </p:nvSpPr>
        <p:spPr>
          <a:xfrm rot="0">
            <a:off x="1217101" y="1960916"/>
            <a:ext cx="11745765" cy="2845449"/>
          </a:xfrm>
          <a:prstGeom prst="rect">
            <a:avLst/>
          </a:prstGeom>
        </p:spPr>
        <p:txBody>
          <a:bodyPr anchor="t" rtlCol="false" tIns="0" lIns="0" bIns="0" rIns="0">
            <a:spAutoFit/>
          </a:bodyPr>
          <a:lstStyle/>
          <a:p>
            <a:pPr algn="l" marL="0" indent="0" lvl="0">
              <a:lnSpc>
                <a:spcPts val="23239"/>
              </a:lnSpc>
              <a:spcBef>
                <a:spcPct val="0"/>
              </a:spcBef>
            </a:pPr>
            <a:r>
              <a:rPr lang="en-US" b="true" sz="16599" spc="-199" strike="noStrike" u="none">
                <a:solidFill>
                  <a:srgbClr val="FFFFFF"/>
                </a:solidFill>
                <a:latin typeface="Geometrica Sans Medium"/>
                <a:ea typeface="Geometrica Sans Medium"/>
                <a:cs typeface="Geometrica Sans Medium"/>
                <a:sym typeface="Geometrica Sans Medium"/>
              </a:rPr>
              <a:t>Rekomendasi</a:t>
            </a:r>
          </a:p>
        </p:txBody>
      </p:sp>
      <p:sp>
        <p:nvSpPr>
          <p:cNvPr name="TextBox 19" id="19"/>
          <p:cNvSpPr txBox="true"/>
          <p:nvPr/>
        </p:nvSpPr>
        <p:spPr>
          <a:xfrm rot="0">
            <a:off x="2687314" y="4383454"/>
            <a:ext cx="4495329" cy="2845464"/>
          </a:xfrm>
          <a:prstGeom prst="rect">
            <a:avLst/>
          </a:prstGeom>
        </p:spPr>
        <p:txBody>
          <a:bodyPr anchor="t" rtlCol="false" tIns="0" lIns="0" bIns="0" rIns="0">
            <a:spAutoFit/>
          </a:bodyPr>
          <a:lstStyle/>
          <a:p>
            <a:pPr algn="l">
              <a:lnSpc>
                <a:spcPts val="23238"/>
              </a:lnSpc>
            </a:pPr>
            <a:r>
              <a:rPr lang="en-US" sz="16598" spc="-199" b="true">
                <a:solidFill>
                  <a:srgbClr val="FFFFFF"/>
                </a:solidFill>
                <a:latin typeface="Geometrica Sans Medium"/>
                <a:ea typeface="Geometrica Sans Medium"/>
                <a:cs typeface="Geometrica Sans Medium"/>
                <a:sym typeface="Geometrica Sans Medium"/>
              </a:rPr>
              <a:t>Karir</a:t>
            </a:r>
          </a:p>
        </p:txBody>
      </p:sp>
      <p:sp>
        <p:nvSpPr>
          <p:cNvPr name="Freeform 20" id="20"/>
          <p:cNvSpPr/>
          <p:nvPr/>
        </p:nvSpPr>
        <p:spPr>
          <a:xfrm flipH="false" flipV="false" rot="0">
            <a:off x="-574377" y="6697169"/>
            <a:ext cx="19436754" cy="5976802"/>
          </a:xfrm>
          <a:custGeom>
            <a:avLst/>
            <a:gdLst/>
            <a:ahLst/>
            <a:cxnLst/>
            <a:rect r="r" b="b" t="t" l="l"/>
            <a:pathLst>
              <a:path h="5976802" w="19436754">
                <a:moveTo>
                  <a:pt x="0" y="0"/>
                </a:moveTo>
                <a:lnTo>
                  <a:pt x="19436754" y="0"/>
                </a:lnTo>
                <a:lnTo>
                  <a:pt x="19436754" y="5976802"/>
                </a:lnTo>
                <a:lnTo>
                  <a:pt x="0" y="5976802"/>
                </a:lnTo>
                <a:lnTo>
                  <a:pt x="0" y="0"/>
                </a:lnTo>
                <a:close/>
              </a:path>
            </a:pathLst>
          </a:custGeom>
          <a:blipFill>
            <a:blip r:embed="rId3">
              <a:alphaModFix amt="70000"/>
            </a:blip>
            <a:stretch>
              <a:fillRect l="0" t="0" r="0" b="0"/>
            </a:stretch>
          </a:blipFill>
        </p:spPr>
      </p:sp>
      <p:sp>
        <p:nvSpPr>
          <p:cNvPr name="TextBox 21" id="21"/>
          <p:cNvSpPr txBox="true"/>
          <p:nvPr/>
        </p:nvSpPr>
        <p:spPr>
          <a:xfrm rot="0">
            <a:off x="9340045" y="5327245"/>
            <a:ext cx="3738847" cy="490855"/>
          </a:xfrm>
          <a:prstGeom prst="rect">
            <a:avLst/>
          </a:prstGeom>
        </p:spPr>
        <p:txBody>
          <a:bodyPr anchor="t" rtlCol="false" tIns="0" lIns="0" bIns="0" rIns="0">
            <a:spAutoFit/>
          </a:bodyPr>
          <a:lstStyle/>
          <a:p>
            <a:pPr algn="l">
              <a:lnSpc>
                <a:spcPts val="3919"/>
              </a:lnSpc>
            </a:pPr>
            <a:r>
              <a:rPr lang="en-US" sz="2799" spc="-181">
                <a:solidFill>
                  <a:srgbClr val="FFFFFF"/>
                </a:solidFill>
                <a:latin typeface="TS Qamus"/>
                <a:ea typeface="TS Qamus"/>
                <a:cs typeface="TS Qamus"/>
                <a:sym typeface="TS Qamus"/>
              </a:rPr>
              <a:t>Presentasi Akhir</a:t>
            </a:r>
          </a:p>
        </p:txBody>
      </p:sp>
      <p:sp>
        <p:nvSpPr>
          <p:cNvPr name="TextBox 22" id="22"/>
          <p:cNvSpPr txBox="true"/>
          <p:nvPr/>
        </p:nvSpPr>
        <p:spPr>
          <a:xfrm rot="0">
            <a:off x="14170902" y="477323"/>
            <a:ext cx="2228402" cy="325755"/>
          </a:xfrm>
          <a:prstGeom prst="rect">
            <a:avLst/>
          </a:prstGeom>
        </p:spPr>
        <p:txBody>
          <a:bodyPr anchor="t" rtlCol="false" tIns="0" lIns="0" bIns="0" rIns="0">
            <a:spAutoFit/>
          </a:bodyPr>
          <a:lstStyle/>
          <a:p>
            <a:pPr algn="ctr">
              <a:lnSpc>
                <a:spcPts val="2520"/>
              </a:lnSpc>
            </a:pPr>
            <a:r>
              <a:rPr lang="en-US" sz="1800" spc="-117">
                <a:solidFill>
                  <a:srgbClr val="FFFFFF"/>
                </a:solidFill>
                <a:latin typeface="Poppins"/>
                <a:ea typeface="Poppins"/>
                <a:cs typeface="Poppins"/>
                <a:sym typeface="Poppins"/>
              </a:rPr>
              <a:t>31 August, 2026</a:t>
            </a:r>
          </a:p>
        </p:txBody>
      </p:sp>
      <p:sp>
        <p:nvSpPr>
          <p:cNvPr name="TextBox 23" id="23"/>
          <p:cNvSpPr txBox="true"/>
          <p:nvPr/>
        </p:nvSpPr>
        <p:spPr>
          <a:xfrm rot="0">
            <a:off x="14132229" y="5252303"/>
            <a:ext cx="2228402" cy="283210"/>
          </a:xfrm>
          <a:prstGeom prst="rect">
            <a:avLst/>
          </a:prstGeom>
        </p:spPr>
        <p:txBody>
          <a:bodyPr anchor="t" rtlCol="false" tIns="0" lIns="0" bIns="0" rIns="0">
            <a:spAutoFit/>
          </a:bodyPr>
          <a:lstStyle/>
          <a:p>
            <a:pPr algn="l">
              <a:lnSpc>
                <a:spcPts val="2239"/>
              </a:lnSpc>
            </a:pPr>
            <a:r>
              <a:rPr lang="en-US" sz="1599" spc="-103">
                <a:solidFill>
                  <a:srgbClr val="FFFFFF"/>
                </a:solidFill>
                <a:latin typeface="Poppins"/>
                <a:ea typeface="Poppins"/>
                <a:cs typeface="Poppins"/>
                <a:sym typeface="Poppins"/>
              </a:rPr>
              <a:t>Presented By :</a:t>
            </a:r>
          </a:p>
        </p:txBody>
      </p:sp>
      <p:sp>
        <p:nvSpPr>
          <p:cNvPr name="TextBox 24" id="24"/>
          <p:cNvSpPr txBox="true"/>
          <p:nvPr/>
        </p:nvSpPr>
        <p:spPr>
          <a:xfrm rot="0">
            <a:off x="14132229" y="5501246"/>
            <a:ext cx="3127071" cy="391795"/>
          </a:xfrm>
          <a:prstGeom prst="rect">
            <a:avLst/>
          </a:prstGeom>
        </p:spPr>
        <p:txBody>
          <a:bodyPr anchor="t" rtlCol="false" tIns="0" lIns="0" bIns="0" rIns="0">
            <a:spAutoFit/>
          </a:bodyPr>
          <a:lstStyle/>
          <a:p>
            <a:pPr algn="l">
              <a:lnSpc>
                <a:spcPts val="3079"/>
              </a:lnSpc>
            </a:pPr>
            <a:r>
              <a:rPr lang="en-US" sz="2199" spc="-90" b="true">
                <a:solidFill>
                  <a:srgbClr val="FFFFFF"/>
                </a:solidFill>
                <a:latin typeface="Poppins Bold"/>
                <a:ea typeface="Poppins Bold"/>
                <a:cs typeface="Poppins Bold"/>
                <a:sym typeface="Poppins Bold"/>
              </a:rPr>
              <a:t>Akmal Yaasir Fauzaan</a:t>
            </a:r>
          </a:p>
        </p:txBody>
      </p:sp>
      <p:sp>
        <p:nvSpPr>
          <p:cNvPr name="TextBox 25" id="25"/>
          <p:cNvSpPr txBox="true"/>
          <p:nvPr/>
        </p:nvSpPr>
        <p:spPr>
          <a:xfrm rot="0">
            <a:off x="1271346" y="6778992"/>
            <a:ext cx="15987954" cy="2463165"/>
          </a:xfrm>
          <a:prstGeom prst="rect">
            <a:avLst/>
          </a:prstGeom>
        </p:spPr>
        <p:txBody>
          <a:bodyPr anchor="t" rtlCol="false" tIns="0" lIns="0" bIns="0" rIns="0">
            <a:spAutoFit/>
          </a:bodyPr>
          <a:lstStyle/>
          <a:p>
            <a:pPr algn="l" marL="0" indent="0" lvl="0">
              <a:lnSpc>
                <a:spcPts val="20160"/>
              </a:lnSpc>
              <a:spcBef>
                <a:spcPct val="0"/>
              </a:spcBef>
            </a:pPr>
            <a:r>
              <a:rPr lang="en-US" b="true" sz="14400" spc="-172" strike="noStrike" u="none">
                <a:solidFill>
                  <a:srgbClr val="FFFFFF"/>
                </a:solidFill>
                <a:latin typeface="Geometrica Sans Medium"/>
                <a:ea typeface="Geometrica Sans Medium"/>
                <a:cs typeface="Geometrica Sans Medium"/>
                <a:sym typeface="Geometrica Sans Medium"/>
              </a:rPr>
              <a:t>dengan Explainable AI</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777" r="0" b="-1777"/>
            </a:stretch>
          </a:blipFill>
        </p:spPr>
      </p:sp>
      <p:sp>
        <p:nvSpPr>
          <p:cNvPr name="AutoShape 3" id="3"/>
          <p:cNvSpPr/>
          <p:nvPr/>
        </p:nvSpPr>
        <p:spPr>
          <a:xfrm>
            <a:off x="10038640" y="-468675"/>
            <a:ext cx="0" cy="1635737"/>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
        <p:nvSpPr>
          <p:cNvPr name="AutoShape 4" id="4"/>
          <p:cNvSpPr/>
          <p:nvPr/>
        </p:nvSpPr>
        <p:spPr>
          <a:xfrm>
            <a:off x="6223588" y="-468675"/>
            <a:ext cx="0" cy="1635737"/>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
        <p:nvSpPr>
          <p:cNvPr name="AutoShape 5" id="5"/>
          <p:cNvSpPr/>
          <p:nvPr/>
        </p:nvSpPr>
        <p:spPr>
          <a:xfrm>
            <a:off x="7465304" y="1167061"/>
            <a:ext cx="0" cy="9482750"/>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
        <p:nvSpPr>
          <p:cNvPr name="AutoShape 6" id="6"/>
          <p:cNvSpPr/>
          <p:nvPr/>
        </p:nvSpPr>
        <p:spPr>
          <a:xfrm>
            <a:off x="477889" y="-448043"/>
            <a:ext cx="0" cy="11118486"/>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
        <p:nvSpPr>
          <p:cNvPr name="Freeform 7" id="7"/>
          <p:cNvSpPr/>
          <p:nvPr/>
        </p:nvSpPr>
        <p:spPr>
          <a:xfrm flipH="false" flipV="false" rot="0">
            <a:off x="783373" y="515779"/>
            <a:ext cx="443469" cy="305994"/>
          </a:xfrm>
          <a:custGeom>
            <a:avLst/>
            <a:gdLst/>
            <a:ahLst/>
            <a:cxnLst/>
            <a:rect r="r" b="b" t="t" l="l"/>
            <a:pathLst>
              <a:path h="305994" w="443469">
                <a:moveTo>
                  <a:pt x="0" y="0"/>
                </a:moveTo>
                <a:lnTo>
                  <a:pt x="443469" y="0"/>
                </a:lnTo>
                <a:lnTo>
                  <a:pt x="443469" y="305993"/>
                </a:lnTo>
                <a:lnTo>
                  <a:pt x="0" y="30599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8" id="8"/>
          <p:cNvGrpSpPr/>
          <p:nvPr/>
        </p:nvGrpSpPr>
        <p:grpSpPr>
          <a:xfrm rot="0">
            <a:off x="16845300" y="391766"/>
            <a:ext cx="635507" cy="554019"/>
            <a:chOff x="0" y="0"/>
            <a:chExt cx="167376" cy="145915"/>
          </a:xfrm>
        </p:grpSpPr>
        <p:sp>
          <p:nvSpPr>
            <p:cNvPr name="Freeform 9" id="9"/>
            <p:cNvSpPr/>
            <p:nvPr/>
          </p:nvSpPr>
          <p:spPr>
            <a:xfrm flipH="false" flipV="false" rot="0">
              <a:off x="0" y="0"/>
              <a:ext cx="167376" cy="145915"/>
            </a:xfrm>
            <a:custGeom>
              <a:avLst/>
              <a:gdLst/>
              <a:ahLst/>
              <a:cxnLst/>
              <a:rect r="r" b="b" t="t" l="l"/>
              <a:pathLst>
                <a:path h="145915" w="167376">
                  <a:moveTo>
                    <a:pt x="72957" y="0"/>
                  </a:moveTo>
                  <a:lnTo>
                    <a:pt x="94419" y="0"/>
                  </a:lnTo>
                  <a:cubicBezTo>
                    <a:pt x="134712" y="0"/>
                    <a:pt x="167376" y="32664"/>
                    <a:pt x="167376" y="72957"/>
                  </a:cubicBezTo>
                  <a:lnTo>
                    <a:pt x="167376" y="72957"/>
                  </a:lnTo>
                  <a:cubicBezTo>
                    <a:pt x="167376" y="113250"/>
                    <a:pt x="134712" y="145915"/>
                    <a:pt x="94419" y="145915"/>
                  </a:cubicBezTo>
                  <a:lnTo>
                    <a:pt x="72957" y="145915"/>
                  </a:lnTo>
                  <a:cubicBezTo>
                    <a:pt x="32664" y="145915"/>
                    <a:pt x="0" y="113250"/>
                    <a:pt x="0" y="72957"/>
                  </a:cubicBezTo>
                  <a:lnTo>
                    <a:pt x="0" y="72957"/>
                  </a:lnTo>
                  <a:cubicBezTo>
                    <a:pt x="0" y="32664"/>
                    <a:pt x="32664" y="0"/>
                    <a:pt x="72957" y="0"/>
                  </a:cubicBezTo>
                  <a:close/>
                </a:path>
              </a:pathLst>
            </a:custGeom>
            <a:gradFill rotWithShape="true">
              <a:gsLst>
                <a:gs pos="0">
                  <a:srgbClr val="9B9B9B">
                    <a:alpha val="28000"/>
                  </a:srgbClr>
                </a:gs>
                <a:gs pos="25000">
                  <a:srgbClr val="FFFFFF">
                    <a:alpha val="29000"/>
                  </a:srgbClr>
                </a:gs>
                <a:gs pos="50000">
                  <a:srgbClr val="FFFFFF">
                    <a:alpha val="44500"/>
                  </a:srgbClr>
                </a:gs>
                <a:gs pos="75000">
                  <a:srgbClr val="FFFFFF">
                    <a:alpha val="29000"/>
                  </a:srgbClr>
                </a:gs>
                <a:gs pos="100000">
                  <a:srgbClr val="9B9B9B">
                    <a:alpha val="28000"/>
                  </a:srgbClr>
                </a:gs>
              </a:gsLst>
              <a:lin ang="2700000"/>
            </a:grad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10" id="10"/>
            <p:cNvSpPr txBox="true"/>
            <p:nvPr/>
          </p:nvSpPr>
          <p:spPr>
            <a:xfrm>
              <a:off x="0" y="-47625"/>
              <a:ext cx="167376" cy="193540"/>
            </a:xfrm>
            <a:prstGeom prst="rect">
              <a:avLst/>
            </a:prstGeom>
          </p:spPr>
          <p:txBody>
            <a:bodyPr anchor="ctr" rtlCol="false" tIns="50800" lIns="50800" bIns="50800" rIns="50800"/>
            <a:lstStyle/>
            <a:p>
              <a:pPr algn="ctr">
                <a:lnSpc>
                  <a:spcPts val="3359"/>
                </a:lnSpc>
              </a:pPr>
            </a:p>
          </p:txBody>
        </p:sp>
      </p:grpSp>
      <p:grpSp>
        <p:nvGrpSpPr>
          <p:cNvPr name="Group 11" id="11"/>
          <p:cNvGrpSpPr/>
          <p:nvPr/>
        </p:nvGrpSpPr>
        <p:grpSpPr>
          <a:xfrm rot="0">
            <a:off x="13913154" y="391766"/>
            <a:ext cx="2743897" cy="554019"/>
            <a:chOff x="0" y="0"/>
            <a:chExt cx="722672" cy="145915"/>
          </a:xfrm>
        </p:grpSpPr>
        <p:sp>
          <p:nvSpPr>
            <p:cNvPr name="Freeform 12" id="12"/>
            <p:cNvSpPr/>
            <p:nvPr/>
          </p:nvSpPr>
          <p:spPr>
            <a:xfrm flipH="false" flipV="false" rot="0">
              <a:off x="0" y="0"/>
              <a:ext cx="722672" cy="145915"/>
            </a:xfrm>
            <a:custGeom>
              <a:avLst/>
              <a:gdLst/>
              <a:ahLst/>
              <a:cxnLst/>
              <a:rect r="r" b="b" t="t" l="l"/>
              <a:pathLst>
                <a:path h="145915" w="722672">
                  <a:moveTo>
                    <a:pt x="72957" y="0"/>
                  </a:moveTo>
                  <a:lnTo>
                    <a:pt x="649715" y="0"/>
                  </a:lnTo>
                  <a:cubicBezTo>
                    <a:pt x="690008" y="0"/>
                    <a:pt x="722672" y="32664"/>
                    <a:pt x="722672" y="72957"/>
                  </a:cubicBezTo>
                  <a:lnTo>
                    <a:pt x="722672" y="72957"/>
                  </a:lnTo>
                  <a:cubicBezTo>
                    <a:pt x="722672" y="113250"/>
                    <a:pt x="690008" y="145915"/>
                    <a:pt x="649715" y="145915"/>
                  </a:cubicBezTo>
                  <a:lnTo>
                    <a:pt x="72957" y="145915"/>
                  </a:lnTo>
                  <a:cubicBezTo>
                    <a:pt x="32664" y="145915"/>
                    <a:pt x="0" y="113250"/>
                    <a:pt x="0" y="72957"/>
                  </a:cubicBezTo>
                  <a:lnTo>
                    <a:pt x="0" y="72957"/>
                  </a:lnTo>
                  <a:cubicBezTo>
                    <a:pt x="0" y="32664"/>
                    <a:pt x="32664" y="0"/>
                    <a:pt x="72957" y="0"/>
                  </a:cubicBezTo>
                  <a:close/>
                </a:path>
              </a:pathLst>
            </a:custGeom>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13" id="13"/>
            <p:cNvSpPr txBox="true"/>
            <p:nvPr/>
          </p:nvSpPr>
          <p:spPr>
            <a:xfrm>
              <a:off x="0" y="-47625"/>
              <a:ext cx="722672" cy="193540"/>
            </a:xfrm>
            <a:prstGeom prst="rect">
              <a:avLst/>
            </a:prstGeom>
          </p:spPr>
          <p:txBody>
            <a:bodyPr anchor="ctr" rtlCol="false" tIns="50800" lIns="50800" bIns="50800" rIns="50800"/>
            <a:lstStyle/>
            <a:p>
              <a:pPr algn="ctr">
                <a:lnSpc>
                  <a:spcPts val="3359"/>
                </a:lnSpc>
              </a:pPr>
            </a:p>
          </p:txBody>
        </p:sp>
      </p:grpSp>
      <p:grpSp>
        <p:nvGrpSpPr>
          <p:cNvPr name="Group 14" id="14"/>
          <p:cNvGrpSpPr/>
          <p:nvPr/>
        </p:nvGrpSpPr>
        <p:grpSpPr>
          <a:xfrm rot="0">
            <a:off x="6476000" y="391766"/>
            <a:ext cx="3341946" cy="554019"/>
            <a:chOff x="0" y="0"/>
            <a:chExt cx="880183" cy="145915"/>
          </a:xfrm>
        </p:grpSpPr>
        <p:sp>
          <p:nvSpPr>
            <p:cNvPr name="Freeform 15" id="15"/>
            <p:cNvSpPr/>
            <p:nvPr/>
          </p:nvSpPr>
          <p:spPr>
            <a:xfrm flipH="false" flipV="false" rot="0">
              <a:off x="0" y="0"/>
              <a:ext cx="880183" cy="145915"/>
            </a:xfrm>
            <a:custGeom>
              <a:avLst/>
              <a:gdLst/>
              <a:ahLst/>
              <a:cxnLst/>
              <a:rect r="r" b="b" t="t" l="l"/>
              <a:pathLst>
                <a:path h="145915" w="880183">
                  <a:moveTo>
                    <a:pt x="72957" y="0"/>
                  </a:moveTo>
                  <a:lnTo>
                    <a:pt x="807226" y="0"/>
                  </a:lnTo>
                  <a:cubicBezTo>
                    <a:pt x="847519" y="0"/>
                    <a:pt x="880183" y="32664"/>
                    <a:pt x="880183" y="72957"/>
                  </a:cubicBezTo>
                  <a:lnTo>
                    <a:pt x="880183" y="72957"/>
                  </a:lnTo>
                  <a:cubicBezTo>
                    <a:pt x="880183" y="113250"/>
                    <a:pt x="847519" y="145915"/>
                    <a:pt x="807226" y="145915"/>
                  </a:cubicBezTo>
                  <a:lnTo>
                    <a:pt x="72957" y="145915"/>
                  </a:lnTo>
                  <a:cubicBezTo>
                    <a:pt x="32664" y="145915"/>
                    <a:pt x="0" y="113250"/>
                    <a:pt x="0" y="72957"/>
                  </a:cubicBezTo>
                  <a:lnTo>
                    <a:pt x="0" y="72957"/>
                  </a:lnTo>
                  <a:cubicBezTo>
                    <a:pt x="0" y="32664"/>
                    <a:pt x="32664" y="0"/>
                    <a:pt x="72957" y="0"/>
                  </a:cubicBezTo>
                  <a:close/>
                </a:path>
              </a:pathLst>
            </a:custGeom>
            <a:solidFill>
              <a:srgbClr val="FFFFFF"/>
            </a:solid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16" id="16"/>
            <p:cNvSpPr txBox="true"/>
            <p:nvPr/>
          </p:nvSpPr>
          <p:spPr>
            <a:xfrm>
              <a:off x="0" y="-47625"/>
              <a:ext cx="880183" cy="193540"/>
            </a:xfrm>
            <a:prstGeom prst="rect">
              <a:avLst/>
            </a:prstGeom>
          </p:spPr>
          <p:txBody>
            <a:bodyPr anchor="ctr" rtlCol="false" tIns="50800" lIns="50800" bIns="50800" rIns="50800"/>
            <a:lstStyle/>
            <a:p>
              <a:pPr algn="ctr">
                <a:lnSpc>
                  <a:spcPts val="3359"/>
                </a:lnSpc>
              </a:pPr>
            </a:p>
          </p:txBody>
        </p:sp>
      </p:grpSp>
      <p:sp>
        <p:nvSpPr>
          <p:cNvPr name="AutoShape 17" id="17"/>
          <p:cNvSpPr/>
          <p:nvPr/>
        </p:nvSpPr>
        <p:spPr>
          <a:xfrm>
            <a:off x="-417053" y="1167061"/>
            <a:ext cx="19109210" cy="0"/>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
        <p:nvSpPr>
          <p:cNvPr name="TextBox 18" id="18"/>
          <p:cNvSpPr txBox="true"/>
          <p:nvPr/>
        </p:nvSpPr>
        <p:spPr>
          <a:xfrm rot="0">
            <a:off x="1383454" y="471410"/>
            <a:ext cx="2385672" cy="382270"/>
          </a:xfrm>
          <a:prstGeom prst="rect">
            <a:avLst/>
          </a:prstGeom>
        </p:spPr>
        <p:txBody>
          <a:bodyPr anchor="t" rtlCol="false" tIns="0" lIns="0" bIns="0" rIns="0">
            <a:spAutoFit/>
          </a:bodyPr>
          <a:lstStyle/>
          <a:p>
            <a:pPr algn="l">
              <a:lnSpc>
                <a:spcPts val="3079"/>
              </a:lnSpc>
            </a:pPr>
            <a:r>
              <a:rPr lang="en-US" sz="2199" spc="-142">
                <a:solidFill>
                  <a:srgbClr val="FFFFFF"/>
                </a:solidFill>
                <a:latin typeface="TS Qamus"/>
                <a:ea typeface="TS Qamus"/>
                <a:cs typeface="TS Qamus"/>
                <a:sym typeface="TS Qamus"/>
              </a:rPr>
              <a:t>Salford &amp; Co.</a:t>
            </a:r>
          </a:p>
        </p:txBody>
      </p:sp>
      <p:sp>
        <p:nvSpPr>
          <p:cNvPr name="TextBox 19" id="19"/>
          <p:cNvSpPr txBox="true"/>
          <p:nvPr/>
        </p:nvSpPr>
        <p:spPr>
          <a:xfrm rot="0">
            <a:off x="14170902" y="477323"/>
            <a:ext cx="2228402" cy="325755"/>
          </a:xfrm>
          <a:prstGeom prst="rect">
            <a:avLst/>
          </a:prstGeom>
        </p:spPr>
        <p:txBody>
          <a:bodyPr anchor="t" rtlCol="false" tIns="0" lIns="0" bIns="0" rIns="0">
            <a:spAutoFit/>
          </a:bodyPr>
          <a:lstStyle/>
          <a:p>
            <a:pPr algn="ctr">
              <a:lnSpc>
                <a:spcPts val="2520"/>
              </a:lnSpc>
            </a:pPr>
            <a:r>
              <a:rPr lang="en-US" sz="1800" spc="-117">
                <a:solidFill>
                  <a:srgbClr val="FFFFFF"/>
                </a:solidFill>
                <a:latin typeface="Poppins"/>
                <a:ea typeface="Poppins"/>
                <a:cs typeface="Poppins"/>
                <a:sym typeface="Poppins"/>
              </a:rPr>
              <a:t>6 August, 2025</a:t>
            </a:r>
          </a:p>
        </p:txBody>
      </p:sp>
      <p:sp>
        <p:nvSpPr>
          <p:cNvPr name="TextBox 20" id="20"/>
          <p:cNvSpPr txBox="true"/>
          <p:nvPr/>
        </p:nvSpPr>
        <p:spPr>
          <a:xfrm rot="0">
            <a:off x="6740220" y="477323"/>
            <a:ext cx="2820551" cy="325755"/>
          </a:xfrm>
          <a:prstGeom prst="rect">
            <a:avLst/>
          </a:prstGeom>
        </p:spPr>
        <p:txBody>
          <a:bodyPr anchor="t" rtlCol="false" tIns="0" lIns="0" bIns="0" rIns="0">
            <a:spAutoFit/>
          </a:bodyPr>
          <a:lstStyle/>
          <a:p>
            <a:pPr algn="ctr">
              <a:lnSpc>
                <a:spcPts val="2520"/>
              </a:lnSpc>
            </a:pPr>
            <a:r>
              <a:rPr lang="en-US" sz="1800" spc="-117">
                <a:solidFill>
                  <a:srgbClr val="000000"/>
                </a:solidFill>
                <a:latin typeface="Poppins"/>
                <a:ea typeface="Poppins"/>
                <a:cs typeface="Poppins"/>
                <a:sym typeface="Poppins"/>
              </a:rPr>
              <a:t>Social</a:t>
            </a:r>
            <a:r>
              <a:rPr lang="en-US" sz="1800" spc="-117">
                <a:solidFill>
                  <a:srgbClr val="000000"/>
                </a:solidFill>
                <a:latin typeface="Poppins"/>
                <a:ea typeface="Poppins"/>
                <a:cs typeface="Poppins"/>
                <a:sym typeface="Poppins"/>
              </a:rPr>
              <a:t> Media Proposal</a:t>
            </a:r>
          </a:p>
        </p:txBody>
      </p:sp>
      <p:sp>
        <p:nvSpPr>
          <p:cNvPr name="AutoShape 21" id="21"/>
          <p:cNvSpPr/>
          <p:nvPr/>
        </p:nvSpPr>
        <p:spPr>
          <a:xfrm>
            <a:off x="477889" y="5746957"/>
            <a:ext cx="6987415" cy="0"/>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
        <p:nvSpPr>
          <p:cNvPr name="TextBox 22" id="22"/>
          <p:cNvSpPr txBox="true"/>
          <p:nvPr/>
        </p:nvSpPr>
        <p:spPr>
          <a:xfrm rot="0">
            <a:off x="815264" y="2077876"/>
            <a:ext cx="5408324" cy="2999487"/>
          </a:xfrm>
          <a:prstGeom prst="rect">
            <a:avLst/>
          </a:prstGeom>
        </p:spPr>
        <p:txBody>
          <a:bodyPr anchor="t" rtlCol="false" tIns="0" lIns="0" bIns="0" rIns="0">
            <a:spAutoFit/>
          </a:bodyPr>
          <a:lstStyle/>
          <a:p>
            <a:pPr algn="l">
              <a:lnSpc>
                <a:spcPts val="11392"/>
              </a:lnSpc>
            </a:pPr>
            <a:r>
              <a:rPr lang="en-US" sz="12800" spc="-153" b="true">
                <a:solidFill>
                  <a:srgbClr val="FFFFFF"/>
                </a:solidFill>
                <a:latin typeface="Geometrica Sans Medium"/>
                <a:ea typeface="Geometrica Sans Medium"/>
                <a:cs typeface="Geometrica Sans Medium"/>
                <a:sym typeface="Geometrica Sans Medium"/>
              </a:rPr>
              <a:t>Our Team</a:t>
            </a:r>
          </a:p>
        </p:txBody>
      </p:sp>
      <p:grpSp>
        <p:nvGrpSpPr>
          <p:cNvPr name="Group 23" id="23"/>
          <p:cNvGrpSpPr/>
          <p:nvPr/>
        </p:nvGrpSpPr>
        <p:grpSpPr>
          <a:xfrm rot="0">
            <a:off x="8022643" y="1550709"/>
            <a:ext cx="4487603" cy="3672821"/>
            <a:chOff x="0" y="0"/>
            <a:chExt cx="1181920" cy="967327"/>
          </a:xfrm>
        </p:grpSpPr>
        <p:sp>
          <p:nvSpPr>
            <p:cNvPr name="Freeform 24" id="24"/>
            <p:cNvSpPr/>
            <p:nvPr/>
          </p:nvSpPr>
          <p:spPr>
            <a:xfrm flipH="false" flipV="false" rot="0">
              <a:off x="0" y="0"/>
              <a:ext cx="1181920" cy="967327"/>
            </a:xfrm>
            <a:custGeom>
              <a:avLst/>
              <a:gdLst/>
              <a:ahLst/>
              <a:cxnLst/>
              <a:rect r="r" b="b" t="t" l="l"/>
              <a:pathLst>
                <a:path h="967327" w="1181920">
                  <a:moveTo>
                    <a:pt x="69007" y="0"/>
                  </a:moveTo>
                  <a:lnTo>
                    <a:pt x="1112913" y="0"/>
                  </a:lnTo>
                  <a:cubicBezTo>
                    <a:pt x="1151025" y="0"/>
                    <a:pt x="1181920" y="30896"/>
                    <a:pt x="1181920" y="69007"/>
                  </a:cubicBezTo>
                  <a:lnTo>
                    <a:pt x="1181920" y="898320"/>
                  </a:lnTo>
                  <a:cubicBezTo>
                    <a:pt x="1181920" y="936432"/>
                    <a:pt x="1151025" y="967327"/>
                    <a:pt x="1112913" y="967327"/>
                  </a:cubicBezTo>
                  <a:lnTo>
                    <a:pt x="69007" y="967327"/>
                  </a:lnTo>
                  <a:cubicBezTo>
                    <a:pt x="30896" y="967327"/>
                    <a:pt x="0" y="936432"/>
                    <a:pt x="0" y="898320"/>
                  </a:cubicBezTo>
                  <a:lnTo>
                    <a:pt x="0" y="69007"/>
                  </a:lnTo>
                  <a:cubicBezTo>
                    <a:pt x="0" y="30896"/>
                    <a:pt x="30896" y="0"/>
                    <a:pt x="69007" y="0"/>
                  </a:cubicBezTo>
                  <a:close/>
                </a:path>
              </a:pathLst>
            </a:custGeom>
            <a:gradFill rotWithShape="true">
              <a:gsLst>
                <a:gs pos="0">
                  <a:srgbClr val="292929">
                    <a:alpha val="100000"/>
                  </a:srgbClr>
                </a:gs>
                <a:gs pos="100000">
                  <a:srgbClr val="3F4E52">
                    <a:alpha val="100000"/>
                  </a:srgbClr>
                </a:gs>
              </a:gsLst>
              <a:lin ang="0"/>
            </a:grad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25" id="25"/>
            <p:cNvSpPr txBox="true"/>
            <p:nvPr/>
          </p:nvSpPr>
          <p:spPr>
            <a:xfrm>
              <a:off x="0" y="-47625"/>
              <a:ext cx="1181920" cy="1014952"/>
            </a:xfrm>
            <a:prstGeom prst="rect">
              <a:avLst/>
            </a:prstGeom>
          </p:spPr>
          <p:txBody>
            <a:bodyPr anchor="ctr" rtlCol="false" tIns="50800" lIns="50800" bIns="50800" rIns="50800"/>
            <a:lstStyle/>
            <a:p>
              <a:pPr algn="ctr" marL="0" indent="0" lvl="0">
                <a:lnSpc>
                  <a:spcPts val="3359"/>
                </a:lnSpc>
                <a:spcBef>
                  <a:spcPct val="0"/>
                </a:spcBef>
              </a:pPr>
            </a:p>
          </p:txBody>
        </p:sp>
      </p:grpSp>
      <p:grpSp>
        <p:nvGrpSpPr>
          <p:cNvPr name="Group 26" id="26"/>
          <p:cNvGrpSpPr/>
          <p:nvPr/>
        </p:nvGrpSpPr>
        <p:grpSpPr>
          <a:xfrm rot="0">
            <a:off x="12993203" y="1550709"/>
            <a:ext cx="4487603" cy="3672821"/>
            <a:chOff x="0" y="0"/>
            <a:chExt cx="1181920" cy="967327"/>
          </a:xfrm>
        </p:grpSpPr>
        <p:sp>
          <p:nvSpPr>
            <p:cNvPr name="Freeform 27" id="27"/>
            <p:cNvSpPr/>
            <p:nvPr/>
          </p:nvSpPr>
          <p:spPr>
            <a:xfrm flipH="false" flipV="false" rot="0">
              <a:off x="0" y="0"/>
              <a:ext cx="1181920" cy="967327"/>
            </a:xfrm>
            <a:custGeom>
              <a:avLst/>
              <a:gdLst/>
              <a:ahLst/>
              <a:cxnLst/>
              <a:rect r="r" b="b" t="t" l="l"/>
              <a:pathLst>
                <a:path h="967327" w="1181920">
                  <a:moveTo>
                    <a:pt x="69007" y="0"/>
                  </a:moveTo>
                  <a:lnTo>
                    <a:pt x="1112913" y="0"/>
                  </a:lnTo>
                  <a:cubicBezTo>
                    <a:pt x="1151025" y="0"/>
                    <a:pt x="1181920" y="30896"/>
                    <a:pt x="1181920" y="69007"/>
                  </a:cubicBezTo>
                  <a:lnTo>
                    <a:pt x="1181920" y="898320"/>
                  </a:lnTo>
                  <a:cubicBezTo>
                    <a:pt x="1181920" y="936432"/>
                    <a:pt x="1151025" y="967327"/>
                    <a:pt x="1112913" y="967327"/>
                  </a:cubicBezTo>
                  <a:lnTo>
                    <a:pt x="69007" y="967327"/>
                  </a:lnTo>
                  <a:cubicBezTo>
                    <a:pt x="30896" y="967327"/>
                    <a:pt x="0" y="936432"/>
                    <a:pt x="0" y="898320"/>
                  </a:cubicBezTo>
                  <a:lnTo>
                    <a:pt x="0" y="69007"/>
                  </a:lnTo>
                  <a:cubicBezTo>
                    <a:pt x="0" y="30896"/>
                    <a:pt x="30896" y="0"/>
                    <a:pt x="69007" y="0"/>
                  </a:cubicBezTo>
                  <a:close/>
                </a:path>
              </a:pathLst>
            </a:custGeom>
            <a:solidFill>
              <a:srgbClr val="FFFFFF"/>
            </a:solid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28" id="28"/>
            <p:cNvSpPr txBox="true"/>
            <p:nvPr/>
          </p:nvSpPr>
          <p:spPr>
            <a:xfrm>
              <a:off x="0" y="-47625"/>
              <a:ext cx="1181920" cy="1014952"/>
            </a:xfrm>
            <a:prstGeom prst="rect">
              <a:avLst/>
            </a:prstGeom>
          </p:spPr>
          <p:txBody>
            <a:bodyPr anchor="ctr" rtlCol="false" tIns="50800" lIns="50800" bIns="50800" rIns="50800"/>
            <a:lstStyle/>
            <a:p>
              <a:pPr algn="ctr">
                <a:lnSpc>
                  <a:spcPts val="3359"/>
                </a:lnSpc>
              </a:pPr>
            </a:p>
          </p:txBody>
        </p:sp>
      </p:grpSp>
      <p:grpSp>
        <p:nvGrpSpPr>
          <p:cNvPr name="Group 29" id="29"/>
          <p:cNvGrpSpPr/>
          <p:nvPr/>
        </p:nvGrpSpPr>
        <p:grpSpPr>
          <a:xfrm rot="0">
            <a:off x="8022643" y="5585479"/>
            <a:ext cx="4487603" cy="3672821"/>
            <a:chOff x="0" y="0"/>
            <a:chExt cx="1181920" cy="967327"/>
          </a:xfrm>
        </p:grpSpPr>
        <p:sp>
          <p:nvSpPr>
            <p:cNvPr name="Freeform 30" id="30"/>
            <p:cNvSpPr/>
            <p:nvPr/>
          </p:nvSpPr>
          <p:spPr>
            <a:xfrm flipH="false" flipV="false" rot="0">
              <a:off x="0" y="0"/>
              <a:ext cx="1181920" cy="967327"/>
            </a:xfrm>
            <a:custGeom>
              <a:avLst/>
              <a:gdLst/>
              <a:ahLst/>
              <a:cxnLst/>
              <a:rect r="r" b="b" t="t" l="l"/>
              <a:pathLst>
                <a:path h="967327" w="1181920">
                  <a:moveTo>
                    <a:pt x="69007" y="0"/>
                  </a:moveTo>
                  <a:lnTo>
                    <a:pt x="1112913" y="0"/>
                  </a:lnTo>
                  <a:cubicBezTo>
                    <a:pt x="1151025" y="0"/>
                    <a:pt x="1181920" y="30896"/>
                    <a:pt x="1181920" y="69007"/>
                  </a:cubicBezTo>
                  <a:lnTo>
                    <a:pt x="1181920" y="898320"/>
                  </a:lnTo>
                  <a:cubicBezTo>
                    <a:pt x="1181920" y="936432"/>
                    <a:pt x="1151025" y="967327"/>
                    <a:pt x="1112913" y="967327"/>
                  </a:cubicBezTo>
                  <a:lnTo>
                    <a:pt x="69007" y="967327"/>
                  </a:lnTo>
                  <a:cubicBezTo>
                    <a:pt x="30896" y="967327"/>
                    <a:pt x="0" y="936432"/>
                    <a:pt x="0" y="898320"/>
                  </a:cubicBezTo>
                  <a:lnTo>
                    <a:pt x="0" y="69007"/>
                  </a:lnTo>
                  <a:cubicBezTo>
                    <a:pt x="0" y="30896"/>
                    <a:pt x="30896" y="0"/>
                    <a:pt x="69007" y="0"/>
                  </a:cubicBezTo>
                  <a:close/>
                </a:path>
              </a:pathLst>
            </a:custGeom>
            <a:solidFill>
              <a:srgbClr val="FFFFFF"/>
            </a:solid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31" id="31"/>
            <p:cNvSpPr txBox="true"/>
            <p:nvPr/>
          </p:nvSpPr>
          <p:spPr>
            <a:xfrm>
              <a:off x="0" y="-47625"/>
              <a:ext cx="1181920" cy="1014952"/>
            </a:xfrm>
            <a:prstGeom prst="rect">
              <a:avLst/>
            </a:prstGeom>
          </p:spPr>
          <p:txBody>
            <a:bodyPr anchor="ctr" rtlCol="false" tIns="50800" lIns="50800" bIns="50800" rIns="50800"/>
            <a:lstStyle/>
            <a:p>
              <a:pPr algn="ctr">
                <a:lnSpc>
                  <a:spcPts val="3359"/>
                </a:lnSpc>
              </a:pPr>
            </a:p>
          </p:txBody>
        </p:sp>
      </p:grpSp>
      <p:grpSp>
        <p:nvGrpSpPr>
          <p:cNvPr name="Group 32" id="32"/>
          <p:cNvGrpSpPr/>
          <p:nvPr/>
        </p:nvGrpSpPr>
        <p:grpSpPr>
          <a:xfrm rot="0">
            <a:off x="12993203" y="5585479"/>
            <a:ext cx="4487603" cy="3672821"/>
            <a:chOff x="0" y="0"/>
            <a:chExt cx="1181920" cy="967327"/>
          </a:xfrm>
        </p:grpSpPr>
        <p:sp>
          <p:nvSpPr>
            <p:cNvPr name="Freeform 33" id="33"/>
            <p:cNvSpPr/>
            <p:nvPr/>
          </p:nvSpPr>
          <p:spPr>
            <a:xfrm flipH="false" flipV="false" rot="0">
              <a:off x="0" y="0"/>
              <a:ext cx="1181920" cy="967327"/>
            </a:xfrm>
            <a:custGeom>
              <a:avLst/>
              <a:gdLst/>
              <a:ahLst/>
              <a:cxnLst/>
              <a:rect r="r" b="b" t="t" l="l"/>
              <a:pathLst>
                <a:path h="967327" w="1181920">
                  <a:moveTo>
                    <a:pt x="69007" y="0"/>
                  </a:moveTo>
                  <a:lnTo>
                    <a:pt x="1112913" y="0"/>
                  </a:lnTo>
                  <a:cubicBezTo>
                    <a:pt x="1151025" y="0"/>
                    <a:pt x="1181920" y="30896"/>
                    <a:pt x="1181920" y="69007"/>
                  </a:cubicBezTo>
                  <a:lnTo>
                    <a:pt x="1181920" y="898320"/>
                  </a:lnTo>
                  <a:cubicBezTo>
                    <a:pt x="1181920" y="936432"/>
                    <a:pt x="1151025" y="967327"/>
                    <a:pt x="1112913" y="967327"/>
                  </a:cubicBezTo>
                  <a:lnTo>
                    <a:pt x="69007" y="967327"/>
                  </a:lnTo>
                  <a:cubicBezTo>
                    <a:pt x="30896" y="967327"/>
                    <a:pt x="0" y="936432"/>
                    <a:pt x="0" y="898320"/>
                  </a:cubicBezTo>
                  <a:lnTo>
                    <a:pt x="0" y="69007"/>
                  </a:lnTo>
                  <a:cubicBezTo>
                    <a:pt x="0" y="30896"/>
                    <a:pt x="30896" y="0"/>
                    <a:pt x="69007" y="0"/>
                  </a:cubicBezTo>
                  <a:close/>
                </a:path>
              </a:pathLst>
            </a:custGeom>
            <a:gradFill rotWithShape="true">
              <a:gsLst>
                <a:gs pos="0">
                  <a:srgbClr val="292929">
                    <a:alpha val="100000"/>
                  </a:srgbClr>
                </a:gs>
                <a:gs pos="100000">
                  <a:srgbClr val="3F4E52">
                    <a:alpha val="100000"/>
                  </a:srgbClr>
                </a:gs>
              </a:gsLst>
              <a:lin ang="0"/>
            </a:grad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34" id="34"/>
            <p:cNvSpPr txBox="true"/>
            <p:nvPr/>
          </p:nvSpPr>
          <p:spPr>
            <a:xfrm>
              <a:off x="0" y="-47625"/>
              <a:ext cx="1181920" cy="1014952"/>
            </a:xfrm>
            <a:prstGeom prst="rect">
              <a:avLst/>
            </a:prstGeom>
          </p:spPr>
          <p:txBody>
            <a:bodyPr anchor="ctr" rtlCol="false" tIns="50800" lIns="50800" bIns="50800" rIns="50800"/>
            <a:lstStyle/>
            <a:p>
              <a:pPr algn="ctr" marL="0" indent="0" lvl="0">
                <a:lnSpc>
                  <a:spcPts val="3359"/>
                </a:lnSpc>
                <a:spcBef>
                  <a:spcPct val="0"/>
                </a:spcBef>
              </a:pPr>
            </a:p>
          </p:txBody>
        </p:sp>
      </p:grpSp>
      <p:sp>
        <p:nvSpPr>
          <p:cNvPr name="TextBox 35" id="35"/>
          <p:cNvSpPr txBox="true"/>
          <p:nvPr/>
        </p:nvSpPr>
        <p:spPr>
          <a:xfrm rot="0">
            <a:off x="783373" y="6732794"/>
            <a:ext cx="5001262" cy="2020062"/>
          </a:xfrm>
          <a:prstGeom prst="rect">
            <a:avLst/>
          </a:prstGeom>
        </p:spPr>
        <p:txBody>
          <a:bodyPr anchor="t" rtlCol="false" tIns="0" lIns="0" bIns="0" rIns="0">
            <a:spAutoFit/>
          </a:bodyPr>
          <a:lstStyle/>
          <a:p>
            <a:pPr algn="l">
              <a:lnSpc>
                <a:spcPts val="2304"/>
              </a:lnSpc>
            </a:pPr>
            <a:r>
              <a:rPr lang="en-US" sz="1800" i="true" spc="-53">
                <a:solidFill>
                  <a:srgbClr val="C6C6C6"/>
                </a:solidFill>
                <a:latin typeface="Poppins Italics"/>
                <a:ea typeface="Poppins Italics"/>
                <a:cs typeface="Poppins Italics"/>
                <a:sym typeface="Poppins Italics"/>
              </a:rPr>
              <a:t>Lorem ipsum dolor sit amet, consectetur adipiscing elit. Quisque molestie nisl eu sem tristique, sit amet convallis ex aliquam. Maecenas varius lectus hendrerit augue blandit, ut posuere erat aliquam. Praesent auctor tellus eget nisl blandit, at varius purus elementum.</a:t>
            </a:r>
          </a:p>
        </p:txBody>
      </p:sp>
      <p:sp>
        <p:nvSpPr>
          <p:cNvPr name="AutoShape 36" id="36"/>
          <p:cNvSpPr/>
          <p:nvPr/>
        </p:nvSpPr>
        <p:spPr>
          <a:xfrm>
            <a:off x="490484" y="9780309"/>
            <a:ext cx="18539715" cy="0"/>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grpSp>
        <p:nvGrpSpPr>
          <p:cNvPr name="Group 37" id="37"/>
          <p:cNvGrpSpPr/>
          <p:nvPr/>
        </p:nvGrpSpPr>
        <p:grpSpPr>
          <a:xfrm rot="0">
            <a:off x="8022643" y="1550709"/>
            <a:ext cx="4487603" cy="2511583"/>
            <a:chOff x="0" y="0"/>
            <a:chExt cx="695247" cy="389110"/>
          </a:xfrm>
        </p:grpSpPr>
        <p:sp>
          <p:nvSpPr>
            <p:cNvPr name="Freeform 38" id="38"/>
            <p:cNvSpPr/>
            <p:nvPr/>
          </p:nvSpPr>
          <p:spPr>
            <a:xfrm flipH="false" flipV="false" rot="0">
              <a:off x="0" y="0"/>
              <a:ext cx="695247" cy="389110"/>
            </a:xfrm>
            <a:custGeom>
              <a:avLst/>
              <a:gdLst/>
              <a:ahLst/>
              <a:cxnLst/>
              <a:rect r="r" b="b" t="t" l="l"/>
              <a:pathLst>
                <a:path h="389110" w="695247">
                  <a:moveTo>
                    <a:pt x="69007" y="0"/>
                  </a:moveTo>
                  <a:lnTo>
                    <a:pt x="626240" y="0"/>
                  </a:lnTo>
                  <a:cubicBezTo>
                    <a:pt x="644542" y="0"/>
                    <a:pt x="662094" y="7270"/>
                    <a:pt x="675035" y="20212"/>
                  </a:cubicBezTo>
                  <a:cubicBezTo>
                    <a:pt x="687977" y="33153"/>
                    <a:pt x="695247" y="50705"/>
                    <a:pt x="695247" y="69007"/>
                  </a:cubicBezTo>
                  <a:lnTo>
                    <a:pt x="695247" y="320103"/>
                  </a:lnTo>
                  <a:cubicBezTo>
                    <a:pt x="695247" y="358214"/>
                    <a:pt x="664352" y="389110"/>
                    <a:pt x="626240" y="389110"/>
                  </a:cubicBezTo>
                  <a:lnTo>
                    <a:pt x="69007" y="389110"/>
                  </a:lnTo>
                  <a:cubicBezTo>
                    <a:pt x="30896" y="389110"/>
                    <a:pt x="0" y="358214"/>
                    <a:pt x="0" y="320103"/>
                  </a:cubicBezTo>
                  <a:lnTo>
                    <a:pt x="0" y="69007"/>
                  </a:lnTo>
                  <a:cubicBezTo>
                    <a:pt x="0" y="30896"/>
                    <a:pt x="30896" y="0"/>
                    <a:pt x="69007" y="0"/>
                  </a:cubicBezTo>
                  <a:close/>
                </a:path>
              </a:pathLst>
            </a:custGeom>
            <a:blipFill>
              <a:blip r:embed="rId5"/>
              <a:stretch>
                <a:fillRect l="-6824" t="-10956" r="-34689" b="-57506"/>
              </a:stretch>
            </a:blipFill>
            <a:ln w="19050"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grpSp>
        <p:nvGrpSpPr>
          <p:cNvPr name="Group 39" id="39"/>
          <p:cNvGrpSpPr/>
          <p:nvPr/>
        </p:nvGrpSpPr>
        <p:grpSpPr>
          <a:xfrm rot="0">
            <a:off x="8022643" y="5585479"/>
            <a:ext cx="4487603" cy="2511583"/>
            <a:chOff x="0" y="0"/>
            <a:chExt cx="695247" cy="389110"/>
          </a:xfrm>
        </p:grpSpPr>
        <p:sp>
          <p:nvSpPr>
            <p:cNvPr name="Freeform 40" id="40"/>
            <p:cNvSpPr/>
            <p:nvPr/>
          </p:nvSpPr>
          <p:spPr>
            <a:xfrm flipH="false" flipV="false" rot="0">
              <a:off x="0" y="0"/>
              <a:ext cx="695247" cy="389110"/>
            </a:xfrm>
            <a:custGeom>
              <a:avLst/>
              <a:gdLst/>
              <a:ahLst/>
              <a:cxnLst/>
              <a:rect r="r" b="b" t="t" l="l"/>
              <a:pathLst>
                <a:path h="389110" w="695247">
                  <a:moveTo>
                    <a:pt x="69007" y="0"/>
                  </a:moveTo>
                  <a:lnTo>
                    <a:pt x="626240" y="0"/>
                  </a:lnTo>
                  <a:cubicBezTo>
                    <a:pt x="644542" y="0"/>
                    <a:pt x="662094" y="7270"/>
                    <a:pt x="675035" y="20212"/>
                  </a:cubicBezTo>
                  <a:cubicBezTo>
                    <a:pt x="687977" y="33153"/>
                    <a:pt x="695247" y="50705"/>
                    <a:pt x="695247" y="69007"/>
                  </a:cubicBezTo>
                  <a:lnTo>
                    <a:pt x="695247" y="320103"/>
                  </a:lnTo>
                  <a:cubicBezTo>
                    <a:pt x="695247" y="358214"/>
                    <a:pt x="664352" y="389110"/>
                    <a:pt x="626240" y="389110"/>
                  </a:cubicBezTo>
                  <a:lnTo>
                    <a:pt x="69007" y="389110"/>
                  </a:lnTo>
                  <a:cubicBezTo>
                    <a:pt x="30896" y="389110"/>
                    <a:pt x="0" y="358214"/>
                    <a:pt x="0" y="320103"/>
                  </a:cubicBezTo>
                  <a:lnTo>
                    <a:pt x="0" y="69007"/>
                  </a:lnTo>
                  <a:cubicBezTo>
                    <a:pt x="0" y="30896"/>
                    <a:pt x="30896" y="0"/>
                    <a:pt x="69007" y="0"/>
                  </a:cubicBezTo>
                  <a:close/>
                </a:path>
              </a:pathLst>
            </a:custGeom>
            <a:blipFill>
              <a:blip r:embed="rId6"/>
              <a:stretch>
                <a:fillRect l="-16969" t="-70752" r="-10380" b="-170137"/>
              </a:stretch>
            </a:blipFill>
            <a:ln w="19050"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grpSp>
        <p:nvGrpSpPr>
          <p:cNvPr name="Group 41" id="41"/>
          <p:cNvGrpSpPr/>
          <p:nvPr/>
        </p:nvGrpSpPr>
        <p:grpSpPr>
          <a:xfrm rot="0">
            <a:off x="12993203" y="1550709"/>
            <a:ext cx="4487603" cy="2511583"/>
            <a:chOff x="0" y="0"/>
            <a:chExt cx="695247" cy="389110"/>
          </a:xfrm>
        </p:grpSpPr>
        <p:sp>
          <p:nvSpPr>
            <p:cNvPr name="Freeform 42" id="42"/>
            <p:cNvSpPr/>
            <p:nvPr/>
          </p:nvSpPr>
          <p:spPr>
            <a:xfrm flipH="false" flipV="false" rot="0">
              <a:off x="0" y="0"/>
              <a:ext cx="695247" cy="389110"/>
            </a:xfrm>
            <a:custGeom>
              <a:avLst/>
              <a:gdLst/>
              <a:ahLst/>
              <a:cxnLst/>
              <a:rect r="r" b="b" t="t" l="l"/>
              <a:pathLst>
                <a:path h="389110" w="695247">
                  <a:moveTo>
                    <a:pt x="69007" y="0"/>
                  </a:moveTo>
                  <a:lnTo>
                    <a:pt x="626240" y="0"/>
                  </a:lnTo>
                  <a:cubicBezTo>
                    <a:pt x="644542" y="0"/>
                    <a:pt x="662094" y="7270"/>
                    <a:pt x="675035" y="20212"/>
                  </a:cubicBezTo>
                  <a:cubicBezTo>
                    <a:pt x="687977" y="33153"/>
                    <a:pt x="695247" y="50705"/>
                    <a:pt x="695247" y="69007"/>
                  </a:cubicBezTo>
                  <a:lnTo>
                    <a:pt x="695247" y="320103"/>
                  </a:lnTo>
                  <a:cubicBezTo>
                    <a:pt x="695247" y="358214"/>
                    <a:pt x="664352" y="389110"/>
                    <a:pt x="626240" y="389110"/>
                  </a:cubicBezTo>
                  <a:lnTo>
                    <a:pt x="69007" y="389110"/>
                  </a:lnTo>
                  <a:cubicBezTo>
                    <a:pt x="30896" y="389110"/>
                    <a:pt x="0" y="358214"/>
                    <a:pt x="0" y="320103"/>
                  </a:cubicBezTo>
                  <a:lnTo>
                    <a:pt x="0" y="69007"/>
                  </a:lnTo>
                  <a:cubicBezTo>
                    <a:pt x="0" y="30896"/>
                    <a:pt x="30896" y="0"/>
                    <a:pt x="69007" y="0"/>
                  </a:cubicBezTo>
                  <a:close/>
                </a:path>
              </a:pathLst>
            </a:custGeom>
            <a:blipFill>
              <a:blip r:embed="rId7"/>
              <a:stretch>
                <a:fillRect l="-15227" t="-6278" r="-67465" b="-111612"/>
              </a:stretch>
            </a:blipFill>
            <a:ln w="19050"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grpSp>
        <p:nvGrpSpPr>
          <p:cNvPr name="Group 43" id="43"/>
          <p:cNvGrpSpPr/>
          <p:nvPr/>
        </p:nvGrpSpPr>
        <p:grpSpPr>
          <a:xfrm rot="0">
            <a:off x="12993203" y="5585479"/>
            <a:ext cx="4487603" cy="2511583"/>
            <a:chOff x="0" y="0"/>
            <a:chExt cx="695247" cy="389110"/>
          </a:xfrm>
        </p:grpSpPr>
        <p:sp>
          <p:nvSpPr>
            <p:cNvPr name="Freeform 44" id="44"/>
            <p:cNvSpPr/>
            <p:nvPr/>
          </p:nvSpPr>
          <p:spPr>
            <a:xfrm flipH="false" flipV="false" rot="0">
              <a:off x="0" y="0"/>
              <a:ext cx="695247" cy="389110"/>
            </a:xfrm>
            <a:custGeom>
              <a:avLst/>
              <a:gdLst/>
              <a:ahLst/>
              <a:cxnLst/>
              <a:rect r="r" b="b" t="t" l="l"/>
              <a:pathLst>
                <a:path h="389110" w="695247">
                  <a:moveTo>
                    <a:pt x="69007" y="0"/>
                  </a:moveTo>
                  <a:lnTo>
                    <a:pt x="626240" y="0"/>
                  </a:lnTo>
                  <a:cubicBezTo>
                    <a:pt x="644542" y="0"/>
                    <a:pt x="662094" y="7270"/>
                    <a:pt x="675035" y="20212"/>
                  </a:cubicBezTo>
                  <a:cubicBezTo>
                    <a:pt x="687977" y="33153"/>
                    <a:pt x="695247" y="50705"/>
                    <a:pt x="695247" y="69007"/>
                  </a:cubicBezTo>
                  <a:lnTo>
                    <a:pt x="695247" y="320103"/>
                  </a:lnTo>
                  <a:cubicBezTo>
                    <a:pt x="695247" y="358214"/>
                    <a:pt x="664352" y="389110"/>
                    <a:pt x="626240" y="389110"/>
                  </a:cubicBezTo>
                  <a:lnTo>
                    <a:pt x="69007" y="389110"/>
                  </a:lnTo>
                  <a:cubicBezTo>
                    <a:pt x="30896" y="389110"/>
                    <a:pt x="0" y="358214"/>
                    <a:pt x="0" y="320103"/>
                  </a:cubicBezTo>
                  <a:lnTo>
                    <a:pt x="0" y="69007"/>
                  </a:lnTo>
                  <a:cubicBezTo>
                    <a:pt x="0" y="30896"/>
                    <a:pt x="30896" y="0"/>
                    <a:pt x="69007" y="0"/>
                  </a:cubicBezTo>
                  <a:close/>
                </a:path>
              </a:pathLst>
            </a:custGeom>
            <a:blipFill>
              <a:blip r:embed="rId8"/>
              <a:stretch>
                <a:fillRect l="-14056" t="-87634" r="-11458" b="-148973"/>
              </a:stretch>
            </a:blipFill>
            <a:ln w="19050"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sp>
        <p:nvSpPr>
          <p:cNvPr name="TextBox 45" id="45"/>
          <p:cNvSpPr txBox="true"/>
          <p:nvPr/>
        </p:nvSpPr>
        <p:spPr>
          <a:xfrm rot="0">
            <a:off x="8816957" y="4658468"/>
            <a:ext cx="2898974" cy="283210"/>
          </a:xfrm>
          <a:prstGeom prst="rect">
            <a:avLst/>
          </a:prstGeom>
        </p:spPr>
        <p:txBody>
          <a:bodyPr anchor="t" rtlCol="false" tIns="0" lIns="0" bIns="0" rIns="0">
            <a:spAutoFit/>
          </a:bodyPr>
          <a:lstStyle/>
          <a:p>
            <a:pPr algn="ctr">
              <a:lnSpc>
                <a:spcPts val="2239"/>
              </a:lnSpc>
            </a:pPr>
            <a:r>
              <a:rPr lang="en-US" sz="1599" spc="-55">
                <a:solidFill>
                  <a:srgbClr val="FFFFFF"/>
                </a:solidFill>
                <a:latin typeface="Poppins"/>
                <a:ea typeface="Poppins"/>
                <a:cs typeface="Poppins"/>
                <a:sym typeface="Poppins"/>
              </a:rPr>
              <a:t>CEO &amp; Founder</a:t>
            </a:r>
          </a:p>
        </p:txBody>
      </p:sp>
      <p:sp>
        <p:nvSpPr>
          <p:cNvPr name="TextBox 46" id="46"/>
          <p:cNvSpPr txBox="true"/>
          <p:nvPr/>
        </p:nvSpPr>
        <p:spPr>
          <a:xfrm rot="0">
            <a:off x="13787518" y="8742969"/>
            <a:ext cx="2898974" cy="283210"/>
          </a:xfrm>
          <a:prstGeom prst="rect">
            <a:avLst/>
          </a:prstGeom>
        </p:spPr>
        <p:txBody>
          <a:bodyPr anchor="t" rtlCol="false" tIns="0" lIns="0" bIns="0" rIns="0">
            <a:spAutoFit/>
          </a:bodyPr>
          <a:lstStyle/>
          <a:p>
            <a:pPr algn="ctr">
              <a:lnSpc>
                <a:spcPts val="2239"/>
              </a:lnSpc>
            </a:pPr>
            <a:r>
              <a:rPr lang="en-US" sz="1599" spc="-55">
                <a:solidFill>
                  <a:srgbClr val="FFFFFF"/>
                </a:solidFill>
                <a:latin typeface="Poppins"/>
                <a:ea typeface="Poppins"/>
                <a:cs typeface="Poppins"/>
                <a:sym typeface="Poppins"/>
              </a:rPr>
              <a:t>CEO &amp; Founder</a:t>
            </a:r>
          </a:p>
        </p:txBody>
      </p:sp>
      <p:sp>
        <p:nvSpPr>
          <p:cNvPr name="TextBox 47" id="47"/>
          <p:cNvSpPr txBox="true"/>
          <p:nvPr/>
        </p:nvSpPr>
        <p:spPr>
          <a:xfrm rot="0">
            <a:off x="13787518" y="4658468"/>
            <a:ext cx="2898974" cy="283210"/>
          </a:xfrm>
          <a:prstGeom prst="rect">
            <a:avLst/>
          </a:prstGeom>
        </p:spPr>
        <p:txBody>
          <a:bodyPr anchor="t" rtlCol="false" tIns="0" lIns="0" bIns="0" rIns="0">
            <a:spAutoFit/>
          </a:bodyPr>
          <a:lstStyle/>
          <a:p>
            <a:pPr algn="ctr">
              <a:lnSpc>
                <a:spcPts val="2239"/>
              </a:lnSpc>
            </a:pPr>
            <a:r>
              <a:rPr lang="en-US" sz="1599" spc="-55">
                <a:solidFill>
                  <a:srgbClr val="000000"/>
                </a:solidFill>
                <a:latin typeface="Poppins"/>
                <a:ea typeface="Poppins"/>
                <a:cs typeface="Poppins"/>
                <a:sym typeface="Poppins"/>
              </a:rPr>
              <a:t>CEO &amp; Founder</a:t>
            </a:r>
          </a:p>
        </p:txBody>
      </p:sp>
      <p:sp>
        <p:nvSpPr>
          <p:cNvPr name="TextBox 48" id="48"/>
          <p:cNvSpPr txBox="true"/>
          <p:nvPr/>
        </p:nvSpPr>
        <p:spPr>
          <a:xfrm rot="0">
            <a:off x="8816957" y="8742969"/>
            <a:ext cx="2898974" cy="283210"/>
          </a:xfrm>
          <a:prstGeom prst="rect">
            <a:avLst/>
          </a:prstGeom>
        </p:spPr>
        <p:txBody>
          <a:bodyPr anchor="t" rtlCol="false" tIns="0" lIns="0" bIns="0" rIns="0">
            <a:spAutoFit/>
          </a:bodyPr>
          <a:lstStyle/>
          <a:p>
            <a:pPr algn="ctr">
              <a:lnSpc>
                <a:spcPts val="2239"/>
              </a:lnSpc>
            </a:pPr>
            <a:r>
              <a:rPr lang="en-US" sz="1599" spc="-55">
                <a:solidFill>
                  <a:srgbClr val="000000"/>
                </a:solidFill>
                <a:latin typeface="Poppins"/>
                <a:ea typeface="Poppins"/>
                <a:cs typeface="Poppins"/>
                <a:sym typeface="Poppins"/>
              </a:rPr>
              <a:t>CEO &amp; Founder</a:t>
            </a:r>
          </a:p>
        </p:txBody>
      </p:sp>
      <p:sp>
        <p:nvSpPr>
          <p:cNvPr name="TextBox 49" id="49"/>
          <p:cNvSpPr txBox="true"/>
          <p:nvPr/>
        </p:nvSpPr>
        <p:spPr>
          <a:xfrm rot="0">
            <a:off x="9050087" y="4224217"/>
            <a:ext cx="2432716" cy="448310"/>
          </a:xfrm>
          <a:prstGeom prst="rect">
            <a:avLst/>
          </a:prstGeom>
        </p:spPr>
        <p:txBody>
          <a:bodyPr anchor="t" rtlCol="false" tIns="0" lIns="0" bIns="0" rIns="0">
            <a:spAutoFit/>
          </a:bodyPr>
          <a:lstStyle/>
          <a:p>
            <a:pPr algn="ctr">
              <a:lnSpc>
                <a:spcPts val="3640"/>
              </a:lnSpc>
            </a:pPr>
            <a:r>
              <a:rPr lang="en-US" b="true" sz="2600" spc="-137">
                <a:solidFill>
                  <a:srgbClr val="FFFFFF"/>
                </a:solidFill>
                <a:latin typeface="TS Qamus Bold"/>
                <a:ea typeface="TS Qamus Bold"/>
                <a:cs typeface="TS Qamus Bold"/>
                <a:sym typeface="TS Qamus Bold"/>
              </a:rPr>
              <a:t>Ketut Susilo</a:t>
            </a:r>
          </a:p>
        </p:txBody>
      </p:sp>
      <p:sp>
        <p:nvSpPr>
          <p:cNvPr name="TextBox 50" id="50"/>
          <p:cNvSpPr txBox="true"/>
          <p:nvPr/>
        </p:nvSpPr>
        <p:spPr>
          <a:xfrm rot="0">
            <a:off x="14020647" y="8308718"/>
            <a:ext cx="2432716" cy="448310"/>
          </a:xfrm>
          <a:prstGeom prst="rect">
            <a:avLst/>
          </a:prstGeom>
        </p:spPr>
        <p:txBody>
          <a:bodyPr anchor="t" rtlCol="false" tIns="0" lIns="0" bIns="0" rIns="0">
            <a:spAutoFit/>
          </a:bodyPr>
          <a:lstStyle/>
          <a:p>
            <a:pPr algn="ctr">
              <a:lnSpc>
                <a:spcPts val="3640"/>
              </a:lnSpc>
            </a:pPr>
            <a:r>
              <a:rPr lang="en-US" b="true" sz="2600" spc="-137">
                <a:solidFill>
                  <a:srgbClr val="FFFFFF"/>
                </a:solidFill>
                <a:latin typeface="TS Qamus Bold"/>
                <a:ea typeface="TS Qamus Bold"/>
                <a:cs typeface="TS Qamus Bold"/>
                <a:sym typeface="TS Qamus Bold"/>
              </a:rPr>
              <a:t>Samira Hadid</a:t>
            </a:r>
          </a:p>
        </p:txBody>
      </p:sp>
      <p:sp>
        <p:nvSpPr>
          <p:cNvPr name="TextBox 51" id="51"/>
          <p:cNvSpPr txBox="true"/>
          <p:nvPr/>
        </p:nvSpPr>
        <p:spPr>
          <a:xfrm rot="0">
            <a:off x="14020647" y="4224217"/>
            <a:ext cx="2432716" cy="448310"/>
          </a:xfrm>
          <a:prstGeom prst="rect">
            <a:avLst/>
          </a:prstGeom>
        </p:spPr>
        <p:txBody>
          <a:bodyPr anchor="t" rtlCol="false" tIns="0" lIns="0" bIns="0" rIns="0">
            <a:spAutoFit/>
          </a:bodyPr>
          <a:lstStyle/>
          <a:p>
            <a:pPr algn="ctr">
              <a:lnSpc>
                <a:spcPts val="3640"/>
              </a:lnSpc>
            </a:pPr>
            <a:r>
              <a:rPr lang="en-US" b="true" sz="2600" spc="-137">
                <a:solidFill>
                  <a:srgbClr val="000000"/>
                </a:solidFill>
                <a:latin typeface="TS Qamus Bold"/>
                <a:ea typeface="TS Qamus Bold"/>
                <a:cs typeface="TS Qamus Bold"/>
                <a:sym typeface="TS Qamus Bold"/>
              </a:rPr>
              <a:t>Drew Feig</a:t>
            </a:r>
          </a:p>
        </p:txBody>
      </p:sp>
      <p:sp>
        <p:nvSpPr>
          <p:cNvPr name="TextBox 52" id="52"/>
          <p:cNvSpPr txBox="true"/>
          <p:nvPr/>
        </p:nvSpPr>
        <p:spPr>
          <a:xfrm rot="0">
            <a:off x="9050087" y="8308718"/>
            <a:ext cx="2432716" cy="448310"/>
          </a:xfrm>
          <a:prstGeom prst="rect">
            <a:avLst/>
          </a:prstGeom>
        </p:spPr>
        <p:txBody>
          <a:bodyPr anchor="t" rtlCol="false" tIns="0" lIns="0" bIns="0" rIns="0">
            <a:spAutoFit/>
          </a:bodyPr>
          <a:lstStyle/>
          <a:p>
            <a:pPr algn="ctr">
              <a:lnSpc>
                <a:spcPts val="3640"/>
              </a:lnSpc>
            </a:pPr>
            <a:r>
              <a:rPr lang="en-US" b="true" sz="2600" spc="-137">
                <a:solidFill>
                  <a:srgbClr val="000000"/>
                </a:solidFill>
                <a:latin typeface="TS Qamus Bold"/>
                <a:ea typeface="TS Qamus Bold"/>
                <a:cs typeface="TS Qamus Bold"/>
                <a:sym typeface="TS Qamus Bold"/>
              </a:rPr>
              <a:t>Cahaya Dewi</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1777" r="0" b="-1777"/>
            </a:stretch>
          </a:blipFill>
        </p:spPr>
      </p:sp>
      <p:sp>
        <p:nvSpPr>
          <p:cNvPr name="AutoShape 3" id="3"/>
          <p:cNvSpPr/>
          <p:nvPr/>
        </p:nvSpPr>
        <p:spPr>
          <a:xfrm>
            <a:off x="10038640" y="-468675"/>
            <a:ext cx="0" cy="11118486"/>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
        <p:nvSpPr>
          <p:cNvPr name="AutoShape 4" id="4"/>
          <p:cNvSpPr/>
          <p:nvPr/>
        </p:nvSpPr>
        <p:spPr>
          <a:xfrm>
            <a:off x="477889" y="-448043"/>
            <a:ext cx="0" cy="11118486"/>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
        <p:nvSpPr>
          <p:cNvPr name="AutoShape 5" id="5"/>
          <p:cNvSpPr/>
          <p:nvPr/>
        </p:nvSpPr>
        <p:spPr>
          <a:xfrm>
            <a:off x="477889" y="3841062"/>
            <a:ext cx="18214268" cy="0"/>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
        <p:nvSpPr>
          <p:cNvPr name="AutoShape 6" id="6"/>
          <p:cNvSpPr/>
          <p:nvPr/>
        </p:nvSpPr>
        <p:spPr>
          <a:xfrm>
            <a:off x="-417053" y="1167061"/>
            <a:ext cx="19109210" cy="0"/>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grpSp>
        <p:nvGrpSpPr>
          <p:cNvPr name="Group 7" id="7"/>
          <p:cNvGrpSpPr/>
          <p:nvPr/>
        </p:nvGrpSpPr>
        <p:grpSpPr>
          <a:xfrm rot="0">
            <a:off x="10999668" y="1533774"/>
            <a:ext cx="6811098" cy="9343448"/>
            <a:chOff x="0" y="0"/>
            <a:chExt cx="1055217" cy="1447545"/>
          </a:xfrm>
        </p:grpSpPr>
        <p:sp>
          <p:nvSpPr>
            <p:cNvPr name="Freeform 8" id="8"/>
            <p:cNvSpPr/>
            <p:nvPr/>
          </p:nvSpPr>
          <p:spPr>
            <a:xfrm flipH="false" flipV="false" rot="0">
              <a:off x="0" y="0"/>
              <a:ext cx="1055217" cy="1447545"/>
            </a:xfrm>
            <a:custGeom>
              <a:avLst/>
              <a:gdLst/>
              <a:ahLst/>
              <a:cxnLst/>
              <a:rect r="r" b="b" t="t" l="l"/>
              <a:pathLst>
                <a:path h="1447545" w="1055217">
                  <a:moveTo>
                    <a:pt x="45467" y="0"/>
                  </a:moveTo>
                  <a:lnTo>
                    <a:pt x="1009751" y="0"/>
                  </a:lnTo>
                  <a:cubicBezTo>
                    <a:pt x="1021809" y="0"/>
                    <a:pt x="1033374" y="4790"/>
                    <a:pt x="1041900" y="13317"/>
                  </a:cubicBezTo>
                  <a:cubicBezTo>
                    <a:pt x="1050427" y="21843"/>
                    <a:pt x="1055217" y="33408"/>
                    <a:pt x="1055217" y="45467"/>
                  </a:cubicBezTo>
                  <a:lnTo>
                    <a:pt x="1055217" y="1402078"/>
                  </a:lnTo>
                  <a:cubicBezTo>
                    <a:pt x="1055217" y="1414137"/>
                    <a:pt x="1050427" y="1425701"/>
                    <a:pt x="1041900" y="1434228"/>
                  </a:cubicBezTo>
                  <a:cubicBezTo>
                    <a:pt x="1033374" y="1442754"/>
                    <a:pt x="1021809" y="1447545"/>
                    <a:pt x="1009751" y="1447545"/>
                  </a:cubicBezTo>
                  <a:lnTo>
                    <a:pt x="45467" y="1447545"/>
                  </a:lnTo>
                  <a:cubicBezTo>
                    <a:pt x="33408" y="1447545"/>
                    <a:pt x="21843" y="1442754"/>
                    <a:pt x="13317" y="1434228"/>
                  </a:cubicBezTo>
                  <a:cubicBezTo>
                    <a:pt x="4790" y="1425701"/>
                    <a:pt x="0" y="1414137"/>
                    <a:pt x="0" y="1402078"/>
                  </a:cubicBezTo>
                  <a:lnTo>
                    <a:pt x="0" y="45467"/>
                  </a:lnTo>
                  <a:cubicBezTo>
                    <a:pt x="0" y="33408"/>
                    <a:pt x="4790" y="21843"/>
                    <a:pt x="13317" y="13317"/>
                  </a:cubicBezTo>
                  <a:cubicBezTo>
                    <a:pt x="21843" y="4790"/>
                    <a:pt x="33408" y="0"/>
                    <a:pt x="45467" y="0"/>
                  </a:cubicBezTo>
                  <a:close/>
                </a:path>
              </a:pathLst>
            </a:custGeom>
            <a:blipFill>
              <a:blip r:embed="rId3"/>
              <a:stretch>
                <a:fillRect l="-53142" t="0" r="-53142" b="0"/>
              </a:stretch>
            </a:blipFill>
            <a:ln w="19050"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sp>
        <p:nvSpPr>
          <p:cNvPr name="TextBox 9" id="9"/>
          <p:cNvSpPr txBox="true"/>
          <p:nvPr/>
        </p:nvSpPr>
        <p:spPr>
          <a:xfrm rot="0">
            <a:off x="815264" y="1267074"/>
            <a:ext cx="8555075" cy="2189479"/>
          </a:xfrm>
          <a:prstGeom prst="rect">
            <a:avLst/>
          </a:prstGeom>
        </p:spPr>
        <p:txBody>
          <a:bodyPr anchor="t" rtlCol="false" tIns="0" lIns="0" bIns="0" rIns="0">
            <a:spAutoFit/>
          </a:bodyPr>
          <a:lstStyle/>
          <a:p>
            <a:pPr algn="l">
              <a:lnSpc>
                <a:spcPts val="17920"/>
              </a:lnSpc>
            </a:pPr>
            <a:r>
              <a:rPr lang="en-US" sz="12800" spc="-153" b="true">
                <a:solidFill>
                  <a:srgbClr val="FFFFFF"/>
                </a:solidFill>
                <a:latin typeface="Geometrica Sans Medium"/>
                <a:ea typeface="Geometrica Sans Medium"/>
                <a:cs typeface="Geometrica Sans Medium"/>
                <a:sym typeface="Geometrica Sans Medium"/>
              </a:rPr>
              <a:t>Introduction</a:t>
            </a:r>
          </a:p>
        </p:txBody>
      </p:sp>
      <p:sp>
        <p:nvSpPr>
          <p:cNvPr name="TextBox 10" id="10"/>
          <p:cNvSpPr txBox="true"/>
          <p:nvPr/>
        </p:nvSpPr>
        <p:spPr>
          <a:xfrm rot="0">
            <a:off x="783373" y="3774387"/>
            <a:ext cx="9196558" cy="6421374"/>
          </a:xfrm>
          <a:prstGeom prst="rect">
            <a:avLst/>
          </a:prstGeom>
        </p:spPr>
        <p:txBody>
          <a:bodyPr anchor="t" rtlCol="false" tIns="0" lIns="0" bIns="0" rIns="0">
            <a:spAutoFit/>
          </a:bodyPr>
          <a:lstStyle/>
          <a:p>
            <a:pPr algn="l" marL="777240" indent="-388620" lvl="1">
              <a:lnSpc>
                <a:spcPts val="4608"/>
              </a:lnSpc>
              <a:buFont typeface="Arial"/>
              <a:buChar char="•"/>
            </a:pPr>
            <a:r>
              <a:rPr lang="en-US" sz="3600" i="true" spc="-107">
                <a:solidFill>
                  <a:srgbClr val="C6C6C6"/>
                </a:solidFill>
                <a:latin typeface="Poppins Italics"/>
                <a:ea typeface="Poppins Italics"/>
                <a:cs typeface="Poppins Italics"/>
                <a:sym typeface="Poppins Italics"/>
              </a:rPr>
              <a:t>Kompetensi lulusan perguruan tinggi belum sepenuhnya sesuai dengan kebutuhan dunia industri.</a:t>
            </a:r>
          </a:p>
          <a:p>
            <a:pPr algn="l" marL="777240" indent="-388620" lvl="1">
              <a:lnSpc>
                <a:spcPts val="4608"/>
              </a:lnSpc>
              <a:buFont typeface="Arial"/>
              <a:buChar char="•"/>
            </a:pPr>
            <a:r>
              <a:rPr lang="en-US" sz="3600" i="true" spc="-107">
                <a:solidFill>
                  <a:srgbClr val="C6C6C6"/>
                </a:solidFill>
                <a:latin typeface="Poppins Italics"/>
                <a:ea typeface="Poppins Italics"/>
                <a:cs typeface="Poppins Italics"/>
                <a:sym typeface="Poppins Italics"/>
              </a:rPr>
              <a:t>Terjadi skill gap antara kompetensi yang dimiliki lulusan dan kompetensi yang dibutuhkan pasar kerja.</a:t>
            </a:r>
          </a:p>
          <a:p>
            <a:pPr algn="l" marL="777240" indent="-388620" lvl="1">
              <a:lnSpc>
                <a:spcPts val="4608"/>
              </a:lnSpc>
              <a:buFont typeface="Arial"/>
              <a:buChar char="•"/>
            </a:pPr>
            <a:r>
              <a:rPr lang="en-US" sz="3600" i="true" spc="-107">
                <a:solidFill>
                  <a:srgbClr val="C6C6C6"/>
                </a:solidFill>
                <a:latin typeface="Poppins Italics"/>
                <a:ea typeface="Poppins Italics"/>
                <a:cs typeface="Poppins Italics"/>
                <a:sym typeface="Poppins Italics"/>
              </a:rPr>
              <a:t>Informasi kebutuhan skill industri berubah cepat sehingga sulit dipantau secara manual.</a:t>
            </a:r>
          </a:p>
          <a:p>
            <a:pPr algn="l">
              <a:lnSpc>
                <a:spcPts val="4608"/>
              </a:lnSpc>
            </a:pPr>
          </a:p>
          <a:p>
            <a:pPr algn="l">
              <a:lnSpc>
                <a:spcPts val="4608"/>
              </a:lnSpc>
            </a:pPr>
          </a:p>
        </p:txBody>
      </p:sp>
      <p:sp>
        <p:nvSpPr>
          <p:cNvPr name="AutoShape 11" id="11"/>
          <p:cNvSpPr/>
          <p:nvPr/>
        </p:nvSpPr>
        <p:spPr>
          <a:xfrm>
            <a:off x="6223588" y="-468675"/>
            <a:ext cx="0" cy="1635737"/>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grpSp>
        <p:nvGrpSpPr>
          <p:cNvPr name="Group 12" id="12"/>
          <p:cNvGrpSpPr/>
          <p:nvPr/>
        </p:nvGrpSpPr>
        <p:grpSpPr>
          <a:xfrm rot="0">
            <a:off x="16845300" y="391766"/>
            <a:ext cx="635507" cy="554019"/>
            <a:chOff x="0" y="0"/>
            <a:chExt cx="167376" cy="145915"/>
          </a:xfrm>
        </p:grpSpPr>
        <p:sp>
          <p:nvSpPr>
            <p:cNvPr name="Freeform 13" id="13"/>
            <p:cNvSpPr/>
            <p:nvPr/>
          </p:nvSpPr>
          <p:spPr>
            <a:xfrm flipH="false" flipV="false" rot="0">
              <a:off x="0" y="0"/>
              <a:ext cx="167376" cy="145915"/>
            </a:xfrm>
            <a:custGeom>
              <a:avLst/>
              <a:gdLst/>
              <a:ahLst/>
              <a:cxnLst/>
              <a:rect r="r" b="b" t="t" l="l"/>
              <a:pathLst>
                <a:path h="145915" w="167376">
                  <a:moveTo>
                    <a:pt x="72957" y="0"/>
                  </a:moveTo>
                  <a:lnTo>
                    <a:pt x="94419" y="0"/>
                  </a:lnTo>
                  <a:cubicBezTo>
                    <a:pt x="134712" y="0"/>
                    <a:pt x="167376" y="32664"/>
                    <a:pt x="167376" y="72957"/>
                  </a:cubicBezTo>
                  <a:lnTo>
                    <a:pt x="167376" y="72957"/>
                  </a:lnTo>
                  <a:cubicBezTo>
                    <a:pt x="167376" y="113250"/>
                    <a:pt x="134712" y="145915"/>
                    <a:pt x="94419" y="145915"/>
                  </a:cubicBezTo>
                  <a:lnTo>
                    <a:pt x="72957" y="145915"/>
                  </a:lnTo>
                  <a:cubicBezTo>
                    <a:pt x="32664" y="145915"/>
                    <a:pt x="0" y="113250"/>
                    <a:pt x="0" y="72957"/>
                  </a:cubicBezTo>
                  <a:lnTo>
                    <a:pt x="0" y="72957"/>
                  </a:lnTo>
                  <a:cubicBezTo>
                    <a:pt x="0" y="32664"/>
                    <a:pt x="32664" y="0"/>
                    <a:pt x="72957" y="0"/>
                  </a:cubicBezTo>
                  <a:close/>
                </a:path>
              </a:pathLst>
            </a:custGeom>
            <a:gradFill rotWithShape="true">
              <a:gsLst>
                <a:gs pos="0">
                  <a:srgbClr val="9B9B9B">
                    <a:alpha val="28000"/>
                  </a:srgbClr>
                </a:gs>
                <a:gs pos="25000">
                  <a:srgbClr val="FFFFFF">
                    <a:alpha val="29000"/>
                  </a:srgbClr>
                </a:gs>
                <a:gs pos="50000">
                  <a:srgbClr val="FFFFFF">
                    <a:alpha val="44500"/>
                  </a:srgbClr>
                </a:gs>
                <a:gs pos="75000">
                  <a:srgbClr val="FFFFFF">
                    <a:alpha val="29000"/>
                  </a:srgbClr>
                </a:gs>
                <a:gs pos="100000">
                  <a:srgbClr val="9B9B9B">
                    <a:alpha val="28000"/>
                  </a:srgbClr>
                </a:gs>
              </a:gsLst>
              <a:lin ang="2700000"/>
            </a:grad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14" id="14"/>
            <p:cNvSpPr txBox="true"/>
            <p:nvPr/>
          </p:nvSpPr>
          <p:spPr>
            <a:xfrm>
              <a:off x="0" y="-47625"/>
              <a:ext cx="167376" cy="193540"/>
            </a:xfrm>
            <a:prstGeom prst="rect">
              <a:avLst/>
            </a:prstGeom>
          </p:spPr>
          <p:txBody>
            <a:bodyPr anchor="ctr" rtlCol="false" tIns="50800" lIns="50800" bIns="50800" rIns="50800"/>
            <a:lstStyle/>
            <a:p>
              <a:pPr algn="ctr">
                <a:lnSpc>
                  <a:spcPts val="3359"/>
                </a:lnSpc>
              </a:pPr>
            </a:p>
          </p:txBody>
        </p:sp>
      </p:grpSp>
      <p:grpSp>
        <p:nvGrpSpPr>
          <p:cNvPr name="Group 15" id="15"/>
          <p:cNvGrpSpPr/>
          <p:nvPr/>
        </p:nvGrpSpPr>
        <p:grpSpPr>
          <a:xfrm rot="0">
            <a:off x="13913154" y="391766"/>
            <a:ext cx="2743897" cy="554019"/>
            <a:chOff x="0" y="0"/>
            <a:chExt cx="722672" cy="145915"/>
          </a:xfrm>
        </p:grpSpPr>
        <p:sp>
          <p:nvSpPr>
            <p:cNvPr name="Freeform 16" id="16"/>
            <p:cNvSpPr/>
            <p:nvPr/>
          </p:nvSpPr>
          <p:spPr>
            <a:xfrm flipH="false" flipV="false" rot="0">
              <a:off x="0" y="0"/>
              <a:ext cx="722672" cy="145915"/>
            </a:xfrm>
            <a:custGeom>
              <a:avLst/>
              <a:gdLst/>
              <a:ahLst/>
              <a:cxnLst/>
              <a:rect r="r" b="b" t="t" l="l"/>
              <a:pathLst>
                <a:path h="145915" w="722672">
                  <a:moveTo>
                    <a:pt x="72957" y="0"/>
                  </a:moveTo>
                  <a:lnTo>
                    <a:pt x="649715" y="0"/>
                  </a:lnTo>
                  <a:cubicBezTo>
                    <a:pt x="690008" y="0"/>
                    <a:pt x="722672" y="32664"/>
                    <a:pt x="722672" y="72957"/>
                  </a:cubicBezTo>
                  <a:lnTo>
                    <a:pt x="722672" y="72957"/>
                  </a:lnTo>
                  <a:cubicBezTo>
                    <a:pt x="722672" y="113250"/>
                    <a:pt x="690008" y="145915"/>
                    <a:pt x="649715" y="145915"/>
                  </a:cubicBezTo>
                  <a:lnTo>
                    <a:pt x="72957" y="145915"/>
                  </a:lnTo>
                  <a:cubicBezTo>
                    <a:pt x="32664" y="145915"/>
                    <a:pt x="0" y="113250"/>
                    <a:pt x="0" y="72957"/>
                  </a:cubicBezTo>
                  <a:lnTo>
                    <a:pt x="0" y="72957"/>
                  </a:lnTo>
                  <a:cubicBezTo>
                    <a:pt x="0" y="32664"/>
                    <a:pt x="32664" y="0"/>
                    <a:pt x="72957" y="0"/>
                  </a:cubicBezTo>
                  <a:close/>
                </a:path>
              </a:pathLst>
            </a:custGeom>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17" id="17"/>
            <p:cNvSpPr txBox="true"/>
            <p:nvPr/>
          </p:nvSpPr>
          <p:spPr>
            <a:xfrm>
              <a:off x="0" y="-47625"/>
              <a:ext cx="722672" cy="193540"/>
            </a:xfrm>
            <a:prstGeom prst="rect">
              <a:avLst/>
            </a:prstGeom>
          </p:spPr>
          <p:txBody>
            <a:bodyPr anchor="ctr" rtlCol="false" tIns="50800" lIns="50800" bIns="50800" rIns="50800"/>
            <a:lstStyle/>
            <a:p>
              <a:pPr algn="ctr">
                <a:lnSpc>
                  <a:spcPts val="3359"/>
                </a:lnSpc>
              </a:pPr>
            </a:p>
          </p:txBody>
        </p:sp>
      </p:grpSp>
      <p:sp>
        <p:nvSpPr>
          <p:cNvPr name="TextBox 18" id="18"/>
          <p:cNvSpPr txBox="true"/>
          <p:nvPr/>
        </p:nvSpPr>
        <p:spPr>
          <a:xfrm rot="0">
            <a:off x="14170902" y="477323"/>
            <a:ext cx="2228402" cy="325755"/>
          </a:xfrm>
          <a:prstGeom prst="rect">
            <a:avLst/>
          </a:prstGeom>
        </p:spPr>
        <p:txBody>
          <a:bodyPr anchor="t" rtlCol="false" tIns="0" lIns="0" bIns="0" rIns="0">
            <a:spAutoFit/>
          </a:bodyPr>
          <a:lstStyle/>
          <a:p>
            <a:pPr algn="ctr">
              <a:lnSpc>
                <a:spcPts val="2520"/>
              </a:lnSpc>
            </a:pPr>
            <a:r>
              <a:rPr lang="en-US" sz="1800" spc="-117">
                <a:solidFill>
                  <a:srgbClr val="FFFFFF"/>
                </a:solidFill>
                <a:latin typeface="Poppins"/>
                <a:ea typeface="Poppins"/>
                <a:cs typeface="Poppins"/>
                <a:sym typeface="Poppins"/>
              </a:rPr>
              <a:t>31 August, 2026</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777" r="0" b="-1777"/>
            </a:stretch>
          </a:blipFill>
        </p:spPr>
      </p:sp>
      <p:sp>
        <p:nvSpPr>
          <p:cNvPr name="Freeform 3" id="3"/>
          <p:cNvSpPr/>
          <p:nvPr/>
        </p:nvSpPr>
        <p:spPr>
          <a:xfrm flipH="false" flipV="false" rot="0">
            <a:off x="7771547" y="-2231391"/>
            <a:ext cx="15214059" cy="14605497"/>
          </a:xfrm>
          <a:custGeom>
            <a:avLst/>
            <a:gdLst/>
            <a:ahLst/>
            <a:cxnLst/>
            <a:rect r="r" b="b" t="t" l="l"/>
            <a:pathLst>
              <a:path h="14605497" w="15214059">
                <a:moveTo>
                  <a:pt x="0" y="0"/>
                </a:moveTo>
                <a:lnTo>
                  <a:pt x="15214059" y="0"/>
                </a:lnTo>
                <a:lnTo>
                  <a:pt x="15214059" y="14605496"/>
                </a:lnTo>
                <a:lnTo>
                  <a:pt x="0" y="1460549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4" id="4"/>
          <p:cNvSpPr/>
          <p:nvPr/>
        </p:nvSpPr>
        <p:spPr>
          <a:xfrm>
            <a:off x="10038640" y="-468675"/>
            <a:ext cx="0" cy="11995723"/>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
        <p:nvSpPr>
          <p:cNvPr name="AutoShape 5" id="5"/>
          <p:cNvSpPr/>
          <p:nvPr/>
        </p:nvSpPr>
        <p:spPr>
          <a:xfrm>
            <a:off x="477889" y="-448043"/>
            <a:ext cx="0" cy="11118486"/>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grpSp>
        <p:nvGrpSpPr>
          <p:cNvPr name="Group 6" id="6"/>
          <p:cNvGrpSpPr/>
          <p:nvPr/>
        </p:nvGrpSpPr>
        <p:grpSpPr>
          <a:xfrm rot="0">
            <a:off x="16845300" y="391766"/>
            <a:ext cx="635507" cy="554019"/>
            <a:chOff x="0" y="0"/>
            <a:chExt cx="167376" cy="145915"/>
          </a:xfrm>
        </p:grpSpPr>
        <p:sp>
          <p:nvSpPr>
            <p:cNvPr name="Freeform 7" id="7"/>
            <p:cNvSpPr/>
            <p:nvPr/>
          </p:nvSpPr>
          <p:spPr>
            <a:xfrm flipH="false" flipV="false" rot="0">
              <a:off x="0" y="0"/>
              <a:ext cx="167376" cy="145915"/>
            </a:xfrm>
            <a:custGeom>
              <a:avLst/>
              <a:gdLst/>
              <a:ahLst/>
              <a:cxnLst/>
              <a:rect r="r" b="b" t="t" l="l"/>
              <a:pathLst>
                <a:path h="145915" w="167376">
                  <a:moveTo>
                    <a:pt x="72957" y="0"/>
                  </a:moveTo>
                  <a:lnTo>
                    <a:pt x="94419" y="0"/>
                  </a:lnTo>
                  <a:cubicBezTo>
                    <a:pt x="134712" y="0"/>
                    <a:pt x="167376" y="32664"/>
                    <a:pt x="167376" y="72957"/>
                  </a:cubicBezTo>
                  <a:lnTo>
                    <a:pt x="167376" y="72957"/>
                  </a:lnTo>
                  <a:cubicBezTo>
                    <a:pt x="167376" y="113250"/>
                    <a:pt x="134712" y="145915"/>
                    <a:pt x="94419" y="145915"/>
                  </a:cubicBezTo>
                  <a:lnTo>
                    <a:pt x="72957" y="145915"/>
                  </a:lnTo>
                  <a:cubicBezTo>
                    <a:pt x="32664" y="145915"/>
                    <a:pt x="0" y="113250"/>
                    <a:pt x="0" y="72957"/>
                  </a:cubicBezTo>
                  <a:lnTo>
                    <a:pt x="0" y="72957"/>
                  </a:lnTo>
                  <a:cubicBezTo>
                    <a:pt x="0" y="32664"/>
                    <a:pt x="32664" y="0"/>
                    <a:pt x="72957" y="0"/>
                  </a:cubicBezTo>
                  <a:close/>
                </a:path>
              </a:pathLst>
            </a:custGeom>
            <a:gradFill rotWithShape="true">
              <a:gsLst>
                <a:gs pos="0">
                  <a:srgbClr val="9B9B9B">
                    <a:alpha val="28000"/>
                  </a:srgbClr>
                </a:gs>
                <a:gs pos="25000">
                  <a:srgbClr val="FFFFFF">
                    <a:alpha val="29000"/>
                  </a:srgbClr>
                </a:gs>
                <a:gs pos="50000">
                  <a:srgbClr val="FFFFFF">
                    <a:alpha val="44500"/>
                  </a:srgbClr>
                </a:gs>
                <a:gs pos="75000">
                  <a:srgbClr val="FFFFFF">
                    <a:alpha val="29000"/>
                  </a:srgbClr>
                </a:gs>
                <a:gs pos="100000">
                  <a:srgbClr val="9B9B9B">
                    <a:alpha val="28000"/>
                  </a:srgbClr>
                </a:gs>
              </a:gsLst>
              <a:lin ang="2700000"/>
            </a:grad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8" id="8"/>
            <p:cNvSpPr txBox="true"/>
            <p:nvPr/>
          </p:nvSpPr>
          <p:spPr>
            <a:xfrm>
              <a:off x="0" y="-47625"/>
              <a:ext cx="167376" cy="193540"/>
            </a:xfrm>
            <a:prstGeom prst="rect">
              <a:avLst/>
            </a:prstGeom>
          </p:spPr>
          <p:txBody>
            <a:bodyPr anchor="ctr" rtlCol="false" tIns="50800" lIns="50800" bIns="50800" rIns="50800"/>
            <a:lstStyle/>
            <a:p>
              <a:pPr algn="ctr">
                <a:lnSpc>
                  <a:spcPts val="3359"/>
                </a:lnSpc>
              </a:pPr>
            </a:p>
          </p:txBody>
        </p:sp>
      </p:grpSp>
      <p:grpSp>
        <p:nvGrpSpPr>
          <p:cNvPr name="Group 9" id="9"/>
          <p:cNvGrpSpPr/>
          <p:nvPr/>
        </p:nvGrpSpPr>
        <p:grpSpPr>
          <a:xfrm rot="0">
            <a:off x="13913154" y="391766"/>
            <a:ext cx="2743897" cy="554019"/>
            <a:chOff x="0" y="0"/>
            <a:chExt cx="722672" cy="145915"/>
          </a:xfrm>
        </p:grpSpPr>
        <p:sp>
          <p:nvSpPr>
            <p:cNvPr name="Freeform 10" id="10"/>
            <p:cNvSpPr/>
            <p:nvPr/>
          </p:nvSpPr>
          <p:spPr>
            <a:xfrm flipH="false" flipV="false" rot="0">
              <a:off x="0" y="0"/>
              <a:ext cx="722672" cy="145915"/>
            </a:xfrm>
            <a:custGeom>
              <a:avLst/>
              <a:gdLst/>
              <a:ahLst/>
              <a:cxnLst/>
              <a:rect r="r" b="b" t="t" l="l"/>
              <a:pathLst>
                <a:path h="145915" w="722672">
                  <a:moveTo>
                    <a:pt x="72957" y="0"/>
                  </a:moveTo>
                  <a:lnTo>
                    <a:pt x="649715" y="0"/>
                  </a:lnTo>
                  <a:cubicBezTo>
                    <a:pt x="690008" y="0"/>
                    <a:pt x="722672" y="32664"/>
                    <a:pt x="722672" y="72957"/>
                  </a:cubicBezTo>
                  <a:lnTo>
                    <a:pt x="722672" y="72957"/>
                  </a:lnTo>
                  <a:cubicBezTo>
                    <a:pt x="722672" y="113250"/>
                    <a:pt x="690008" y="145915"/>
                    <a:pt x="649715" y="145915"/>
                  </a:cubicBezTo>
                  <a:lnTo>
                    <a:pt x="72957" y="145915"/>
                  </a:lnTo>
                  <a:cubicBezTo>
                    <a:pt x="32664" y="145915"/>
                    <a:pt x="0" y="113250"/>
                    <a:pt x="0" y="72957"/>
                  </a:cubicBezTo>
                  <a:lnTo>
                    <a:pt x="0" y="72957"/>
                  </a:lnTo>
                  <a:cubicBezTo>
                    <a:pt x="0" y="32664"/>
                    <a:pt x="32664" y="0"/>
                    <a:pt x="72957" y="0"/>
                  </a:cubicBezTo>
                  <a:close/>
                </a:path>
              </a:pathLst>
            </a:custGeom>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11" id="11"/>
            <p:cNvSpPr txBox="true"/>
            <p:nvPr/>
          </p:nvSpPr>
          <p:spPr>
            <a:xfrm>
              <a:off x="0" y="-47625"/>
              <a:ext cx="722672" cy="193540"/>
            </a:xfrm>
            <a:prstGeom prst="rect">
              <a:avLst/>
            </a:prstGeom>
          </p:spPr>
          <p:txBody>
            <a:bodyPr anchor="ctr" rtlCol="false" tIns="50800" lIns="50800" bIns="50800" rIns="50800"/>
            <a:lstStyle/>
            <a:p>
              <a:pPr algn="ctr">
                <a:lnSpc>
                  <a:spcPts val="3359"/>
                </a:lnSpc>
              </a:pPr>
            </a:p>
          </p:txBody>
        </p:sp>
      </p:grpSp>
      <p:sp>
        <p:nvSpPr>
          <p:cNvPr name="AutoShape 12" id="12"/>
          <p:cNvSpPr/>
          <p:nvPr/>
        </p:nvSpPr>
        <p:spPr>
          <a:xfrm>
            <a:off x="-417053" y="1167061"/>
            <a:ext cx="19109210" cy="0"/>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
        <p:nvSpPr>
          <p:cNvPr name="AutoShape 13" id="13"/>
          <p:cNvSpPr/>
          <p:nvPr/>
        </p:nvSpPr>
        <p:spPr>
          <a:xfrm flipV="true">
            <a:off x="477889" y="4813953"/>
            <a:ext cx="18693133" cy="0"/>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grpSp>
        <p:nvGrpSpPr>
          <p:cNvPr name="Group 14" id="14"/>
          <p:cNvGrpSpPr/>
          <p:nvPr/>
        </p:nvGrpSpPr>
        <p:grpSpPr>
          <a:xfrm rot="0">
            <a:off x="815264" y="5325587"/>
            <a:ext cx="6613476" cy="4433984"/>
            <a:chOff x="0" y="0"/>
            <a:chExt cx="1024601" cy="686940"/>
          </a:xfrm>
        </p:grpSpPr>
        <p:sp>
          <p:nvSpPr>
            <p:cNvPr name="Freeform 15" id="15"/>
            <p:cNvSpPr/>
            <p:nvPr/>
          </p:nvSpPr>
          <p:spPr>
            <a:xfrm flipH="false" flipV="false" rot="0">
              <a:off x="0" y="0"/>
              <a:ext cx="1024601" cy="686940"/>
            </a:xfrm>
            <a:custGeom>
              <a:avLst/>
              <a:gdLst/>
              <a:ahLst/>
              <a:cxnLst/>
              <a:rect r="r" b="b" t="t" l="l"/>
              <a:pathLst>
                <a:path h="686940" w="1024601">
                  <a:moveTo>
                    <a:pt x="46825" y="0"/>
                  </a:moveTo>
                  <a:lnTo>
                    <a:pt x="977775" y="0"/>
                  </a:lnTo>
                  <a:cubicBezTo>
                    <a:pt x="990194" y="0"/>
                    <a:pt x="1002104" y="4933"/>
                    <a:pt x="1010886" y="13715"/>
                  </a:cubicBezTo>
                  <a:cubicBezTo>
                    <a:pt x="1019667" y="22496"/>
                    <a:pt x="1024601" y="34406"/>
                    <a:pt x="1024601" y="46825"/>
                  </a:cubicBezTo>
                  <a:lnTo>
                    <a:pt x="1024601" y="640115"/>
                  </a:lnTo>
                  <a:cubicBezTo>
                    <a:pt x="1024601" y="652534"/>
                    <a:pt x="1019667" y="664444"/>
                    <a:pt x="1010886" y="673225"/>
                  </a:cubicBezTo>
                  <a:cubicBezTo>
                    <a:pt x="1002104" y="682007"/>
                    <a:pt x="990194" y="686940"/>
                    <a:pt x="977775" y="686940"/>
                  </a:cubicBezTo>
                  <a:lnTo>
                    <a:pt x="46825" y="686940"/>
                  </a:lnTo>
                  <a:cubicBezTo>
                    <a:pt x="34406" y="686940"/>
                    <a:pt x="22496" y="682007"/>
                    <a:pt x="13715" y="673225"/>
                  </a:cubicBezTo>
                  <a:cubicBezTo>
                    <a:pt x="4933" y="664444"/>
                    <a:pt x="0" y="652534"/>
                    <a:pt x="0" y="640115"/>
                  </a:cubicBezTo>
                  <a:lnTo>
                    <a:pt x="0" y="46825"/>
                  </a:lnTo>
                  <a:cubicBezTo>
                    <a:pt x="0" y="34406"/>
                    <a:pt x="4933" y="22496"/>
                    <a:pt x="13715" y="13715"/>
                  </a:cubicBezTo>
                  <a:cubicBezTo>
                    <a:pt x="22496" y="4933"/>
                    <a:pt x="34406" y="0"/>
                    <a:pt x="46825" y="0"/>
                  </a:cubicBezTo>
                  <a:close/>
                </a:path>
              </a:pathLst>
            </a:custGeom>
            <a:blipFill>
              <a:blip r:embed="rId5"/>
              <a:stretch>
                <a:fillRect l="0" t="-14153" r="-28872" b="-14153"/>
              </a:stretch>
            </a:blipFill>
            <a:ln w="19050"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grpSp>
        <p:nvGrpSpPr>
          <p:cNvPr name="Group 16" id="16"/>
          <p:cNvGrpSpPr/>
          <p:nvPr/>
        </p:nvGrpSpPr>
        <p:grpSpPr>
          <a:xfrm rot="0">
            <a:off x="4995431" y="6608548"/>
            <a:ext cx="5971736" cy="2649752"/>
            <a:chOff x="0" y="0"/>
            <a:chExt cx="1572803" cy="697877"/>
          </a:xfrm>
        </p:grpSpPr>
        <p:sp>
          <p:nvSpPr>
            <p:cNvPr name="Freeform 17" id="17"/>
            <p:cNvSpPr/>
            <p:nvPr/>
          </p:nvSpPr>
          <p:spPr>
            <a:xfrm flipH="false" flipV="false" rot="0">
              <a:off x="0" y="0"/>
              <a:ext cx="1572803" cy="697877"/>
            </a:xfrm>
            <a:custGeom>
              <a:avLst/>
              <a:gdLst/>
              <a:ahLst/>
              <a:cxnLst/>
              <a:rect r="r" b="b" t="t" l="l"/>
              <a:pathLst>
                <a:path h="697877" w="1572803">
                  <a:moveTo>
                    <a:pt x="51857" y="0"/>
                  </a:moveTo>
                  <a:lnTo>
                    <a:pt x="1520946" y="0"/>
                  </a:lnTo>
                  <a:cubicBezTo>
                    <a:pt x="1549586" y="0"/>
                    <a:pt x="1572803" y="23217"/>
                    <a:pt x="1572803" y="51857"/>
                  </a:cubicBezTo>
                  <a:lnTo>
                    <a:pt x="1572803" y="646020"/>
                  </a:lnTo>
                  <a:cubicBezTo>
                    <a:pt x="1572803" y="674660"/>
                    <a:pt x="1549586" y="697877"/>
                    <a:pt x="1520946" y="697877"/>
                  </a:cubicBezTo>
                  <a:lnTo>
                    <a:pt x="51857" y="697877"/>
                  </a:lnTo>
                  <a:cubicBezTo>
                    <a:pt x="38104" y="697877"/>
                    <a:pt x="24914" y="692414"/>
                    <a:pt x="15189" y="682688"/>
                  </a:cubicBezTo>
                  <a:cubicBezTo>
                    <a:pt x="5463" y="672963"/>
                    <a:pt x="0" y="659773"/>
                    <a:pt x="0" y="646020"/>
                  </a:cubicBezTo>
                  <a:lnTo>
                    <a:pt x="0" y="51857"/>
                  </a:lnTo>
                  <a:cubicBezTo>
                    <a:pt x="0" y="23217"/>
                    <a:pt x="23217" y="0"/>
                    <a:pt x="51857" y="0"/>
                  </a:cubicBezTo>
                  <a:close/>
                </a:path>
              </a:pathLst>
            </a:custGeom>
            <a:solidFill>
              <a:srgbClr val="FFFFFF"/>
            </a:solid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18" id="18"/>
            <p:cNvSpPr txBox="true"/>
            <p:nvPr/>
          </p:nvSpPr>
          <p:spPr>
            <a:xfrm>
              <a:off x="0" y="-47625"/>
              <a:ext cx="1572803" cy="745502"/>
            </a:xfrm>
            <a:prstGeom prst="rect">
              <a:avLst/>
            </a:prstGeom>
          </p:spPr>
          <p:txBody>
            <a:bodyPr anchor="ctr" rtlCol="false" tIns="50800" lIns="50800" bIns="50800" rIns="50800"/>
            <a:lstStyle/>
            <a:p>
              <a:pPr algn="ctr">
                <a:lnSpc>
                  <a:spcPts val="3359"/>
                </a:lnSpc>
              </a:pPr>
            </a:p>
          </p:txBody>
        </p:sp>
      </p:grpSp>
      <p:sp>
        <p:nvSpPr>
          <p:cNvPr name="Freeform 19" id="19"/>
          <p:cNvSpPr/>
          <p:nvPr/>
        </p:nvSpPr>
        <p:spPr>
          <a:xfrm flipH="false" flipV="false" rot="0">
            <a:off x="5458617" y="6997452"/>
            <a:ext cx="345797" cy="345797"/>
          </a:xfrm>
          <a:custGeom>
            <a:avLst/>
            <a:gdLst/>
            <a:ahLst/>
            <a:cxnLst/>
            <a:rect r="r" b="b" t="t" l="l"/>
            <a:pathLst>
              <a:path h="345797" w="345797">
                <a:moveTo>
                  <a:pt x="0" y="0"/>
                </a:moveTo>
                <a:lnTo>
                  <a:pt x="345797" y="0"/>
                </a:lnTo>
                <a:lnTo>
                  <a:pt x="345797" y="345797"/>
                </a:lnTo>
                <a:lnTo>
                  <a:pt x="0" y="34579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20" id="20"/>
          <p:cNvGrpSpPr/>
          <p:nvPr/>
        </p:nvGrpSpPr>
        <p:grpSpPr>
          <a:xfrm rot="0">
            <a:off x="11509070" y="6608548"/>
            <a:ext cx="5971736" cy="2649752"/>
            <a:chOff x="0" y="0"/>
            <a:chExt cx="1572803" cy="697877"/>
          </a:xfrm>
        </p:grpSpPr>
        <p:sp>
          <p:nvSpPr>
            <p:cNvPr name="Freeform 21" id="21"/>
            <p:cNvSpPr/>
            <p:nvPr/>
          </p:nvSpPr>
          <p:spPr>
            <a:xfrm flipH="false" flipV="false" rot="0">
              <a:off x="0" y="0"/>
              <a:ext cx="1572803" cy="697877"/>
            </a:xfrm>
            <a:custGeom>
              <a:avLst/>
              <a:gdLst/>
              <a:ahLst/>
              <a:cxnLst/>
              <a:rect r="r" b="b" t="t" l="l"/>
              <a:pathLst>
                <a:path h="697877" w="1572803">
                  <a:moveTo>
                    <a:pt x="51857" y="0"/>
                  </a:moveTo>
                  <a:lnTo>
                    <a:pt x="1520946" y="0"/>
                  </a:lnTo>
                  <a:cubicBezTo>
                    <a:pt x="1549586" y="0"/>
                    <a:pt x="1572803" y="23217"/>
                    <a:pt x="1572803" y="51857"/>
                  </a:cubicBezTo>
                  <a:lnTo>
                    <a:pt x="1572803" y="646020"/>
                  </a:lnTo>
                  <a:cubicBezTo>
                    <a:pt x="1572803" y="674660"/>
                    <a:pt x="1549586" y="697877"/>
                    <a:pt x="1520946" y="697877"/>
                  </a:cubicBezTo>
                  <a:lnTo>
                    <a:pt x="51857" y="697877"/>
                  </a:lnTo>
                  <a:cubicBezTo>
                    <a:pt x="38104" y="697877"/>
                    <a:pt x="24914" y="692414"/>
                    <a:pt x="15189" y="682688"/>
                  </a:cubicBezTo>
                  <a:cubicBezTo>
                    <a:pt x="5463" y="672963"/>
                    <a:pt x="0" y="659773"/>
                    <a:pt x="0" y="646020"/>
                  </a:cubicBezTo>
                  <a:lnTo>
                    <a:pt x="0" y="51857"/>
                  </a:lnTo>
                  <a:cubicBezTo>
                    <a:pt x="0" y="23217"/>
                    <a:pt x="23217" y="0"/>
                    <a:pt x="51857" y="0"/>
                  </a:cubicBezTo>
                  <a:close/>
                </a:path>
              </a:pathLst>
            </a:custGeom>
            <a:gradFill rotWithShape="true">
              <a:gsLst>
                <a:gs pos="0">
                  <a:srgbClr val="292929">
                    <a:alpha val="100000"/>
                  </a:srgbClr>
                </a:gs>
                <a:gs pos="100000">
                  <a:srgbClr val="3F4E52">
                    <a:alpha val="100000"/>
                  </a:srgbClr>
                </a:gs>
              </a:gsLst>
              <a:lin ang="0"/>
            </a:grad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22" id="22"/>
            <p:cNvSpPr txBox="true"/>
            <p:nvPr/>
          </p:nvSpPr>
          <p:spPr>
            <a:xfrm>
              <a:off x="0" y="-47625"/>
              <a:ext cx="1572803" cy="745502"/>
            </a:xfrm>
            <a:prstGeom prst="rect">
              <a:avLst/>
            </a:prstGeom>
          </p:spPr>
          <p:txBody>
            <a:bodyPr anchor="ctr" rtlCol="false" tIns="50800" lIns="50800" bIns="50800" rIns="50800"/>
            <a:lstStyle/>
            <a:p>
              <a:pPr algn="ctr">
                <a:lnSpc>
                  <a:spcPts val="3359"/>
                </a:lnSpc>
              </a:pPr>
            </a:p>
          </p:txBody>
        </p:sp>
      </p:grpSp>
      <p:sp>
        <p:nvSpPr>
          <p:cNvPr name="Freeform 23" id="23"/>
          <p:cNvSpPr/>
          <p:nvPr/>
        </p:nvSpPr>
        <p:spPr>
          <a:xfrm flipH="false" flipV="false" rot="0">
            <a:off x="12047163" y="7053181"/>
            <a:ext cx="345797" cy="345797"/>
          </a:xfrm>
          <a:custGeom>
            <a:avLst/>
            <a:gdLst/>
            <a:ahLst/>
            <a:cxnLst/>
            <a:rect r="r" b="b" t="t" l="l"/>
            <a:pathLst>
              <a:path h="345797" w="345797">
                <a:moveTo>
                  <a:pt x="0" y="0"/>
                </a:moveTo>
                <a:lnTo>
                  <a:pt x="345798" y="0"/>
                </a:lnTo>
                <a:lnTo>
                  <a:pt x="345798" y="345798"/>
                </a:lnTo>
                <a:lnTo>
                  <a:pt x="0" y="34579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AutoShape 24" id="24"/>
          <p:cNvSpPr/>
          <p:nvPr/>
        </p:nvSpPr>
        <p:spPr>
          <a:xfrm>
            <a:off x="6223588" y="-468675"/>
            <a:ext cx="0" cy="1635737"/>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
        <p:nvSpPr>
          <p:cNvPr name="TextBox 25" id="25"/>
          <p:cNvSpPr txBox="true"/>
          <p:nvPr/>
        </p:nvSpPr>
        <p:spPr>
          <a:xfrm rot="0">
            <a:off x="14170902" y="477323"/>
            <a:ext cx="2228402" cy="325755"/>
          </a:xfrm>
          <a:prstGeom prst="rect">
            <a:avLst/>
          </a:prstGeom>
        </p:spPr>
        <p:txBody>
          <a:bodyPr anchor="t" rtlCol="false" tIns="0" lIns="0" bIns="0" rIns="0">
            <a:spAutoFit/>
          </a:bodyPr>
          <a:lstStyle/>
          <a:p>
            <a:pPr algn="ctr">
              <a:lnSpc>
                <a:spcPts val="2520"/>
              </a:lnSpc>
            </a:pPr>
            <a:r>
              <a:rPr lang="en-US" sz="1800" spc="-117">
                <a:solidFill>
                  <a:srgbClr val="FFFFFF"/>
                </a:solidFill>
                <a:latin typeface="Poppins"/>
                <a:ea typeface="Poppins"/>
                <a:cs typeface="Poppins"/>
                <a:sym typeface="Poppins"/>
              </a:rPr>
              <a:t>6 August, 2025</a:t>
            </a:r>
          </a:p>
        </p:txBody>
      </p:sp>
      <p:sp>
        <p:nvSpPr>
          <p:cNvPr name="TextBox 26" id="26"/>
          <p:cNvSpPr txBox="true"/>
          <p:nvPr/>
        </p:nvSpPr>
        <p:spPr>
          <a:xfrm rot="0">
            <a:off x="815264" y="1895724"/>
            <a:ext cx="7810351" cy="3240516"/>
          </a:xfrm>
          <a:prstGeom prst="rect">
            <a:avLst/>
          </a:prstGeom>
        </p:spPr>
        <p:txBody>
          <a:bodyPr anchor="t" rtlCol="false" tIns="0" lIns="0" bIns="0" rIns="0">
            <a:spAutoFit/>
          </a:bodyPr>
          <a:lstStyle/>
          <a:p>
            <a:pPr algn="l" marL="0" indent="0" lvl="0">
              <a:lnSpc>
                <a:spcPts val="12103"/>
              </a:lnSpc>
              <a:spcBef>
                <a:spcPct val="0"/>
              </a:spcBef>
            </a:pPr>
            <a:r>
              <a:rPr lang="en-US" b="true" sz="13599" spc="-163" strike="noStrike" u="none">
                <a:solidFill>
                  <a:srgbClr val="FFFFFF"/>
                </a:solidFill>
                <a:latin typeface="Geometrica Sans Medium"/>
                <a:ea typeface="Geometrica Sans Medium"/>
                <a:cs typeface="Geometrica Sans Medium"/>
                <a:sym typeface="Geometrica Sans Medium"/>
              </a:rPr>
              <a:t>Tantangan OBE </a:t>
            </a:r>
          </a:p>
        </p:txBody>
      </p:sp>
      <p:sp>
        <p:nvSpPr>
          <p:cNvPr name="TextBox 27" id="27"/>
          <p:cNvSpPr txBox="true"/>
          <p:nvPr/>
        </p:nvSpPr>
        <p:spPr>
          <a:xfrm rot="0">
            <a:off x="5443215" y="7504479"/>
            <a:ext cx="5076170" cy="1537716"/>
          </a:xfrm>
          <a:prstGeom prst="rect">
            <a:avLst/>
          </a:prstGeom>
        </p:spPr>
        <p:txBody>
          <a:bodyPr anchor="t" rtlCol="false" tIns="0" lIns="0" bIns="0" rIns="0">
            <a:spAutoFit/>
          </a:bodyPr>
          <a:lstStyle/>
          <a:p>
            <a:pPr algn="l">
              <a:lnSpc>
                <a:spcPts val="3072"/>
              </a:lnSpc>
            </a:pPr>
            <a:r>
              <a:rPr lang="en-US" sz="2400" i="true" spc="-72">
                <a:solidFill>
                  <a:srgbClr val="4D4D4D"/>
                </a:solidFill>
                <a:latin typeface="Poppins Italics"/>
                <a:ea typeface="Poppins Italics"/>
                <a:cs typeface="Poppins Italics"/>
                <a:sym typeface="Poppins Italics"/>
              </a:rPr>
              <a:t>Outcome-Based Education (OBE) berorientasi pada capaian pembelajaran yang relevan dengan kebutuhan dunia kerja.</a:t>
            </a:r>
          </a:p>
        </p:txBody>
      </p:sp>
      <p:sp>
        <p:nvSpPr>
          <p:cNvPr name="TextBox 28" id="28"/>
          <p:cNvSpPr txBox="true"/>
          <p:nvPr/>
        </p:nvSpPr>
        <p:spPr>
          <a:xfrm rot="0">
            <a:off x="6151873" y="6792525"/>
            <a:ext cx="3666073" cy="679450"/>
          </a:xfrm>
          <a:prstGeom prst="rect">
            <a:avLst/>
          </a:prstGeom>
        </p:spPr>
        <p:txBody>
          <a:bodyPr anchor="t" rtlCol="false" tIns="0" lIns="0" bIns="0" rIns="0">
            <a:spAutoFit/>
          </a:bodyPr>
          <a:lstStyle/>
          <a:p>
            <a:pPr algn="l">
              <a:lnSpc>
                <a:spcPts val="5599"/>
              </a:lnSpc>
            </a:pPr>
            <a:r>
              <a:rPr lang="en-US" sz="3999" spc="-259">
                <a:solidFill>
                  <a:srgbClr val="000000"/>
                </a:solidFill>
                <a:latin typeface="TS Qamus"/>
                <a:ea typeface="TS Qamus"/>
                <a:cs typeface="TS Qamus"/>
                <a:sym typeface="TS Qamus"/>
              </a:rPr>
              <a:t>Pr</a:t>
            </a:r>
            <a:r>
              <a:rPr lang="en-US" sz="3999" spc="-259">
                <a:solidFill>
                  <a:srgbClr val="000000"/>
                </a:solidFill>
                <a:latin typeface="TS Qamus"/>
                <a:ea typeface="TS Qamus"/>
                <a:cs typeface="TS Qamus"/>
                <a:sym typeface="TS Qamus"/>
              </a:rPr>
              <a:t>oblem 01</a:t>
            </a:r>
          </a:p>
        </p:txBody>
      </p:sp>
      <p:sp>
        <p:nvSpPr>
          <p:cNvPr name="TextBox 29" id="29"/>
          <p:cNvSpPr txBox="true"/>
          <p:nvPr/>
        </p:nvSpPr>
        <p:spPr>
          <a:xfrm rot="0">
            <a:off x="11956854" y="7504479"/>
            <a:ext cx="5076170" cy="1537716"/>
          </a:xfrm>
          <a:prstGeom prst="rect">
            <a:avLst/>
          </a:prstGeom>
        </p:spPr>
        <p:txBody>
          <a:bodyPr anchor="t" rtlCol="false" tIns="0" lIns="0" bIns="0" rIns="0">
            <a:spAutoFit/>
          </a:bodyPr>
          <a:lstStyle/>
          <a:p>
            <a:pPr algn="l">
              <a:lnSpc>
                <a:spcPts val="3072"/>
              </a:lnSpc>
            </a:pPr>
            <a:r>
              <a:rPr lang="en-US" sz="2400" i="true" spc="-72">
                <a:solidFill>
                  <a:srgbClr val="C6C6C6"/>
                </a:solidFill>
                <a:latin typeface="Poppins Italics"/>
                <a:ea typeface="Poppins Italics"/>
                <a:cs typeface="Poppins Italics"/>
                <a:sym typeface="Poppins Italics"/>
              </a:rPr>
              <a:t>Implementasi OBE membutuhkan data kebutuhan kompetensi industri yang aktual dan berbasis data.</a:t>
            </a:r>
          </a:p>
        </p:txBody>
      </p:sp>
      <p:sp>
        <p:nvSpPr>
          <p:cNvPr name="TextBox 30" id="30"/>
          <p:cNvSpPr txBox="true"/>
          <p:nvPr/>
        </p:nvSpPr>
        <p:spPr>
          <a:xfrm rot="0">
            <a:off x="12740419" y="6848255"/>
            <a:ext cx="3916632" cy="679450"/>
          </a:xfrm>
          <a:prstGeom prst="rect">
            <a:avLst/>
          </a:prstGeom>
        </p:spPr>
        <p:txBody>
          <a:bodyPr anchor="t" rtlCol="false" tIns="0" lIns="0" bIns="0" rIns="0">
            <a:spAutoFit/>
          </a:bodyPr>
          <a:lstStyle/>
          <a:p>
            <a:pPr algn="l">
              <a:lnSpc>
                <a:spcPts val="5599"/>
              </a:lnSpc>
            </a:pPr>
            <a:r>
              <a:rPr lang="en-US" sz="3999" spc="-259">
                <a:solidFill>
                  <a:srgbClr val="FFFFFF"/>
                </a:solidFill>
                <a:latin typeface="TS Qamus"/>
                <a:ea typeface="TS Qamus"/>
                <a:cs typeface="TS Qamus"/>
                <a:sym typeface="TS Qamus"/>
              </a:rPr>
              <a:t>Problem 02</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777" r="0" b="-1777"/>
            </a:stretch>
          </a:blipFill>
        </p:spPr>
      </p:sp>
      <p:sp>
        <p:nvSpPr>
          <p:cNvPr name="Freeform 3" id="3"/>
          <p:cNvSpPr/>
          <p:nvPr/>
        </p:nvSpPr>
        <p:spPr>
          <a:xfrm flipH="false" flipV="false" rot="0">
            <a:off x="9404583" y="-4905247"/>
            <a:ext cx="11920281" cy="12163552"/>
          </a:xfrm>
          <a:custGeom>
            <a:avLst/>
            <a:gdLst/>
            <a:ahLst/>
            <a:cxnLst/>
            <a:rect r="r" b="b" t="t" l="l"/>
            <a:pathLst>
              <a:path h="12163552" w="11920281">
                <a:moveTo>
                  <a:pt x="0" y="0"/>
                </a:moveTo>
                <a:lnTo>
                  <a:pt x="11920281" y="0"/>
                </a:lnTo>
                <a:lnTo>
                  <a:pt x="11920281" y="12163552"/>
                </a:lnTo>
                <a:lnTo>
                  <a:pt x="0" y="1216355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4" id="4"/>
          <p:cNvSpPr/>
          <p:nvPr/>
        </p:nvSpPr>
        <p:spPr>
          <a:xfrm>
            <a:off x="10038640" y="-468675"/>
            <a:ext cx="0" cy="11995723"/>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
        <p:nvSpPr>
          <p:cNvPr name="AutoShape 5" id="5"/>
          <p:cNvSpPr/>
          <p:nvPr/>
        </p:nvSpPr>
        <p:spPr>
          <a:xfrm>
            <a:off x="477889" y="-448043"/>
            <a:ext cx="0" cy="11118486"/>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grpSp>
        <p:nvGrpSpPr>
          <p:cNvPr name="Group 6" id="6"/>
          <p:cNvGrpSpPr/>
          <p:nvPr/>
        </p:nvGrpSpPr>
        <p:grpSpPr>
          <a:xfrm rot="0">
            <a:off x="16845300" y="391766"/>
            <a:ext cx="635507" cy="554019"/>
            <a:chOff x="0" y="0"/>
            <a:chExt cx="167376" cy="145915"/>
          </a:xfrm>
        </p:grpSpPr>
        <p:sp>
          <p:nvSpPr>
            <p:cNvPr name="Freeform 7" id="7"/>
            <p:cNvSpPr/>
            <p:nvPr/>
          </p:nvSpPr>
          <p:spPr>
            <a:xfrm flipH="false" flipV="false" rot="0">
              <a:off x="0" y="0"/>
              <a:ext cx="167376" cy="145915"/>
            </a:xfrm>
            <a:custGeom>
              <a:avLst/>
              <a:gdLst/>
              <a:ahLst/>
              <a:cxnLst/>
              <a:rect r="r" b="b" t="t" l="l"/>
              <a:pathLst>
                <a:path h="145915" w="167376">
                  <a:moveTo>
                    <a:pt x="72957" y="0"/>
                  </a:moveTo>
                  <a:lnTo>
                    <a:pt x="94419" y="0"/>
                  </a:lnTo>
                  <a:cubicBezTo>
                    <a:pt x="134712" y="0"/>
                    <a:pt x="167376" y="32664"/>
                    <a:pt x="167376" y="72957"/>
                  </a:cubicBezTo>
                  <a:lnTo>
                    <a:pt x="167376" y="72957"/>
                  </a:lnTo>
                  <a:cubicBezTo>
                    <a:pt x="167376" y="113250"/>
                    <a:pt x="134712" y="145915"/>
                    <a:pt x="94419" y="145915"/>
                  </a:cubicBezTo>
                  <a:lnTo>
                    <a:pt x="72957" y="145915"/>
                  </a:lnTo>
                  <a:cubicBezTo>
                    <a:pt x="32664" y="145915"/>
                    <a:pt x="0" y="113250"/>
                    <a:pt x="0" y="72957"/>
                  </a:cubicBezTo>
                  <a:lnTo>
                    <a:pt x="0" y="72957"/>
                  </a:lnTo>
                  <a:cubicBezTo>
                    <a:pt x="0" y="32664"/>
                    <a:pt x="32664" y="0"/>
                    <a:pt x="72957" y="0"/>
                  </a:cubicBezTo>
                  <a:close/>
                </a:path>
              </a:pathLst>
            </a:custGeom>
            <a:gradFill rotWithShape="true">
              <a:gsLst>
                <a:gs pos="0">
                  <a:srgbClr val="9B9B9B">
                    <a:alpha val="28000"/>
                  </a:srgbClr>
                </a:gs>
                <a:gs pos="25000">
                  <a:srgbClr val="FFFFFF">
                    <a:alpha val="29000"/>
                  </a:srgbClr>
                </a:gs>
                <a:gs pos="50000">
                  <a:srgbClr val="FFFFFF">
                    <a:alpha val="44500"/>
                  </a:srgbClr>
                </a:gs>
                <a:gs pos="75000">
                  <a:srgbClr val="FFFFFF">
                    <a:alpha val="29000"/>
                  </a:srgbClr>
                </a:gs>
                <a:gs pos="100000">
                  <a:srgbClr val="9B9B9B">
                    <a:alpha val="28000"/>
                  </a:srgbClr>
                </a:gs>
              </a:gsLst>
              <a:lin ang="2700000"/>
            </a:grad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8" id="8"/>
            <p:cNvSpPr txBox="true"/>
            <p:nvPr/>
          </p:nvSpPr>
          <p:spPr>
            <a:xfrm>
              <a:off x="0" y="-47625"/>
              <a:ext cx="167376" cy="193540"/>
            </a:xfrm>
            <a:prstGeom prst="rect">
              <a:avLst/>
            </a:prstGeom>
          </p:spPr>
          <p:txBody>
            <a:bodyPr anchor="ctr" rtlCol="false" tIns="50800" lIns="50800" bIns="50800" rIns="50800"/>
            <a:lstStyle/>
            <a:p>
              <a:pPr algn="ctr">
                <a:lnSpc>
                  <a:spcPts val="3359"/>
                </a:lnSpc>
              </a:pPr>
            </a:p>
          </p:txBody>
        </p:sp>
      </p:grpSp>
      <p:grpSp>
        <p:nvGrpSpPr>
          <p:cNvPr name="Group 9" id="9"/>
          <p:cNvGrpSpPr/>
          <p:nvPr/>
        </p:nvGrpSpPr>
        <p:grpSpPr>
          <a:xfrm rot="0">
            <a:off x="13913154" y="391766"/>
            <a:ext cx="2743897" cy="554019"/>
            <a:chOff x="0" y="0"/>
            <a:chExt cx="722672" cy="145915"/>
          </a:xfrm>
        </p:grpSpPr>
        <p:sp>
          <p:nvSpPr>
            <p:cNvPr name="Freeform 10" id="10"/>
            <p:cNvSpPr/>
            <p:nvPr/>
          </p:nvSpPr>
          <p:spPr>
            <a:xfrm flipH="false" flipV="false" rot="0">
              <a:off x="0" y="0"/>
              <a:ext cx="722672" cy="145915"/>
            </a:xfrm>
            <a:custGeom>
              <a:avLst/>
              <a:gdLst/>
              <a:ahLst/>
              <a:cxnLst/>
              <a:rect r="r" b="b" t="t" l="l"/>
              <a:pathLst>
                <a:path h="145915" w="722672">
                  <a:moveTo>
                    <a:pt x="72957" y="0"/>
                  </a:moveTo>
                  <a:lnTo>
                    <a:pt x="649715" y="0"/>
                  </a:lnTo>
                  <a:cubicBezTo>
                    <a:pt x="690008" y="0"/>
                    <a:pt x="722672" y="32664"/>
                    <a:pt x="722672" y="72957"/>
                  </a:cubicBezTo>
                  <a:lnTo>
                    <a:pt x="722672" y="72957"/>
                  </a:lnTo>
                  <a:cubicBezTo>
                    <a:pt x="722672" y="113250"/>
                    <a:pt x="690008" y="145915"/>
                    <a:pt x="649715" y="145915"/>
                  </a:cubicBezTo>
                  <a:lnTo>
                    <a:pt x="72957" y="145915"/>
                  </a:lnTo>
                  <a:cubicBezTo>
                    <a:pt x="32664" y="145915"/>
                    <a:pt x="0" y="113250"/>
                    <a:pt x="0" y="72957"/>
                  </a:cubicBezTo>
                  <a:lnTo>
                    <a:pt x="0" y="72957"/>
                  </a:lnTo>
                  <a:cubicBezTo>
                    <a:pt x="0" y="32664"/>
                    <a:pt x="32664" y="0"/>
                    <a:pt x="72957" y="0"/>
                  </a:cubicBezTo>
                  <a:close/>
                </a:path>
              </a:pathLst>
            </a:custGeom>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11" id="11"/>
            <p:cNvSpPr txBox="true"/>
            <p:nvPr/>
          </p:nvSpPr>
          <p:spPr>
            <a:xfrm>
              <a:off x="0" y="-47625"/>
              <a:ext cx="722672" cy="193540"/>
            </a:xfrm>
            <a:prstGeom prst="rect">
              <a:avLst/>
            </a:prstGeom>
          </p:spPr>
          <p:txBody>
            <a:bodyPr anchor="ctr" rtlCol="false" tIns="50800" lIns="50800" bIns="50800" rIns="50800"/>
            <a:lstStyle/>
            <a:p>
              <a:pPr algn="ctr">
                <a:lnSpc>
                  <a:spcPts val="3359"/>
                </a:lnSpc>
              </a:pPr>
            </a:p>
          </p:txBody>
        </p:sp>
      </p:grpSp>
      <p:sp>
        <p:nvSpPr>
          <p:cNvPr name="AutoShape 12" id="12"/>
          <p:cNvSpPr/>
          <p:nvPr/>
        </p:nvSpPr>
        <p:spPr>
          <a:xfrm>
            <a:off x="-417053" y="1167061"/>
            <a:ext cx="19109210" cy="0"/>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
        <p:nvSpPr>
          <p:cNvPr name="AutoShape 13" id="13"/>
          <p:cNvSpPr/>
          <p:nvPr/>
        </p:nvSpPr>
        <p:spPr>
          <a:xfrm flipV="true">
            <a:off x="477889" y="4813953"/>
            <a:ext cx="18693133" cy="0"/>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grpSp>
        <p:nvGrpSpPr>
          <p:cNvPr name="Group 14" id="14"/>
          <p:cNvGrpSpPr/>
          <p:nvPr/>
        </p:nvGrpSpPr>
        <p:grpSpPr>
          <a:xfrm rot="0">
            <a:off x="815264" y="5325587"/>
            <a:ext cx="6613476" cy="4433984"/>
            <a:chOff x="0" y="0"/>
            <a:chExt cx="1024601" cy="686940"/>
          </a:xfrm>
        </p:grpSpPr>
        <p:sp>
          <p:nvSpPr>
            <p:cNvPr name="Freeform 15" id="15"/>
            <p:cNvSpPr/>
            <p:nvPr/>
          </p:nvSpPr>
          <p:spPr>
            <a:xfrm flipH="false" flipV="false" rot="0">
              <a:off x="0" y="0"/>
              <a:ext cx="1024601" cy="686940"/>
            </a:xfrm>
            <a:custGeom>
              <a:avLst/>
              <a:gdLst/>
              <a:ahLst/>
              <a:cxnLst/>
              <a:rect r="r" b="b" t="t" l="l"/>
              <a:pathLst>
                <a:path h="686940" w="1024601">
                  <a:moveTo>
                    <a:pt x="46825" y="0"/>
                  </a:moveTo>
                  <a:lnTo>
                    <a:pt x="977775" y="0"/>
                  </a:lnTo>
                  <a:cubicBezTo>
                    <a:pt x="990194" y="0"/>
                    <a:pt x="1002104" y="4933"/>
                    <a:pt x="1010886" y="13715"/>
                  </a:cubicBezTo>
                  <a:cubicBezTo>
                    <a:pt x="1019667" y="22496"/>
                    <a:pt x="1024601" y="34406"/>
                    <a:pt x="1024601" y="46825"/>
                  </a:cubicBezTo>
                  <a:lnTo>
                    <a:pt x="1024601" y="640115"/>
                  </a:lnTo>
                  <a:cubicBezTo>
                    <a:pt x="1024601" y="652534"/>
                    <a:pt x="1019667" y="664444"/>
                    <a:pt x="1010886" y="673225"/>
                  </a:cubicBezTo>
                  <a:cubicBezTo>
                    <a:pt x="1002104" y="682007"/>
                    <a:pt x="990194" y="686940"/>
                    <a:pt x="977775" y="686940"/>
                  </a:cubicBezTo>
                  <a:lnTo>
                    <a:pt x="46825" y="686940"/>
                  </a:lnTo>
                  <a:cubicBezTo>
                    <a:pt x="34406" y="686940"/>
                    <a:pt x="22496" y="682007"/>
                    <a:pt x="13715" y="673225"/>
                  </a:cubicBezTo>
                  <a:cubicBezTo>
                    <a:pt x="4933" y="664444"/>
                    <a:pt x="0" y="652534"/>
                    <a:pt x="0" y="640115"/>
                  </a:cubicBezTo>
                  <a:lnTo>
                    <a:pt x="0" y="46825"/>
                  </a:lnTo>
                  <a:cubicBezTo>
                    <a:pt x="0" y="34406"/>
                    <a:pt x="4933" y="22496"/>
                    <a:pt x="13715" y="13715"/>
                  </a:cubicBezTo>
                  <a:cubicBezTo>
                    <a:pt x="22496" y="4933"/>
                    <a:pt x="34406" y="0"/>
                    <a:pt x="46825" y="0"/>
                  </a:cubicBezTo>
                  <a:close/>
                </a:path>
              </a:pathLst>
            </a:custGeom>
            <a:blipFill>
              <a:blip r:embed="rId5"/>
              <a:stretch>
                <a:fillRect l="0" t="-14153" r="-28872" b="-14153"/>
              </a:stretch>
            </a:blipFill>
            <a:ln w="19050"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grpSp>
        <p:nvGrpSpPr>
          <p:cNvPr name="Group 16" id="16"/>
          <p:cNvGrpSpPr/>
          <p:nvPr/>
        </p:nvGrpSpPr>
        <p:grpSpPr>
          <a:xfrm rot="0">
            <a:off x="4995431" y="6608548"/>
            <a:ext cx="5971736" cy="2649752"/>
            <a:chOff x="0" y="0"/>
            <a:chExt cx="1572803" cy="697877"/>
          </a:xfrm>
        </p:grpSpPr>
        <p:sp>
          <p:nvSpPr>
            <p:cNvPr name="Freeform 17" id="17"/>
            <p:cNvSpPr/>
            <p:nvPr/>
          </p:nvSpPr>
          <p:spPr>
            <a:xfrm flipH="false" flipV="false" rot="0">
              <a:off x="0" y="0"/>
              <a:ext cx="1572803" cy="697877"/>
            </a:xfrm>
            <a:custGeom>
              <a:avLst/>
              <a:gdLst/>
              <a:ahLst/>
              <a:cxnLst/>
              <a:rect r="r" b="b" t="t" l="l"/>
              <a:pathLst>
                <a:path h="697877" w="1572803">
                  <a:moveTo>
                    <a:pt x="51857" y="0"/>
                  </a:moveTo>
                  <a:lnTo>
                    <a:pt x="1520946" y="0"/>
                  </a:lnTo>
                  <a:cubicBezTo>
                    <a:pt x="1549586" y="0"/>
                    <a:pt x="1572803" y="23217"/>
                    <a:pt x="1572803" y="51857"/>
                  </a:cubicBezTo>
                  <a:lnTo>
                    <a:pt x="1572803" y="646020"/>
                  </a:lnTo>
                  <a:cubicBezTo>
                    <a:pt x="1572803" y="674660"/>
                    <a:pt x="1549586" y="697877"/>
                    <a:pt x="1520946" y="697877"/>
                  </a:cubicBezTo>
                  <a:lnTo>
                    <a:pt x="51857" y="697877"/>
                  </a:lnTo>
                  <a:cubicBezTo>
                    <a:pt x="38104" y="697877"/>
                    <a:pt x="24914" y="692414"/>
                    <a:pt x="15189" y="682688"/>
                  </a:cubicBezTo>
                  <a:cubicBezTo>
                    <a:pt x="5463" y="672963"/>
                    <a:pt x="0" y="659773"/>
                    <a:pt x="0" y="646020"/>
                  </a:cubicBezTo>
                  <a:lnTo>
                    <a:pt x="0" y="51857"/>
                  </a:lnTo>
                  <a:cubicBezTo>
                    <a:pt x="0" y="23217"/>
                    <a:pt x="23217" y="0"/>
                    <a:pt x="51857" y="0"/>
                  </a:cubicBezTo>
                  <a:close/>
                </a:path>
              </a:pathLst>
            </a:custGeom>
            <a:solidFill>
              <a:srgbClr val="FFFFFF"/>
            </a:solid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18" id="18"/>
            <p:cNvSpPr txBox="true"/>
            <p:nvPr/>
          </p:nvSpPr>
          <p:spPr>
            <a:xfrm>
              <a:off x="0" y="-47625"/>
              <a:ext cx="1572803" cy="745502"/>
            </a:xfrm>
            <a:prstGeom prst="rect">
              <a:avLst/>
            </a:prstGeom>
          </p:spPr>
          <p:txBody>
            <a:bodyPr anchor="ctr" rtlCol="false" tIns="50800" lIns="50800" bIns="50800" rIns="50800"/>
            <a:lstStyle/>
            <a:p>
              <a:pPr algn="ctr">
                <a:lnSpc>
                  <a:spcPts val="3359"/>
                </a:lnSpc>
              </a:pPr>
            </a:p>
          </p:txBody>
        </p:sp>
      </p:grpSp>
      <p:sp>
        <p:nvSpPr>
          <p:cNvPr name="Freeform 19" id="19"/>
          <p:cNvSpPr/>
          <p:nvPr/>
        </p:nvSpPr>
        <p:spPr>
          <a:xfrm flipH="false" flipV="false" rot="0">
            <a:off x="5458617" y="6997452"/>
            <a:ext cx="345797" cy="345797"/>
          </a:xfrm>
          <a:custGeom>
            <a:avLst/>
            <a:gdLst/>
            <a:ahLst/>
            <a:cxnLst/>
            <a:rect r="r" b="b" t="t" l="l"/>
            <a:pathLst>
              <a:path h="345797" w="345797">
                <a:moveTo>
                  <a:pt x="0" y="0"/>
                </a:moveTo>
                <a:lnTo>
                  <a:pt x="345797" y="0"/>
                </a:lnTo>
                <a:lnTo>
                  <a:pt x="345797" y="345797"/>
                </a:lnTo>
                <a:lnTo>
                  <a:pt x="0" y="34579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20" id="20"/>
          <p:cNvGrpSpPr/>
          <p:nvPr/>
        </p:nvGrpSpPr>
        <p:grpSpPr>
          <a:xfrm rot="0">
            <a:off x="11509070" y="6608548"/>
            <a:ext cx="5971736" cy="2649752"/>
            <a:chOff x="0" y="0"/>
            <a:chExt cx="1572803" cy="697877"/>
          </a:xfrm>
        </p:grpSpPr>
        <p:sp>
          <p:nvSpPr>
            <p:cNvPr name="Freeform 21" id="21"/>
            <p:cNvSpPr/>
            <p:nvPr/>
          </p:nvSpPr>
          <p:spPr>
            <a:xfrm flipH="false" flipV="false" rot="0">
              <a:off x="0" y="0"/>
              <a:ext cx="1572803" cy="697877"/>
            </a:xfrm>
            <a:custGeom>
              <a:avLst/>
              <a:gdLst/>
              <a:ahLst/>
              <a:cxnLst/>
              <a:rect r="r" b="b" t="t" l="l"/>
              <a:pathLst>
                <a:path h="697877" w="1572803">
                  <a:moveTo>
                    <a:pt x="51857" y="0"/>
                  </a:moveTo>
                  <a:lnTo>
                    <a:pt x="1520946" y="0"/>
                  </a:lnTo>
                  <a:cubicBezTo>
                    <a:pt x="1549586" y="0"/>
                    <a:pt x="1572803" y="23217"/>
                    <a:pt x="1572803" y="51857"/>
                  </a:cubicBezTo>
                  <a:lnTo>
                    <a:pt x="1572803" y="646020"/>
                  </a:lnTo>
                  <a:cubicBezTo>
                    <a:pt x="1572803" y="674660"/>
                    <a:pt x="1549586" y="697877"/>
                    <a:pt x="1520946" y="697877"/>
                  </a:cubicBezTo>
                  <a:lnTo>
                    <a:pt x="51857" y="697877"/>
                  </a:lnTo>
                  <a:cubicBezTo>
                    <a:pt x="38104" y="697877"/>
                    <a:pt x="24914" y="692414"/>
                    <a:pt x="15189" y="682688"/>
                  </a:cubicBezTo>
                  <a:cubicBezTo>
                    <a:pt x="5463" y="672963"/>
                    <a:pt x="0" y="659773"/>
                    <a:pt x="0" y="646020"/>
                  </a:cubicBezTo>
                  <a:lnTo>
                    <a:pt x="0" y="51857"/>
                  </a:lnTo>
                  <a:cubicBezTo>
                    <a:pt x="0" y="23217"/>
                    <a:pt x="23217" y="0"/>
                    <a:pt x="51857" y="0"/>
                  </a:cubicBezTo>
                  <a:close/>
                </a:path>
              </a:pathLst>
            </a:custGeom>
            <a:gradFill rotWithShape="true">
              <a:gsLst>
                <a:gs pos="0">
                  <a:srgbClr val="292929">
                    <a:alpha val="100000"/>
                  </a:srgbClr>
                </a:gs>
                <a:gs pos="100000">
                  <a:srgbClr val="3F4E52">
                    <a:alpha val="100000"/>
                  </a:srgbClr>
                </a:gs>
              </a:gsLst>
              <a:lin ang="0"/>
            </a:grad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22" id="22"/>
            <p:cNvSpPr txBox="true"/>
            <p:nvPr/>
          </p:nvSpPr>
          <p:spPr>
            <a:xfrm>
              <a:off x="0" y="-47625"/>
              <a:ext cx="1572803" cy="745502"/>
            </a:xfrm>
            <a:prstGeom prst="rect">
              <a:avLst/>
            </a:prstGeom>
          </p:spPr>
          <p:txBody>
            <a:bodyPr anchor="ctr" rtlCol="false" tIns="50800" lIns="50800" bIns="50800" rIns="50800"/>
            <a:lstStyle/>
            <a:p>
              <a:pPr algn="ctr">
                <a:lnSpc>
                  <a:spcPts val="3359"/>
                </a:lnSpc>
              </a:pPr>
            </a:p>
          </p:txBody>
        </p:sp>
      </p:grpSp>
      <p:sp>
        <p:nvSpPr>
          <p:cNvPr name="Freeform 23" id="23"/>
          <p:cNvSpPr/>
          <p:nvPr/>
        </p:nvSpPr>
        <p:spPr>
          <a:xfrm flipH="false" flipV="false" rot="0">
            <a:off x="12047163" y="7053181"/>
            <a:ext cx="345797" cy="345797"/>
          </a:xfrm>
          <a:custGeom>
            <a:avLst/>
            <a:gdLst/>
            <a:ahLst/>
            <a:cxnLst/>
            <a:rect r="r" b="b" t="t" l="l"/>
            <a:pathLst>
              <a:path h="345797" w="345797">
                <a:moveTo>
                  <a:pt x="0" y="0"/>
                </a:moveTo>
                <a:lnTo>
                  <a:pt x="345798" y="0"/>
                </a:lnTo>
                <a:lnTo>
                  <a:pt x="345798" y="345798"/>
                </a:lnTo>
                <a:lnTo>
                  <a:pt x="0" y="34579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AutoShape 24" id="24"/>
          <p:cNvSpPr/>
          <p:nvPr/>
        </p:nvSpPr>
        <p:spPr>
          <a:xfrm>
            <a:off x="6223588" y="-468675"/>
            <a:ext cx="0" cy="1635737"/>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
        <p:nvSpPr>
          <p:cNvPr name="TextBox 25" id="25"/>
          <p:cNvSpPr txBox="true"/>
          <p:nvPr/>
        </p:nvSpPr>
        <p:spPr>
          <a:xfrm rot="0">
            <a:off x="14170902" y="477323"/>
            <a:ext cx="2228402" cy="325755"/>
          </a:xfrm>
          <a:prstGeom prst="rect">
            <a:avLst/>
          </a:prstGeom>
        </p:spPr>
        <p:txBody>
          <a:bodyPr anchor="t" rtlCol="false" tIns="0" lIns="0" bIns="0" rIns="0">
            <a:spAutoFit/>
          </a:bodyPr>
          <a:lstStyle/>
          <a:p>
            <a:pPr algn="ctr">
              <a:lnSpc>
                <a:spcPts val="2520"/>
              </a:lnSpc>
            </a:pPr>
            <a:r>
              <a:rPr lang="en-US" sz="1800" spc="-117">
                <a:solidFill>
                  <a:srgbClr val="FFFFFF"/>
                </a:solidFill>
                <a:latin typeface="Poppins"/>
                <a:ea typeface="Poppins"/>
                <a:cs typeface="Poppins"/>
                <a:sym typeface="Poppins"/>
              </a:rPr>
              <a:t>6 August, 2025</a:t>
            </a:r>
          </a:p>
        </p:txBody>
      </p:sp>
      <p:sp>
        <p:nvSpPr>
          <p:cNvPr name="TextBox 26" id="26"/>
          <p:cNvSpPr txBox="true"/>
          <p:nvPr/>
        </p:nvSpPr>
        <p:spPr>
          <a:xfrm rot="0">
            <a:off x="815264" y="1902984"/>
            <a:ext cx="6925626" cy="3240516"/>
          </a:xfrm>
          <a:prstGeom prst="rect">
            <a:avLst/>
          </a:prstGeom>
        </p:spPr>
        <p:txBody>
          <a:bodyPr anchor="t" rtlCol="false" tIns="0" lIns="0" bIns="0" rIns="0">
            <a:spAutoFit/>
          </a:bodyPr>
          <a:lstStyle/>
          <a:p>
            <a:pPr algn="l">
              <a:lnSpc>
                <a:spcPts val="12103"/>
              </a:lnSpc>
            </a:pPr>
            <a:r>
              <a:rPr lang="en-US" sz="13599" spc="-163" b="true">
                <a:solidFill>
                  <a:srgbClr val="FFFFFF"/>
                </a:solidFill>
                <a:latin typeface="Geometrica Sans Medium"/>
                <a:ea typeface="Geometrica Sans Medium"/>
                <a:cs typeface="Geometrica Sans Medium"/>
                <a:sym typeface="Geometrica Sans Medium"/>
              </a:rPr>
              <a:t>Sistem </a:t>
            </a:r>
          </a:p>
          <a:p>
            <a:pPr algn="l">
              <a:lnSpc>
                <a:spcPts val="12103"/>
              </a:lnSpc>
            </a:pPr>
            <a:r>
              <a:rPr lang="en-US" sz="13599" spc="-163" b="true">
                <a:solidFill>
                  <a:srgbClr val="FFFFFF"/>
                </a:solidFill>
                <a:latin typeface="Geometrica Sans Medium"/>
                <a:ea typeface="Geometrica Sans Medium"/>
                <a:cs typeface="Geometrica Sans Medium"/>
                <a:sym typeface="Geometrica Sans Medium"/>
              </a:rPr>
              <a:t>Karir</a:t>
            </a:r>
          </a:p>
        </p:txBody>
      </p:sp>
      <p:sp>
        <p:nvSpPr>
          <p:cNvPr name="TextBox 27" id="27"/>
          <p:cNvSpPr txBox="true"/>
          <p:nvPr/>
        </p:nvSpPr>
        <p:spPr>
          <a:xfrm rot="0">
            <a:off x="5443215" y="7504479"/>
            <a:ext cx="5076170" cy="1156716"/>
          </a:xfrm>
          <a:prstGeom prst="rect">
            <a:avLst/>
          </a:prstGeom>
        </p:spPr>
        <p:txBody>
          <a:bodyPr anchor="t" rtlCol="false" tIns="0" lIns="0" bIns="0" rIns="0">
            <a:spAutoFit/>
          </a:bodyPr>
          <a:lstStyle/>
          <a:p>
            <a:pPr algn="l">
              <a:lnSpc>
                <a:spcPts val="3072"/>
              </a:lnSpc>
            </a:pPr>
            <a:r>
              <a:rPr lang="en-US" sz="2400" i="true" spc="-72">
                <a:solidFill>
                  <a:srgbClr val="4D4D4D"/>
                </a:solidFill>
                <a:latin typeface="Poppins Italics"/>
                <a:ea typeface="Poppins Italics"/>
                <a:cs typeface="Poppins Italics"/>
                <a:sym typeface="Poppins Italics"/>
              </a:rPr>
              <a:t>Belum mempertimbangkan profil kompetensi mahasiswa secara mendalam.</a:t>
            </a:r>
          </a:p>
        </p:txBody>
      </p:sp>
      <p:sp>
        <p:nvSpPr>
          <p:cNvPr name="TextBox 28" id="28"/>
          <p:cNvSpPr txBox="true"/>
          <p:nvPr/>
        </p:nvSpPr>
        <p:spPr>
          <a:xfrm rot="0">
            <a:off x="6151873" y="6792525"/>
            <a:ext cx="3666073" cy="679450"/>
          </a:xfrm>
          <a:prstGeom prst="rect">
            <a:avLst/>
          </a:prstGeom>
        </p:spPr>
        <p:txBody>
          <a:bodyPr anchor="t" rtlCol="false" tIns="0" lIns="0" bIns="0" rIns="0">
            <a:spAutoFit/>
          </a:bodyPr>
          <a:lstStyle/>
          <a:p>
            <a:pPr algn="l">
              <a:lnSpc>
                <a:spcPts val="5599"/>
              </a:lnSpc>
            </a:pPr>
            <a:r>
              <a:rPr lang="en-US" sz="3999" spc="-259">
                <a:solidFill>
                  <a:srgbClr val="000000"/>
                </a:solidFill>
                <a:latin typeface="TS Qamus"/>
                <a:ea typeface="TS Qamus"/>
                <a:cs typeface="TS Qamus"/>
                <a:sym typeface="TS Qamus"/>
              </a:rPr>
              <a:t>Pr</a:t>
            </a:r>
            <a:r>
              <a:rPr lang="en-US" sz="3999" spc="-259">
                <a:solidFill>
                  <a:srgbClr val="000000"/>
                </a:solidFill>
                <a:latin typeface="TS Qamus"/>
                <a:ea typeface="TS Qamus"/>
                <a:cs typeface="TS Qamus"/>
                <a:sym typeface="TS Qamus"/>
              </a:rPr>
              <a:t>oblem 01</a:t>
            </a:r>
          </a:p>
        </p:txBody>
      </p:sp>
      <p:sp>
        <p:nvSpPr>
          <p:cNvPr name="TextBox 29" id="29"/>
          <p:cNvSpPr txBox="true"/>
          <p:nvPr/>
        </p:nvSpPr>
        <p:spPr>
          <a:xfrm rot="0">
            <a:off x="11956854" y="7504479"/>
            <a:ext cx="5076170" cy="1537716"/>
          </a:xfrm>
          <a:prstGeom prst="rect">
            <a:avLst/>
          </a:prstGeom>
        </p:spPr>
        <p:txBody>
          <a:bodyPr anchor="t" rtlCol="false" tIns="0" lIns="0" bIns="0" rIns="0">
            <a:spAutoFit/>
          </a:bodyPr>
          <a:lstStyle/>
          <a:p>
            <a:pPr algn="l">
              <a:lnSpc>
                <a:spcPts val="3072"/>
              </a:lnSpc>
            </a:pPr>
            <a:r>
              <a:rPr lang="en-US" sz="2400" i="true" spc="-72">
                <a:solidFill>
                  <a:srgbClr val="C6C6C6"/>
                </a:solidFill>
                <a:latin typeface="Poppins Italics"/>
                <a:ea typeface="Poppins Italics"/>
                <a:cs typeface="Poppins Italics"/>
                <a:sym typeface="Poppins Italics"/>
              </a:rPr>
              <a:t>Banyak sistem bersifat black box, sehingga pengguna tidak mengetahui alasan di balik rekomendasi.</a:t>
            </a:r>
          </a:p>
        </p:txBody>
      </p:sp>
      <p:sp>
        <p:nvSpPr>
          <p:cNvPr name="TextBox 30" id="30"/>
          <p:cNvSpPr txBox="true"/>
          <p:nvPr/>
        </p:nvSpPr>
        <p:spPr>
          <a:xfrm rot="0">
            <a:off x="12740419" y="6848255"/>
            <a:ext cx="3916632" cy="679450"/>
          </a:xfrm>
          <a:prstGeom prst="rect">
            <a:avLst/>
          </a:prstGeom>
        </p:spPr>
        <p:txBody>
          <a:bodyPr anchor="t" rtlCol="false" tIns="0" lIns="0" bIns="0" rIns="0">
            <a:spAutoFit/>
          </a:bodyPr>
          <a:lstStyle/>
          <a:p>
            <a:pPr algn="l">
              <a:lnSpc>
                <a:spcPts val="5599"/>
              </a:lnSpc>
            </a:pPr>
            <a:r>
              <a:rPr lang="en-US" sz="3999" spc="-259">
                <a:solidFill>
                  <a:srgbClr val="FFFFFF"/>
                </a:solidFill>
                <a:latin typeface="TS Qamus"/>
                <a:ea typeface="TS Qamus"/>
                <a:cs typeface="TS Qamus"/>
                <a:sym typeface="TS Qamus"/>
              </a:rPr>
              <a:t>Problem 02</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777" r="0" b="-1777"/>
            </a:stretch>
          </a:blipFill>
        </p:spPr>
      </p:sp>
      <p:sp>
        <p:nvSpPr>
          <p:cNvPr name="AutoShape 3" id="3"/>
          <p:cNvSpPr/>
          <p:nvPr/>
        </p:nvSpPr>
        <p:spPr>
          <a:xfrm>
            <a:off x="10038640" y="-468675"/>
            <a:ext cx="0" cy="11995723"/>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
        <p:nvSpPr>
          <p:cNvPr name="AutoShape 4" id="4"/>
          <p:cNvSpPr/>
          <p:nvPr/>
        </p:nvSpPr>
        <p:spPr>
          <a:xfrm>
            <a:off x="477889" y="-448043"/>
            <a:ext cx="0" cy="11118486"/>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
        <p:nvSpPr>
          <p:cNvPr name="Freeform 5" id="5"/>
          <p:cNvSpPr/>
          <p:nvPr/>
        </p:nvSpPr>
        <p:spPr>
          <a:xfrm flipH="false" flipV="false" rot="0">
            <a:off x="783373" y="515779"/>
            <a:ext cx="443469" cy="305994"/>
          </a:xfrm>
          <a:custGeom>
            <a:avLst/>
            <a:gdLst/>
            <a:ahLst/>
            <a:cxnLst/>
            <a:rect r="r" b="b" t="t" l="l"/>
            <a:pathLst>
              <a:path h="305994" w="443469">
                <a:moveTo>
                  <a:pt x="0" y="0"/>
                </a:moveTo>
                <a:lnTo>
                  <a:pt x="443469" y="0"/>
                </a:lnTo>
                <a:lnTo>
                  <a:pt x="443469" y="305993"/>
                </a:lnTo>
                <a:lnTo>
                  <a:pt x="0" y="30599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16845300" y="391766"/>
            <a:ext cx="635507" cy="554019"/>
            <a:chOff x="0" y="0"/>
            <a:chExt cx="167376" cy="145915"/>
          </a:xfrm>
        </p:grpSpPr>
        <p:sp>
          <p:nvSpPr>
            <p:cNvPr name="Freeform 7" id="7"/>
            <p:cNvSpPr/>
            <p:nvPr/>
          </p:nvSpPr>
          <p:spPr>
            <a:xfrm flipH="false" flipV="false" rot="0">
              <a:off x="0" y="0"/>
              <a:ext cx="167376" cy="145915"/>
            </a:xfrm>
            <a:custGeom>
              <a:avLst/>
              <a:gdLst/>
              <a:ahLst/>
              <a:cxnLst/>
              <a:rect r="r" b="b" t="t" l="l"/>
              <a:pathLst>
                <a:path h="145915" w="167376">
                  <a:moveTo>
                    <a:pt x="72957" y="0"/>
                  </a:moveTo>
                  <a:lnTo>
                    <a:pt x="94419" y="0"/>
                  </a:lnTo>
                  <a:cubicBezTo>
                    <a:pt x="134712" y="0"/>
                    <a:pt x="167376" y="32664"/>
                    <a:pt x="167376" y="72957"/>
                  </a:cubicBezTo>
                  <a:lnTo>
                    <a:pt x="167376" y="72957"/>
                  </a:lnTo>
                  <a:cubicBezTo>
                    <a:pt x="167376" y="113250"/>
                    <a:pt x="134712" y="145915"/>
                    <a:pt x="94419" y="145915"/>
                  </a:cubicBezTo>
                  <a:lnTo>
                    <a:pt x="72957" y="145915"/>
                  </a:lnTo>
                  <a:cubicBezTo>
                    <a:pt x="32664" y="145915"/>
                    <a:pt x="0" y="113250"/>
                    <a:pt x="0" y="72957"/>
                  </a:cubicBezTo>
                  <a:lnTo>
                    <a:pt x="0" y="72957"/>
                  </a:lnTo>
                  <a:cubicBezTo>
                    <a:pt x="0" y="32664"/>
                    <a:pt x="32664" y="0"/>
                    <a:pt x="72957" y="0"/>
                  </a:cubicBezTo>
                  <a:close/>
                </a:path>
              </a:pathLst>
            </a:custGeom>
            <a:gradFill rotWithShape="true">
              <a:gsLst>
                <a:gs pos="0">
                  <a:srgbClr val="9B9B9B">
                    <a:alpha val="28000"/>
                  </a:srgbClr>
                </a:gs>
                <a:gs pos="25000">
                  <a:srgbClr val="FFFFFF">
                    <a:alpha val="29000"/>
                  </a:srgbClr>
                </a:gs>
                <a:gs pos="50000">
                  <a:srgbClr val="FFFFFF">
                    <a:alpha val="44500"/>
                  </a:srgbClr>
                </a:gs>
                <a:gs pos="75000">
                  <a:srgbClr val="FFFFFF">
                    <a:alpha val="29000"/>
                  </a:srgbClr>
                </a:gs>
                <a:gs pos="100000">
                  <a:srgbClr val="9B9B9B">
                    <a:alpha val="28000"/>
                  </a:srgbClr>
                </a:gs>
              </a:gsLst>
              <a:lin ang="2700000"/>
            </a:grad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8" id="8"/>
            <p:cNvSpPr txBox="true"/>
            <p:nvPr/>
          </p:nvSpPr>
          <p:spPr>
            <a:xfrm>
              <a:off x="0" y="-47625"/>
              <a:ext cx="167376" cy="193540"/>
            </a:xfrm>
            <a:prstGeom prst="rect">
              <a:avLst/>
            </a:prstGeom>
          </p:spPr>
          <p:txBody>
            <a:bodyPr anchor="ctr" rtlCol="false" tIns="50800" lIns="50800" bIns="50800" rIns="50800"/>
            <a:lstStyle/>
            <a:p>
              <a:pPr algn="ctr">
                <a:lnSpc>
                  <a:spcPts val="3359"/>
                </a:lnSpc>
              </a:pPr>
            </a:p>
          </p:txBody>
        </p:sp>
      </p:grpSp>
      <p:grpSp>
        <p:nvGrpSpPr>
          <p:cNvPr name="Group 9" id="9"/>
          <p:cNvGrpSpPr/>
          <p:nvPr/>
        </p:nvGrpSpPr>
        <p:grpSpPr>
          <a:xfrm rot="0">
            <a:off x="13913154" y="391766"/>
            <a:ext cx="2743897" cy="554019"/>
            <a:chOff x="0" y="0"/>
            <a:chExt cx="722672" cy="145915"/>
          </a:xfrm>
        </p:grpSpPr>
        <p:sp>
          <p:nvSpPr>
            <p:cNvPr name="Freeform 10" id="10"/>
            <p:cNvSpPr/>
            <p:nvPr/>
          </p:nvSpPr>
          <p:spPr>
            <a:xfrm flipH="false" flipV="false" rot="0">
              <a:off x="0" y="0"/>
              <a:ext cx="722672" cy="145915"/>
            </a:xfrm>
            <a:custGeom>
              <a:avLst/>
              <a:gdLst/>
              <a:ahLst/>
              <a:cxnLst/>
              <a:rect r="r" b="b" t="t" l="l"/>
              <a:pathLst>
                <a:path h="145915" w="722672">
                  <a:moveTo>
                    <a:pt x="72957" y="0"/>
                  </a:moveTo>
                  <a:lnTo>
                    <a:pt x="649715" y="0"/>
                  </a:lnTo>
                  <a:cubicBezTo>
                    <a:pt x="690008" y="0"/>
                    <a:pt x="722672" y="32664"/>
                    <a:pt x="722672" y="72957"/>
                  </a:cubicBezTo>
                  <a:lnTo>
                    <a:pt x="722672" y="72957"/>
                  </a:lnTo>
                  <a:cubicBezTo>
                    <a:pt x="722672" y="113250"/>
                    <a:pt x="690008" y="145915"/>
                    <a:pt x="649715" y="145915"/>
                  </a:cubicBezTo>
                  <a:lnTo>
                    <a:pt x="72957" y="145915"/>
                  </a:lnTo>
                  <a:cubicBezTo>
                    <a:pt x="32664" y="145915"/>
                    <a:pt x="0" y="113250"/>
                    <a:pt x="0" y="72957"/>
                  </a:cubicBezTo>
                  <a:lnTo>
                    <a:pt x="0" y="72957"/>
                  </a:lnTo>
                  <a:cubicBezTo>
                    <a:pt x="0" y="32664"/>
                    <a:pt x="32664" y="0"/>
                    <a:pt x="72957" y="0"/>
                  </a:cubicBezTo>
                  <a:close/>
                </a:path>
              </a:pathLst>
            </a:custGeom>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11" id="11"/>
            <p:cNvSpPr txBox="true"/>
            <p:nvPr/>
          </p:nvSpPr>
          <p:spPr>
            <a:xfrm>
              <a:off x="0" y="-47625"/>
              <a:ext cx="722672" cy="193540"/>
            </a:xfrm>
            <a:prstGeom prst="rect">
              <a:avLst/>
            </a:prstGeom>
          </p:spPr>
          <p:txBody>
            <a:bodyPr anchor="ctr" rtlCol="false" tIns="50800" lIns="50800" bIns="50800" rIns="50800"/>
            <a:lstStyle/>
            <a:p>
              <a:pPr algn="ctr">
                <a:lnSpc>
                  <a:spcPts val="3359"/>
                </a:lnSpc>
              </a:pPr>
            </a:p>
          </p:txBody>
        </p:sp>
      </p:grpSp>
      <p:grpSp>
        <p:nvGrpSpPr>
          <p:cNvPr name="Group 12" id="12"/>
          <p:cNvGrpSpPr/>
          <p:nvPr/>
        </p:nvGrpSpPr>
        <p:grpSpPr>
          <a:xfrm rot="0">
            <a:off x="6476000" y="391766"/>
            <a:ext cx="3341946" cy="554019"/>
            <a:chOff x="0" y="0"/>
            <a:chExt cx="880183" cy="145915"/>
          </a:xfrm>
        </p:grpSpPr>
        <p:sp>
          <p:nvSpPr>
            <p:cNvPr name="Freeform 13" id="13"/>
            <p:cNvSpPr/>
            <p:nvPr/>
          </p:nvSpPr>
          <p:spPr>
            <a:xfrm flipH="false" flipV="false" rot="0">
              <a:off x="0" y="0"/>
              <a:ext cx="880183" cy="145915"/>
            </a:xfrm>
            <a:custGeom>
              <a:avLst/>
              <a:gdLst/>
              <a:ahLst/>
              <a:cxnLst/>
              <a:rect r="r" b="b" t="t" l="l"/>
              <a:pathLst>
                <a:path h="145915" w="880183">
                  <a:moveTo>
                    <a:pt x="72957" y="0"/>
                  </a:moveTo>
                  <a:lnTo>
                    <a:pt x="807226" y="0"/>
                  </a:lnTo>
                  <a:cubicBezTo>
                    <a:pt x="847519" y="0"/>
                    <a:pt x="880183" y="32664"/>
                    <a:pt x="880183" y="72957"/>
                  </a:cubicBezTo>
                  <a:lnTo>
                    <a:pt x="880183" y="72957"/>
                  </a:lnTo>
                  <a:cubicBezTo>
                    <a:pt x="880183" y="113250"/>
                    <a:pt x="847519" y="145915"/>
                    <a:pt x="807226" y="145915"/>
                  </a:cubicBezTo>
                  <a:lnTo>
                    <a:pt x="72957" y="145915"/>
                  </a:lnTo>
                  <a:cubicBezTo>
                    <a:pt x="32664" y="145915"/>
                    <a:pt x="0" y="113250"/>
                    <a:pt x="0" y="72957"/>
                  </a:cubicBezTo>
                  <a:lnTo>
                    <a:pt x="0" y="72957"/>
                  </a:lnTo>
                  <a:cubicBezTo>
                    <a:pt x="0" y="32664"/>
                    <a:pt x="32664" y="0"/>
                    <a:pt x="72957" y="0"/>
                  </a:cubicBezTo>
                  <a:close/>
                </a:path>
              </a:pathLst>
            </a:custGeom>
            <a:solidFill>
              <a:srgbClr val="FFFFFF"/>
            </a:solid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14" id="14"/>
            <p:cNvSpPr txBox="true"/>
            <p:nvPr/>
          </p:nvSpPr>
          <p:spPr>
            <a:xfrm>
              <a:off x="0" y="-47625"/>
              <a:ext cx="880183" cy="193540"/>
            </a:xfrm>
            <a:prstGeom prst="rect">
              <a:avLst/>
            </a:prstGeom>
          </p:spPr>
          <p:txBody>
            <a:bodyPr anchor="ctr" rtlCol="false" tIns="50800" lIns="50800" bIns="50800" rIns="50800"/>
            <a:lstStyle/>
            <a:p>
              <a:pPr algn="ctr">
                <a:lnSpc>
                  <a:spcPts val="3359"/>
                </a:lnSpc>
              </a:pPr>
            </a:p>
          </p:txBody>
        </p:sp>
      </p:grpSp>
      <p:sp>
        <p:nvSpPr>
          <p:cNvPr name="AutoShape 15" id="15"/>
          <p:cNvSpPr/>
          <p:nvPr/>
        </p:nvSpPr>
        <p:spPr>
          <a:xfrm>
            <a:off x="-417053" y="1167061"/>
            <a:ext cx="19109210" cy="0"/>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
        <p:nvSpPr>
          <p:cNvPr name="TextBox 16" id="16"/>
          <p:cNvSpPr txBox="true"/>
          <p:nvPr/>
        </p:nvSpPr>
        <p:spPr>
          <a:xfrm rot="0">
            <a:off x="1383454" y="471410"/>
            <a:ext cx="2385672" cy="382270"/>
          </a:xfrm>
          <a:prstGeom prst="rect">
            <a:avLst/>
          </a:prstGeom>
        </p:spPr>
        <p:txBody>
          <a:bodyPr anchor="t" rtlCol="false" tIns="0" lIns="0" bIns="0" rIns="0">
            <a:spAutoFit/>
          </a:bodyPr>
          <a:lstStyle/>
          <a:p>
            <a:pPr algn="l">
              <a:lnSpc>
                <a:spcPts val="3079"/>
              </a:lnSpc>
            </a:pPr>
            <a:r>
              <a:rPr lang="en-US" sz="2199" spc="-142">
                <a:solidFill>
                  <a:srgbClr val="FFFFFF"/>
                </a:solidFill>
                <a:latin typeface="TS Qamus"/>
                <a:ea typeface="TS Qamus"/>
                <a:cs typeface="TS Qamus"/>
                <a:sym typeface="TS Qamus"/>
              </a:rPr>
              <a:t>Salford &amp; Co.</a:t>
            </a:r>
          </a:p>
        </p:txBody>
      </p:sp>
      <p:sp>
        <p:nvSpPr>
          <p:cNvPr name="TextBox 17" id="17"/>
          <p:cNvSpPr txBox="true"/>
          <p:nvPr/>
        </p:nvSpPr>
        <p:spPr>
          <a:xfrm rot="0">
            <a:off x="14170902" y="477323"/>
            <a:ext cx="2228402" cy="325755"/>
          </a:xfrm>
          <a:prstGeom prst="rect">
            <a:avLst/>
          </a:prstGeom>
        </p:spPr>
        <p:txBody>
          <a:bodyPr anchor="t" rtlCol="false" tIns="0" lIns="0" bIns="0" rIns="0">
            <a:spAutoFit/>
          </a:bodyPr>
          <a:lstStyle/>
          <a:p>
            <a:pPr algn="ctr">
              <a:lnSpc>
                <a:spcPts val="2520"/>
              </a:lnSpc>
            </a:pPr>
            <a:r>
              <a:rPr lang="en-US" sz="1800" spc="-117">
                <a:solidFill>
                  <a:srgbClr val="FFFFFF"/>
                </a:solidFill>
                <a:latin typeface="Poppins"/>
                <a:ea typeface="Poppins"/>
                <a:cs typeface="Poppins"/>
                <a:sym typeface="Poppins"/>
              </a:rPr>
              <a:t>6 August, 2025</a:t>
            </a:r>
          </a:p>
        </p:txBody>
      </p:sp>
      <p:sp>
        <p:nvSpPr>
          <p:cNvPr name="TextBox 18" id="18"/>
          <p:cNvSpPr txBox="true"/>
          <p:nvPr/>
        </p:nvSpPr>
        <p:spPr>
          <a:xfrm rot="0">
            <a:off x="6740220" y="477323"/>
            <a:ext cx="2820551" cy="325755"/>
          </a:xfrm>
          <a:prstGeom prst="rect">
            <a:avLst/>
          </a:prstGeom>
        </p:spPr>
        <p:txBody>
          <a:bodyPr anchor="t" rtlCol="false" tIns="0" lIns="0" bIns="0" rIns="0">
            <a:spAutoFit/>
          </a:bodyPr>
          <a:lstStyle/>
          <a:p>
            <a:pPr algn="ctr">
              <a:lnSpc>
                <a:spcPts val="2520"/>
              </a:lnSpc>
            </a:pPr>
            <a:r>
              <a:rPr lang="en-US" sz="1800" spc="-117">
                <a:solidFill>
                  <a:srgbClr val="000000"/>
                </a:solidFill>
                <a:latin typeface="Poppins"/>
                <a:ea typeface="Poppins"/>
                <a:cs typeface="Poppins"/>
                <a:sym typeface="Poppins"/>
              </a:rPr>
              <a:t>Social</a:t>
            </a:r>
            <a:r>
              <a:rPr lang="en-US" sz="1800" spc="-117">
                <a:solidFill>
                  <a:srgbClr val="000000"/>
                </a:solidFill>
                <a:latin typeface="Poppins"/>
                <a:ea typeface="Poppins"/>
                <a:cs typeface="Poppins"/>
                <a:sym typeface="Poppins"/>
              </a:rPr>
              <a:t> Media Proposal</a:t>
            </a:r>
          </a:p>
        </p:txBody>
      </p:sp>
      <p:sp>
        <p:nvSpPr>
          <p:cNvPr name="TextBox 19" id="19"/>
          <p:cNvSpPr txBox="true"/>
          <p:nvPr/>
        </p:nvSpPr>
        <p:spPr>
          <a:xfrm rot="0">
            <a:off x="815264" y="1809999"/>
            <a:ext cx="9783703" cy="1235847"/>
          </a:xfrm>
          <a:prstGeom prst="rect">
            <a:avLst/>
          </a:prstGeom>
        </p:spPr>
        <p:txBody>
          <a:bodyPr anchor="t" rtlCol="false" tIns="0" lIns="0" bIns="0" rIns="0">
            <a:spAutoFit/>
          </a:bodyPr>
          <a:lstStyle/>
          <a:p>
            <a:pPr algn="l">
              <a:lnSpc>
                <a:spcPts val="8989"/>
              </a:lnSpc>
            </a:pPr>
            <a:r>
              <a:rPr lang="en-US" sz="10100" spc="-121" b="true">
                <a:solidFill>
                  <a:srgbClr val="FFFFFF"/>
                </a:solidFill>
                <a:latin typeface="Geometrica Sans Medium"/>
                <a:ea typeface="Geometrica Sans Medium"/>
                <a:cs typeface="Geometrica Sans Medium"/>
                <a:sym typeface="Geometrica Sans Medium"/>
              </a:rPr>
              <a:t>Rumusan Masalah</a:t>
            </a:r>
          </a:p>
        </p:txBody>
      </p:sp>
      <p:sp>
        <p:nvSpPr>
          <p:cNvPr name="AutoShape 20" id="20"/>
          <p:cNvSpPr/>
          <p:nvPr/>
        </p:nvSpPr>
        <p:spPr>
          <a:xfrm flipV="true">
            <a:off x="477889" y="3436804"/>
            <a:ext cx="18693133" cy="0"/>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grpSp>
        <p:nvGrpSpPr>
          <p:cNvPr name="Group 21" id="21"/>
          <p:cNvGrpSpPr/>
          <p:nvPr/>
        </p:nvGrpSpPr>
        <p:grpSpPr>
          <a:xfrm rot="0">
            <a:off x="10376778" y="3451357"/>
            <a:ext cx="8794244" cy="5935393"/>
            <a:chOff x="0" y="0"/>
            <a:chExt cx="1362459" cy="919548"/>
          </a:xfrm>
        </p:grpSpPr>
        <p:sp>
          <p:nvSpPr>
            <p:cNvPr name="Freeform 22" id="22"/>
            <p:cNvSpPr/>
            <p:nvPr/>
          </p:nvSpPr>
          <p:spPr>
            <a:xfrm flipH="false" flipV="false" rot="0">
              <a:off x="0" y="0"/>
              <a:ext cx="1362459" cy="919548"/>
            </a:xfrm>
            <a:custGeom>
              <a:avLst/>
              <a:gdLst/>
              <a:ahLst/>
              <a:cxnLst/>
              <a:rect r="r" b="b" t="t" l="l"/>
              <a:pathLst>
                <a:path h="919548" w="1362459">
                  <a:moveTo>
                    <a:pt x="35214" y="0"/>
                  </a:moveTo>
                  <a:lnTo>
                    <a:pt x="1327245" y="0"/>
                  </a:lnTo>
                  <a:cubicBezTo>
                    <a:pt x="1336584" y="0"/>
                    <a:pt x="1345541" y="3710"/>
                    <a:pt x="1352145" y="10314"/>
                  </a:cubicBezTo>
                  <a:cubicBezTo>
                    <a:pt x="1358749" y="16918"/>
                    <a:pt x="1362459" y="25874"/>
                    <a:pt x="1362459" y="35214"/>
                  </a:cubicBezTo>
                  <a:lnTo>
                    <a:pt x="1362459" y="884334"/>
                  </a:lnTo>
                  <a:cubicBezTo>
                    <a:pt x="1362459" y="893673"/>
                    <a:pt x="1358749" y="902630"/>
                    <a:pt x="1352145" y="909234"/>
                  </a:cubicBezTo>
                  <a:cubicBezTo>
                    <a:pt x="1345541" y="915838"/>
                    <a:pt x="1336584" y="919548"/>
                    <a:pt x="1327245" y="919548"/>
                  </a:cubicBezTo>
                  <a:lnTo>
                    <a:pt x="35214" y="919548"/>
                  </a:lnTo>
                  <a:cubicBezTo>
                    <a:pt x="25874" y="919548"/>
                    <a:pt x="16918" y="915838"/>
                    <a:pt x="10314" y="909234"/>
                  </a:cubicBezTo>
                  <a:cubicBezTo>
                    <a:pt x="3710" y="902630"/>
                    <a:pt x="0" y="893673"/>
                    <a:pt x="0" y="884334"/>
                  </a:cubicBezTo>
                  <a:lnTo>
                    <a:pt x="0" y="35214"/>
                  </a:lnTo>
                  <a:cubicBezTo>
                    <a:pt x="0" y="25874"/>
                    <a:pt x="3710" y="16918"/>
                    <a:pt x="10314" y="10314"/>
                  </a:cubicBezTo>
                  <a:cubicBezTo>
                    <a:pt x="16918" y="3710"/>
                    <a:pt x="25874" y="0"/>
                    <a:pt x="35214" y="0"/>
                  </a:cubicBezTo>
                  <a:close/>
                </a:path>
              </a:pathLst>
            </a:custGeom>
            <a:blipFill>
              <a:blip r:embed="rId5"/>
              <a:stretch>
                <a:fillRect l="-572" t="0" r="-572" b="0"/>
              </a:stretch>
            </a:blipFill>
            <a:ln w="19050"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sp>
        <p:nvSpPr>
          <p:cNvPr name="AutoShape 23" id="23"/>
          <p:cNvSpPr/>
          <p:nvPr/>
        </p:nvSpPr>
        <p:spPr>
          <a:xfrm>
            <a:off x="6223588" y="-468675"/>
            <a:ext cx="0" cy="1635737"/>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
        <p:nvSpPr>
          <p:cNvPr name="AutoShape 24" id="24"/>
          <p:cNvSpPr/>
          <p:nvPr/>
        </p:nvSpPr>
        <p:spPr>
          <a:xfrm>
            <a:off x="490484" y="9780309"/>
            <a:ext cx="18539715" cy="0"/>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grpSp>
        <p:nvGrpSpPr>
          <p:cNvPr name="Group 25" id="25"/>
          <p:cNvGrpSpPr/>
          <p:nvPr/>
        </p:nvGrpSpPr>
        <p:grpSpPr>
          <a:xfrm rot="0">
            <a:off x="1560515" y="3350646"/>
            <a:ext cx="7247955" cy="2714491"/>
            <a:chOff x="0" y="0"/>
            <a:chExt cx="2441356" cy="914332"/>
          </a:xfrm>
        </p:grpSpPr>
        <p:sp>
          <p:nvSpPr>
            <p:cNvPr name="Freeform 26" id="26"/>
            <p:cNvSpPr/>
            <p:nvPr/>
          </p:nvSpPr>
          <p:spPr>
            <a:xfrm flipH="false" flipV="false" rot="0">
              <a:off x="0" y="0"/>
              <a:ext cx="2441356" cy="914332"/>
            </a:xfrm>
            <a:custGeom>
              <a:avLst/>
              <a:gdLst/>
              <a:ahLst/>
              <a:cxnLst/>
              <a:rect r="r" b="b" t="t" l="l"/>
              <a:pathLst>
                <a:path h="914332" w="2441356">
                  <a:moveTo>
                    <a:pt x="42726" y="0"/>
                  </a:moveTo>
                  <a:lnTo>
                    <a:pt x="2398630" y="0"/>
                  </a:lnTo>
                  <a:cubicBezTo>
                    <a:pt x="2409962" y="0"/>
                    <a:pt x="2420829" y="4501"/>
                    <a:pt x="2428842" y="12514"/>
                  </a:cubicBezTo>
                  <a:cubicBezTo>
                    <a:pt x="2436855" y="20527"/>
                    <a:pt x="2441356" y="31394"/>
                    <a:pt x="2441356" y="42726"/>
                  </a:cubicBezTo>
                  <a:lnTo>
                    <a:pt x="2441356" y="871606"/>
                  </a:lnTo>
                  <a:cubicBezTo>
                    <a:pt x="2441356" y="895203"/>
                    <a:pt x="2422227" y="914332"/>
                    <a:pt x="2398630" y="914332"/>
                  </a:cubicBezTo>
                  <a:lnTo>
                    <a:pt x="42726" y="914332"/>
                  </a:lnTo>
                  <a:cubicBezTo>
                    <a:pt x="31394" y="914332"/>
                    <a:pt x="20527" y="909831"/>
                    <a:pt x="12514" y="901818"/>
                  </a:cubicBezTo>
                  <a:cubicBezTo>
                    <a:pt x="4501" y="893805"/>
                    <a:pt x="0" y="882938"/>
                    <a:pt x="0" y="871606"/>
                  </a:cubicBezTo>
                  <a:lnTo>
                    <a:pt x="0" y="42726"/>
                  </a:lnTo>
                  <a:cubicBezTo>
                    <a:pt x="0" y="31394"/>
                    <a:pt x="4501" y="20527"/>
                    <a:pt x="12514" y="12514"/>
                  </a:cubicBezTo>
                  <a:cubicBezTo>
                    <a:pt x="20527" y="4501"/>
                    <a:pt x="31394" y="0"/>
                    <a:pt x="42726" y="0"/>
                  </a:cubicBezTo>
                  <a:close/>
                </a:path>
              </a:pathLst>
            </a:custGeom>
            <a:solidFill>
              <a:srgbClr val="FFFFFF"/>
            </a:solid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27" id="27"/>
            <p:cNvSpPr txBox="true"/>
            <p:nvPr/>
          </p:nvSpPr>
          <p:spPr>
            <a:xfrm>
              <a:off x="0" y="-47625"/>
              <a:ext cx="2441356" cy="961957"/>
            </a:xfrm>
            <a:prstGeom prst="rect">
              <a:avLst/>
            </a:prstGeom>
          </p:spPr>
          <p:txBody>
            <a:bodyPr anchor="ctr" rtlCol="false" tIns="50800" lIns="50800" bIns="50800" rIns="50800"/>
            <a:lstStyle/>
            <a:p>
              <a:pPr algn="ctr">
                <a:lnSpc>
                  <a:spcPts val="3359"/>
                </a:lnSpc>
              </a:pPr>
            </a:p>
          </p:txBody>
        </p:sp>
      </p:grpSp>
      <p:grpSp>
        <p:nvGrpSpPr>
          <p:cNvPr name="Group 28" id="28"/>
          <p:cNvGrpSpPr/>
          <p:nvPr/>
        </p:nvGrpSpPr>
        <p:grpSpPr>
          <a:xfrm rot="0">
            <a:off x="1560515" y="6636637"/>
            <a:ext cx="7247955" cy="2750113"/>
            <a:chOff x="0" y="0"/>
            <a:chExt cx="1848698" cy="701457"/>
          </a:xfrm>
        </p:grpSpPr>
        <p:sp>
          <p:nvSpPr>
            <p:cNvPr name="Freeform 29" id="29"/>
            <p:cNvSpPr/>
            <p:nvPr/>
          </p:nvSpPr>
          <p:spPr>
            <a:xfrm flipH="false" flipV="false" rot="0">
              <a:off x="0" y="0"/>
              <a:ext cx="1848698" cy="701457"/>
            </a:xfrm>
            <a:custGeom>
              <a:avLst/>
              <a:gdLst/>
              <a:ahLst/>
              <a:cxnLst/>
              <a:rect r="r" b="b" t="t" l="l"/>
              <a:pathLst>
                <a:path h="701457" w="1848698">
                  <a:moveTo>
                    <a:pt x="42726" y="0"/>
                  </a:moveTo>
                  <a:lnTo>
                    <a:pt x="1805972" y="0"/>
                  </a:lnTo>
                  <a:cubicBezTo>
                    <a:pt x="1817304" y="0"/>
                    <a:pt x="1828171" y="4501"/>
                    <a:pt x="1836184" y="12514"/>
                  </a:cubicBezTo>
                  <a:cubicBezTo>
                    <a:pt x="1844197" y="20527"/>
                    <a:pt x="1848698" y="31394"/>
                    <a:pt x="1848698" y="42726"/>
                  </a:cubicBezTo>
                  <a:lnTo>
                    <a:pt x="1848698" y="658731"/>
                  </a:lnTo>
                  <a:cubicBezTo>
                    <a:pt x="1848698" y="670063"/>
                    <a:pt x="1844197" y="680930"/>
                    <a:pt x="1836184" y="688943"/>
                  </a:cubicBezTo>
                  <a:cubicBezTo>
                    <a:pt x="1828171" y="696956"/>
                    <a:pt x="1817304" y="701457"/>
                    <a:pt x="1805972" y="701457"/>
                  </a:cubicBezTo>
                  <a:lnTo>
                    <a:pt x="42726" y="701457"/>
                  </a:lnTo>
                  <a:cubicBezTo>
                    <a:pt x="31394" y="701457"/>
                    <a:pt x="20527" y="696956"/>
                    <a:pt x="12514" y="688943"/>
                  </a:cubicBezTo>
                  <a:cubicBezTo>
                    <a:pt x="4501" y="680930"/>
                    <a:pt x="0" y="670063"/>
                    <a:pt x="0" y="658731"/>
                  </a:cubicBezTo>
                  <a:lnTo>
                    <a:pt x="0" y="42726"/>
                  </a:lnTo>
                  <a:cubicBezTo>
                    <a:pt x="0" y="31394"/>
                    <a:pt x="4501" y="20527"/>
                    <a:pt x="12514" y="12514"/>
                  </a:cubicBezTo>
                  <a:cubicBezTo>
                    <a:pt x="20527" y="4501"/>
                    <a:pt x="31394" y="0"/>
                    <a:pt x="42726" y="0"/>
                  </a:cubicBezTo>
                  <a:close/>
                </a:path>
              </a:pathLst>
            </a:custGeom>
            <a:gradFill rotWithShape="true">
              <a:gsLst>
                <a:gs pos="0">
                  <a:srgbClr val="292929">
                    <a:alpha val="100000"/>
                  </a:srgbClr>
                </a:gs>
                <a:gs pos="100000">
                  <a:srgbClr val="3F4E52">
                    <a:alpha val="100000"/>
                  </a:srgbClr>
                </a:gs>
              </a:gsLst>
              <a:lin ang="0"/>
            </a:grad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30" id="30"/>
            <p:cNvSpPr txBox="true"/>
            <p:nvPr/>
          </p:nvSpPr>
          <p:spPr>
            <a:xfrm>
              <a:off x="0" y="-47625"/>
              <a:ext cx="1848698" cy="749082"/>
            </a:xfrm>
            <a:prstGeom prst="rect">
              <a:avLst/>
            </a:prstGeom>
          </p:spPr>
          <p:txBody>
            <a:bodyPr anchor="ctr" rtlCol="false" tIns="50800" lIns="50800" bIns="50800" rIns="50800"/>
            <a:lstStyle/>
            <a:p>
              <a:pPr algn="ctr">
                <a:lnSpc>
                  <a:spcPts val="3359"/>
                </a:lnSpc>
              </a:pPr>
            </a:p>
          </p:txBody>
        </p:sp>
      </p:grpSp>
      <p:sp>
        <p:nvSpPr>
          <p:cNvPr name="TextBox 31" id="31"/>
          <p:cNvSpPr txBox="true"/>
          <p:nvPr/>
        </p:nvSpPr>
        <p:spPr>
          <a:xfrm rot="0">
            <a:off x="1848877" y="4038347"/>
            <a:ext cx="6671230" cy="1558163"/>
          </a:xfrm>
          <a:prstGeom prst="rect">
            <a:avLst/>
          </a:prstGeom>
        </p:spPr>
        <p:txBody>
          <a:bodyPr anchor="t" rtlCol="false" tIns="0" lIns="0" bIns="0" rIns="0">
            <a:spAutoFit/>
          </a:bodyPr>
          <a:lstStyle/>
          <a:p>
            <a:pPr algn="just">
              <a:lnSpc>
                <a:spcPts val="4096"/>
              </a:lnSpc>
            </a:pPr>
            <a:r>
              <a:rPr lang="en-US" sz="3200" i="true" spc="-96">
                <a:solidFill>
                  <a:srgbClr val="4D4D4D"/>
                </a:solidFill>
                <a:latin typeface="Poppins Italics"/>
                <a:ea typeface="Poppins Italics"/>
                <a:cs typeface="Poppins Italics"/>
                <a:sym typeface="Poppins Italics"/>
              </a:rPr>
              <a:t>Bagaimana membangun pipeline ekstraksi skill dari data lowongan pekerjaan menggunakan NLP?</a:t>
            </a:r>
          </a:p>
        </p:txBody>
      </p:sp>
      <p:sp>
        <p:nvSpPr>
          <p:cNvPr name="TextBox 32" id="32"/>
          <p:cNvSpPr txBox="true"/>
          <p:nvPr/>
        </p:nvSpPr>
        <p:spPr>
          <a:xfrm rot="0">
            <a:off x="1934700" y="7371810"/>
            <a:ext cx="6499583" cy="1809877"/>
          </a:xfrm>
          <a:prstGeom prst="rect">
            <a:avLst/>
          </a:prstGeom>
        </p:spPr>
        <p:txBody>
          <a:bodyPr anchor="t" rtlCol="false" tIns="0" lIns="0" bIns="0" rIns="0">
            <a:spAutoFit/>
          </a:bodyPr>
          <a:lstStyle/>
          <a:p>
            <a:pPr algn="just" marL="0" indent="0" lvl="0">
              <a:lnSpc>
                <a:spcPts val="3584"/>
              </a:lnSpc>
              <a:spcBef>
                <a:spcPct val="0"/>
              </a:spcBef>
            </a:pPr>
            <a:r>
              <a:rPr lang="en-US" sz="2800" i="true" spc="-84">
                <a:solidFill>
                  <a:srgbClr val="FFFFFF"/>
                </a:solidFill>
                <a:latin typeface="Poppins Italics"/>
                <a:ea typeface="Poppins Italics"/>
                <a:cs typeface="Poppins Italics"/>
                <a:sym typeface="Poppins Italics"/>
              </a:rPr>
              <a:t>Bagaimana m</a:t>
            </a:r>
            <a:r>
              <a:rPr lang="en-US" sz="2800" i="true" spc="-84" strike="noStrike" u="none">
                <a:solidFill>
                  <a:srgbClr val="FFFFFF"/>
                </a:solidFill>
                <a:latin typeface="Poppins Italics"/>
                <a:ea typeface="Poppins Italics"/>
                <a:cs typeface="Poppins Italics"/>
                <a:sym typeface="Poppins Italics"/>
              </a:rPr>
              <a:t>eng</a:t>
            </a:r>
            <a:r>
              <a:rPr lang="en-US" sz="2800" i="true" spc="-84" strike="noStrike" u="none">
                <a:solidFill>
                  <a:srgbClr val="FFFFFF"/>
                </a:solidFill>
                <a:latin typeface="Poppins Italics"/>
                <a:ea typeface="Poppins Italics"/>
                <a:cs typeface="Poppins Italics"/>
                <a:sym typeface="Poppins Italics"/>
              </a:rPr>
              <a:t>embang</a:t>
            </a:r>
            <a:r>
              <a:rPr lang="en-US" sz="2800" i="true" spc="-84" strike="noStrike" u="none">
                <a:solidFill>
                  <a:srgbClr val="FFFFFF"/>
                </a:solidFill>
                <a:latin typeface="Poppins Italics"/>
                <a:ea typeface="Poppins Italics"/>
                <a:cs typeface="Poppins Italics"/>
                <a:sym typeface="Poppins Italics"/>
              </a:rPr>
              <a:t>kan </a:t>
            </a:r>
            <a:r>
              <a:rPr lang="en-US" sz="2800" i="true" spc="-84" strike="noStrike" u="none">
                <a:solidFill>
                  <a:srgbClr val="FFFFFF"/>
                </a:solidFill>
                <a:latin typeface="Poppins Italics"/>
                <a:ea typeface="Poppins Italics"/>
                <a:cs typeface="Poppins Italics"/>
                <a:sym typeface="Poppins Italics"/>
              </a:rPr>
              <a:t>rekomenda</a:t>
            </a:r>
            <a:r>
              <a:rPr lang="en-US" sz="2800" i="true" spc="-84" strike="noStrike" u="none">
                <a:solidFill>
                  <a:srgbClr val="FFFFFF"/>
                </a:solidFill>
                <a:latin typeface="Poppins Italics"/>
                <a:ea typeface="Poppins Italics"/>
                <a:cs typeface="Poppins Italics"/>
                <a:sym typeface="Poppins Italics"/>
              </a:rPr>
              <a:t>si </a:t>
            </a:r>
            <a:r>
              <a:rPr lang="en-US" sz="2800" i="true" spc="-84" strike="noStrike" u="none">
                <a:solidFill>
                  <a:srgbClr val="FFFFFF"/>
                </a:solidFill>
                <a:latin typeface="Poppins Italics"/>
                <a:ea typeface="Poppins Italics"/>
                <a:cs typeface="Poppins Italics"/>
                <a:sym typeface="Poppins Italics"/>
              </a:rPr>
              <a:t>k</a:t>
            </a:r>
            <a:r>
              <a:rPr lang="en-US" sz="2800" i="true" spc="-84" strike="noStrike" u="none">
                <a:solidFill>
                  <a:srgbClr val="FFFFFF"/>
                </a:solidFill>
                <a:latin typeface="Poppins Italics"/>
                <a:ea typeface="Poppins Italics"/>
                <a:cs typeface="Poppins Italics"/>
                <a:sym typeface="Poppins Italics"/>
              </a:rPr>
              <a:t>a</a:t>
            </a:r>
            <a:r>
              <a:rPr lang="en-US" sz="2800" i="true" spc="-84" strike="noStrike" u="none">
                <a:solidFill>
                  <a:srgbClr val="FFFFFF"/>
                </a:solidFill>
                <a:latin typeface="Poppins Italics"/>
                <a:ea typeface="Poppins Italics"/>
                <a:cs typeface="Poppins Italics"/>
                <a:sym typeface="Poppins Italics"/>
              </a:rPr>
              <a:t>rir</a:t>
            </a:r>
            <a:r>
              <a:rPr lang="en-US" sz="2800" i="true" spc="-84" strike="noStrike" u="none">
                <a:solidFill>
                  <a:srgbClr val="FFFFFF"/>
                </a:solidFill>
                <a:latin typeface="Poppins Italics"/>
                <a:ea typeface="Poppins Italics"/>
                <a:cs typeface="Poppins Italics"/>
                <a:sym typeface="Poppins Italics"/>
              </a:rPr>
              <a:t> </a:t>
            </a:r>
            <a:r>
              <a:rPr lang="en-US" sz="2800" i="true" spc="-84" strike="noStrike" u="none">
                <a:solidFill>
                  <a:srgbClr val="FFFFFF"/>
                </a:solidFill>
                <a:latin typeface="Poppins Italics"/>
                <a:ea typeface="Poppins Italics"/>
                <a:cs typeface="Poppins Italics"/>
                <a:sym typeface="Poppins Italics"/>
              </a:rPr>
              <a:t>y</a:t>
            </a:r>
            <a:r>
              <a:rPr lang="en-US" sz="2800" i="true" spc="-84" strike="noStrike" u="none">
                <a:solidFill>
                  <a:srgbClr val="FFFFFF"/>
                </a:solidFill>
                <a:latin typeface="Poppins Italics"/>
                <a:ea typeface="Poppins Italics"/>
                <a:cs typeface="Poppins Italics"/>
                <a:sym typeface="Poppins Italics"/>
              </a:rPr>
              <a:t>ang a</a:t>
            </a:r>
            <a:r>
              <a:rPr lang="en-US" sz="2800" i="true" spc="-84" strike="noStrike" u="none">
                <a:solidFill>
                  <a:srgbClr val="FFFFFF"/>
                </a:solidFill>
                <a:latin typeface="Poppins Italics"/>
                <a:ea typeface="Poppins Italics"/>
                <a:cs typeface="Poppins Italics"/>
                <a:sym typeface="Poppins Italics"/>
              </a:rPr>
              <a:t>ku</a:t>
            </a:r>
            <a:r>
              <a:rPr lang="en-US" sz="2800" i="true" spc="-84" strike="noStrike" u="none">
                <a:solidFill>
                  <a:srgbClr val="FFFFFF"/>
                </a:solidFill>
                <a:latin typeface="Poppins Italics"/>
                <a:ea typeface="Poppins Italics"/>
                <a:cs typeface="Poppins Italics"/>
                <a:sym typeface="Poppins Italics"/>
              </a:rPr>
              <a:t>ra</a:t>
            </a:r>
            <a:r>
              <a:rPr lang="en-US" sz="2800" i="true" spc="-84" strike="noStrike" u="none">
                <a:solidFill>
                  <a:srgbClr val="FFFFFF"/>
                </a:solidFill>
                <a:latin typeface="Poppins Italics"/>
                <a:ea typeface="Poppins Italics"/>
                <a:cs typeface="Poppins Italics"/>
                <a:sym typeface="Poppins Italics"/>
              </a:rPr>
              <a:t>t</a:t>
            </a:r>
            <a:r>
              <a:rPr lang="en-US" sz="2800" i="true" spc="-84" strike="noStrike" u="none">
                <a:solidFill>
                  <a:srgbClr val="FFFFFF"/>
                </a:solidFill>
                <a:latin typeface="Poppins Italics"/>
                <a:ea typeface="Poppins Italics"/>
                <a:cs typeface="Poppins Italics"/>
                <a:sym typeface="Poppins Italics"/>
              </a:rPr>
              <a:t> sekaligus dapat dijelaskan menggunakan XAI?</a:t>
            </a:r>
          </a:p>
        </p:txBody>
      </p:sp>
      <p:sp>
        <p:nvSpPr>
          <p:cNvPr name="Freeform 33" id="33"/>
          <p:cNvSpPr/>
          <p:nvPr/>
        </p:nvSpPr>
        <p:spPr>
          <a:xfrm flipH="false" flipV="false" rot="0">
            <a:off x="1922685" y="3654734"/>
            <a:ext cx="270383" cy="270383"/>
          </a:xfrm>
          <a:custGeom>
            <a:avLst/>
            <a:gdLst/>
            <a:ahLst/>
            <a:cxnLst/>
            <a:rect r="r" b="b" t="t" l="l"/>
            <a:pathLst>
              <a:path h="270383" w="270383">
                <a:moveTo>
                  <a:pt x="0" y="0"/>
                </a:moveTo>
                <a:lnTo>
                  <a:pt x="270383" y="0"/>
                </a:lnTo>
                <a:lnTo>
                  <a:pt x="270383" y="270384"/>
                </a:lnTo>
                <a:lnTo>
                  <a:pt x="0" y="27038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4" id="34"/>
          <p:cNvSpPr/>
          <p:nvPr/>
        </p:nvSpPr>
        <p:spPr>
          <a:xfrm flipH="false" flipV="false" rot="0">
            <a:off x="2057877" y="6940853"/>
            <a:ext cx="269033" cy="269033"/>
          </a:xfrm>
          <a:custGeom>
            <a:avLst/>
            <a:gdLst/>
            <a:ahLst/>
            <a:cxnLst/>
            <a:rect r="r" b="b" t="t" l="l"/>
            <a:pathLst>
              <a:path h="269033" w="269033">
                <a:moveTo>
                  <a:pt x="0" y="0"/>
                </a:moveTo>
                <a:lnTo>
                  <a:pt x="269032" y="0"/>
                </a:lnTo>
                <a:lnTo>
                  <a:pt x="269032" y="269032"/>
                </a:lnTo>
                <a:lnTo>
                  <a:pt x="0" y="26903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777" r="0" b="-1777"/>
            </a:stretch>
          </a:blipFill>
        </p:spPr>
      </p:sp>
      <p:sp>
        <p:nvSpPr>
          <p:cNvPr name="AutoShape 3" id="3"/>
          <p:cNvSpPr/>
          <p:nvPr/>
        </p:nvSpPr>
        <p:spPr>
          <a:xfrm>
            <a:off x="10038640" y="-468675"/>
            <a:ext cx="0" cy="11995723"/>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
        <p:nvSpPr>
          <p:cNvPr name="AutoShape 4" id="4"/>
          <p:cNvSpPr/>
          <p:nvPr/>
        </p:nvSpPr>
        <p:spPr>
          <a:xfrm>
            <a:off x="477889" y="-448043"/>
            <a:ext cx="0" cy="11118486"/>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
        <p:nvSpPr>
          <p:cNvPr name="Freeform 5" id="5"/>
          <p:cNvSpPr/>
          <p:nvPr/>
        </p:nvSpPr>
        <p:spPr>
          <a:xfrm flipH="false" flipV="false" rot="0">
            <a:off x="783373" y="515779"/>
            <a:ext cx="443469" cy="305994"/>
          </a:xfrm>
          <a:custGeom>
            <a:avLst/>
            <a:gdLst/>
            <a:ahLst/>
            <a:cxnLst/>
            <a:rect r="r" b="b" t="t" l="l"/>
            <a:pathLst>
              <a:path h="305994" w="443469">
                <a:moveTo>
                  <a:pt x="0" y="0"/>
                </a:moveTo>
                <a:lnTo>
                  <a:pt x="443469" y="0"/>
                </a:lnTo>
                <a:lnTo>
                  <a:pt x="443469" y="305993"/>
                </a:lnTo>
                <a:lnTo>
                  <a:pt x="0" y="30599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16845300" y="391766"/>
            <a:ext cx="635507" cy="554019"/>
            <a:chOff x="0" y="0"/>
            <a:chExt cx="167376" cy="145915"/>
          </a:xfrm>
        </p:grpSpPr>
        <p:sp>
          <p:nvSpPr>
            <p:cNvPr name="Freeform 7" id="7"/>
            <p:cNvSpPr/>
            <p:nvPr/>
          </p:nvSpPr>
          <p:spPr>
            <a:xfrm flipH="false" flipV="false" rot="0">
              <a:off x="0" y="0"/>
              <a:ext cx="167376" cy="145915"/>
            </a:xfrm>
            <a:custGeom>
              <a:avLst/>
              <a:gdLst/>
              <a:ahLst/>
              <a:cxnLst/>
              <a:rect r="r" b="b" t="t" l="l"/>
              <a:pathLst>
                <a:path h="145915" w="167376">
                  <a:moveTo>
                    <a:pt x="72957" y="0"/>
                  </a:moveTo>
                  <a:lnTo>
                    <a:pt x="94419" y="0"/>
                  </a:lnTo>
                  <a:cubicBezTo>
                    <a:pt x="134712" y="0"/>
                    <a:pt x="167376" y="32664"/>
                    <a:pt x="167376" y="72957"/>
                  </a:cubicBezTo>
                  <a:lnTo>
                    <a:pt x="167376" y="72957"/>
                  </a:lnTo>
                  <a:cubicBezTo>
                    <a:pt x="167376" y="113250"/>
                    <a:pt x="134712" y="145915"/>
                    <a:pt x="94419" y="145915"/>
                  </a:cubicBezTo>
                  <a:lnTo>
                    <a:pt x="72957" y="145915"/>
                  </a:lnTo>
                  <a:cubicBezTo>
                    <a:pt x="32664" y="145915"/>
                    <a:pt x="0" y="113250"/>
                    <a:pt x="0" y="72957"/>
                  </a:cubicBezTo>
                  <a:lnTo>
                    <a:pt x="0" y="72957"/>
                  </a:lnTo>
                  <a:cubicBezTo>
                    <a:pt x="0" y="32664"/>
                    <a:pt x="32664" y="0"/>
                    <a:pt x="72957" y="0"/>
                  </a:cubicBezTo>
                  <a:close/>
                </a:path>
              </a:pathLst>
            </a:custGeom>
            <a:gradFill rotWithShape="true">
              <a:gsLst>
                <a:gs pos="0">
                  <a:srgbClr val="9B9B9B">
                    <a:alpha val="28000"/>
                  </a:srgbClr>
                </a:gs>
                <a:gs pos="25000">
                  <a:srgbClr val="FFFFFF">
                    <a:alpha val="29000"/>
                  </a:srgbClr>
                </a:gs>
                <a:gs pos="50000">
                  <a:srgbClr val="FFFFFF">
                    <a:alpha val="44500"/>
                  </a:srgbClr>
                </a:gs>
                <a:gs pos="75000">
                  <a:srgbClr val="FFFFFF">
                    <a:alpha val="29000"/>
                  </a:srgbClr>
                </a:gs>
                <a:gs pos="100000">
                  <a:srgbClr val="9B9B9B">
                    <a:alpha val="28000"/>
                  </a:srgbClr>
                </a:gs>
              </a:gsLst>
              <a:lin ang="2700000"/>
            </a:grad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8" id="8"/>
            <p:cNvSpPr txBox="true"/>
            <p:nvPr/>
          </p:nvSpPr>
          <p:spPr>
            <a:xfrm>
              <a:off x="0" y="-47625"/>
              <a:ext cx="167376" cy="193540"/>
            </a:xfrm>
            <a:prstGeom prst="rect">
              <a:avLst/>
            </a:prstGeom>
          </p:spPr>
          <p:txBody>
            <a:bodyPr anchor="ctr" rtlCol="false" tIns="50800" lIns="50800" bIns="50800" rIns="50800"/>
            <a:lstStyle/>
            <a:p>
              <a:pPr algn="ctr">
                <a:lnSpc>
                  <a:spcPts val="3359"/>
                </a:lnSpc>
              </a:pPr>
            </a:p>
          </p:txBody>
        </p:sp>
      </p:grpSp>
      <p:grpSp>
        <p:nvGrpSpPr>
          <p:cNvPr name="Group 9" id="9"/>
          <p:cNvGrpSpPr/>
          <p:nvPr/>
        </p:nvGrpSpPr>
        <p:grpSpPr>
          <a:xfrm rot="0">
            <a:off x="13913154" y="391766"/>
            <a:ext cx="2743897" cy="554019"/>
            <a:chOff x="0" y="0"/>
            <a:chExt cx="722672" cy="145915"/>
          </a:xfrm>
        </p:grpSpPr>
        <p:sp>
          <p:nvSpPr>
            <p:cNvPr name="Freeform 10" id="10"/>
            <p:cNvSpPr/>
            <p:nvPr/>
          </p:nvSpPr>
          <p:spPr>
            <a:xfrm flipH="false" flipV="false" rot="0">
              <a:off x="0" y="0"/>
              <a:ext cx="722672" cy="145915"/>
            </a:xfrm>
            <a:custGeom>
              <a:avLst/>
              <a:gdLst/>
              <a:ahLst/>
              <a:cxnLst/>
              <a:rect r="r" b="b" t="t" l="l"/>
              <a:pathLst>
                <a:path h="145915" w="722672">
                  <a:moveTo>
                    <a:pt x="72957" y="0"/>
                  </a:moveTo>
                  <a:lnTo>
                    <a:pt x="649715" y="0"/>
                  </a:lnTo>
                  <a:cubicBezTo>
                    <a:pt x="690008" y="0"/>
                    <a:pt x="722672" y="32664"/>
                    <a:pt x="722672" y="72957"/>
                  </a:cubicBezTo>
                  <a:lnTo>
                    <a:pt x="722672" y="72957"/>
                  </a:lnTo>
                  <a:cubicBezTo>
                    <a:pt x="722672" y="113250"/>
                    <a:pt x="690008" y="145915"/>
                    <a:pt x="649715" y="145915"/>
                  </a:cubicBezTo>
                  <a:lnTo>
                    <a:pt x="72957" y="145915"/>
                  </a:lnTo>
                  <a:cubicBezTo>
                    <a:pt x="32664" y="145915"/>
                    <a:pt x="0" y="113250"/>
                    <a:pt x="0" y="72957"/>
                  </a:cubicBezTo>
                  <a:lnTo>
                    <a:pt x="0" y="72957"/>
                  </a:lnTo>
                  <a:cubicBezTo>
                    <a:pt x="0" y="32664"/>
                    <a:pt x="32664" y="0"/>
                    <a:pt x="72957" y="0"/>
                  </a:cubicBezTo>
                  <a:close/>
                </a:path>
              </a:pathLst>
            </a:custGeom>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11" id="11"/>
            <p:cNvSpPr txBox="true"/>
            <p:nvPr/>
          </p:nvSpPr>
          <p:spPr>
            <a:xfrm>
              <a:off x="0" y="-47625"/>
              <a:ext cx="722672" cy="193540"/>
            </a:xfrm>
            <a:prstGeom prst="rect">
              <a:avLst/>
            </a:prstGeom>
          </p:spPr>
          <p:txBody>
            <a:bodyPr anchor="ctr" rtlCol="false" tIns="50800" lIns="50800" bIns="50800" rIns="50800"/>
            <a:lstStyle/>
            <a:p>
              <a:pPr algn="ctr">
                <a:lnSpc>
                  <a:spcPts val="3359"/>
                </a:lnSpc>
              </a:pPr>
            </a:p>
          </p:txBody>
        </p:sp>
      </p:grpSp>
      <p:grpSp>
        <p:nvGrpSpPr>
          <p:cNvPr name="Group 12" id="12"/>
          <p:cNvGrpSpPr/>
          <p:nvPr/>
        </p:nvGrpSpPr>
        <p:grpSpPr>
          <a:xfrm rot="0">
            <a:off x="6476000" y="391766"/>
            <a:ext cx="3341946" cy="554019"/>
            <a:chOff x="0" y="0"/>
            <a:chExt cx="880183" cy="145915"/>
          </a:xfrm>
        </p:grpSpPr>
        <p:sp>
          <p:nvSpPr>
            <p:cNvPr name="Freeform 13" id="13"/>
            <p:cNvSpPr/>
            <p:nvPr/>
          </p:nvSpPr>
          <p:spPr>
            <a:xfrm flipH="false" flipV="false" rot="0">
              <a:off x="0" y="0"/>
              <a:ext cx="880183" cy="145915"/>
            </a:xfrm>
            <a:custGeom>
              <a:avLst/>
              <a:gdLst/>
              <a:ahLst/>
              <a:cxnLst/>
              <a:rect r="r" b="b" t="t" l="l"/>
              <a:pathLst>
                <a:path h="145915" w="880183">
                  <a:moveTo>
                    <a:pt x="72957" y="0"/>
                  </a:moveTo>
                  <a:lnTo>
                    <a:pt x="807226" y="0"/>
                  </a:lnTo>
                  <a:cubicBezTo>
                    <a:pt x="847519" y="0"/>
                    <a:pt x="880183" y="32664"/>
                    <a:pt x="880183" y="72957"/>
                  </a:cubicBezTo>
                  <a:lnTo>
                    <a:pt x="880183" y="72957"/>
                  </a:lnTo>
                  <a:cubicBezTo>
                    <a:pt x="880183" y="113250"/>
                    <a:pt x="847519" y="145915"/>
                    <a:pt x="807226" y="145915"/>
                  </a:cubicBezTo>
                  <a:lnTo>
                    <a:pt x="72957" y="145915"/>
                  </a:lnTo>
                  <a:cubicBezTo>
                    <a:pt x="32664" y="145915"/>
                    <a:pt x="0" y="113250"/>
                    <a:pt x="0" y="72957"/>
                  </a:cubicBezTo>
                  <a:lnTo>
                    <a:pt x="0" y="72957"/>
                  </a:lnTo>
                  <a:cubicBezTo>
                    <a:pt x="0" y="32664"/>
                    <a:pt x="32664" y="0"/>
                    <a:pt x="72957" y="0"/>
                  </a:cubicBezTo>
                  <a:close/>
                </a:path>
              </a:pathLst>
            </a:custGeom>
            <a:solidFill>
              <a:srgbClr val="FFFFFF"/>
            </a:solid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14" id="14"/>
            <p:cNvSpPr txBox="true"/>
            <p:nvPr/>
          </p:nvSpPr>
          <p:spPr>
            <a:xfrm>
              <a:off x="0" y="-47625"/>
              <a:ext cx="880183" cy="193540"/>
            </a:xfrm>
            <a:prstGeom prst="rect">
              <a:avLst/>
            </a:prstGeom>
          </p:spPr>
          <p:txBody>
            <a:bodyPr anchor="ctr" rtlCol="false" tIns="50800" lIns="50800" bIns="50800" rIns="50800"/>
            <a:lstStyle/>
            <a:p>
              <a:pPr algn="ctr">
                <a:lnSpc>
                  <a:spcPts val="3359"/>
                </a:lnSpc>
              </a:pPr>
            </a:p>
          </p:txBody>
        </p:sp>
      </p:grpSp>
      <p:sp>
        <p:nvSpPr>
          <p:cNvPr name="AutoShape 15" id="15"/>
          <p:cNvSpPr/>
          <p:nvPr/>
        </p:nvSpPr>
        <p:spPr>
          <a:xfrm>
            <a:off x="-417053" y="1167061"/>
            <a:ext cx="19109210" cy="0"/>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
        <p:nvSpPr>
          <p:cNvPr name="AutoShape 16" id="16"/>
          <p:cNvSpPr/>
          <p:nvPr/>
        </p:nvSpPr>
        <p:spPr>
          <a:xfrm flipV="true">
            <a:off x="477889" y="3436804"/>
            <a:ext cx="18693133" cy="0"/>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grpSp>
        <p:nvGrpSpPr>
          <p:cNvPr name="Group 17" id="17"/>
          <p:cNvGrpSpPr/>
          <p:nvPr/>
        </p:nvGrpSpPr>
        <p:grpSpPr>
          <a:xfrm rot="0">
            <a:off x="-1295290" y="3388746"/>
            <a:ext cx="10128830" cy="5935393"/>
            <a:chOff x="0" y="0"/>
            <a:chExt cx="1569221" cy="919548"/>
          </a:xfrm>
        </p:grpSpPr>
        <p:sp>
          <p:nvSpPr>
            <p:cNvPr name="Freeform 18" id="18"/>
            <p:cNvSpPr/>
            <p:nvPr/>
          </p:nvSpPr>
          <p:spPr>
            <a:xfrm flipH="false" flipV="false" rot="0">
              <a:off x="0" y="0"/>
              <a:ext cx="1569221" cy="919548"/>
            </a:xfrm>
            <a:custGeom>
              <a:avLst/>
              <a:gdLst/>
              <a:ahLst/>
              <a:cxnLst/>
              <a:rect r="r" b="b" t="t" l="l"/>
              <a:pathLst>
                <a:path h="919548" w="1569221">
                  <a:moveTo>
                    <a:pt x="30574" y="0"/>
                  </a:moveTo>
                  <a:lnTo>
                    <a:pt x="1538647" y="0"/>
                  </a:lnTo>
                  <a:cubicBezTo>
                    <a:pt x="1546756" y="0"/>
                    <a:pt x="1554532" y="3221"/>
                    <a:pt x="1560266" y="8955"/>
                  </a:cubicBezTo>
                  <a:cubicBezTo>
                    <a:pt x="1566000" y="14689"/>
                    <a:pt x="1569221" y="22465"/>
                    <a:pt x="1569221" y="30574"/>
                  </a:cubicBezTo>
                  <a:lnTo>
                    <a:pt x="1569221" y="888974"/>
                  </a:lnTo>
                  <a:cubicBezTo>
                    <a:pt x="1569221" y="897083"/>
                    <a:pt x="1566000" y="904859"/>
                    <a:pt x="1560266" y="910593"/>
                  </a:cubicBezTo>
                  <a:cubicBezTo>
                    <a:pt x="1554532" y="916327"/>
                    <a:pt x="1546756" y="919548"/>
                    <a:pt x="1538647" y="919548"/>
                  </a:cubicBezTo>
                  <a:lnTo>
                    <a:pt x="30574" y="919548"/>
                  </a:lnTo>
                  <a:cubicBezTo>
                    <a:pt x="22465" y="919548"/>
                    <a:pt x="14689" y="916327"/>
                    <a:pt x="8955" y="910593"/>
                  </a:cubicBezTo>
                  <a:cubicBezTo>
                    <a:pt x="3221" y="904859"/>
                    <a:pt x="0" y="897083"/>
                    <a:pt x="0" y="888974"/>
                  </a:cubicBezTo>
                  <a:lnTo>
                    <a:pt x="0" y="30574"/>
                  </a:lnTo>
                  <a:cubicBezTo>
                    <a:pt x="0" y="22465"/>
                    <a:pt x="3221" y="14689"/>
                    <a:pt x="8955" y="8955"/>
                  </a:cubicBezTo>
                  <a:cubicBezTo>
                    <a:pt x="14689" y="3221"/>
                    <a:pt x="22465" y="0"/>
                    <a:pt x="30574" y="0"/>
                  </a:cubicBezTo>
                  <a:close/>
                </a:path>
              </a:pathLst>
            </a:custGeom>
            <a:blipFill>
              <a:blip r:embed="rId5"/>
              <a:stretch>
                <a:fillRect l="0" t="-6741" r="0" b="-6741"/>
              </a:stretch>
            </a:blipFill>
            <a:ln w="19050"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sp>
        <p:nvSpPr>
          <p:cNvPr name="AutoShape 19" id="19"/>
          <p:cNvSpPr/>
          <p:nvPr/>
        </p:nvSpPr>
        <p:spPr>
          <a:xfrm>
            <a:off x="6223588" y="-468675"/>
            <a:ext cx="0" cy="1635737"/>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
        <p:nvSpPr>
          <p:cNvPr name="AutoShape 20" id="20"/>
          <p:cNvSpPr/>
          <p:nvPr/>
        </p:nvSpPr>
        <p:spPr>
          <a:xfrm>
            <a:off x="490484" y="9780309"/>
            <a:ext cx="18539715" cy="0"/>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grpSp>
        <p:nvGrpSpPr>
          <p:cNvPr name="Group 21" id="21"/>
          <p:cNvGrpSpPr/>
          <p:nvPr/>
        </p:nvGrpSpPr>
        <p:grpSpPr>
          <a:xfrm rot="0">
            <a:off x="10011345" y="3436804"/>
            <a:ext cx="7247955" cy="6036104"/>
            <a:chOff x="0" y="0"/>
            <a:chExt cx="9663940" cy="8048139"/>
          </a:xfrm>
        </p:grpSpPr>
        <p:grpSp>
          <p:nvGrpSpPr>
            <p:cNvPr name="Group 22" id="22"/>
            <p:cNvGrpSpPr/>
            <p:nvPr/>
          </p:nvGrpSpPr>
          <p:grpSpPr>
            <a:xfrm rot="0">
              <a:off x="0" y="0"/>
              <a:ext cx="9663940" cy="3619321"/>
              <a:chOff x="0" y="0"/>
              <a:chExt cx="2441356" cy="914332"/>
            </a:xfrm>
          </p:grpSpPr>
          <p:sp>
            <p:nvSpPr>
              <p:cNvPr name="Freeform 23" id="23"/>
              <p:cNvSpPr/>
              <p:nvPr/>
            </p:nvSpPr>
            <p:spPr>
              <a:xfrm flipH="false" flipV="false" rot="0">
                <a:off x="0" y="0"/>
                <a:ext cx="2441356" cy="914332"/>
              </a:xfrm>
              <a:custGeom>
                <a:avLst/>
                <a:gdLst/>
                <a:ahLst/>
                <a:cxnLst/>
                <a:rect r="r" b="b" t="t" l="l"/>
                <a:pathLst>
                  <a:path h="914332" w="2441356">
                    <a:moveTo>
                      <a:pt x="42726" y="0"/>
                    </a:moveTo>
                    <a:lnTo>
                      <a:pt x="2398630" y="0"/>
                    </a:lnTo>
                    <a:cubicBezTo>
                      <a:pt x="2409962" y="0"/>
                      <a:pt x="2420829" y="4501"/>
                      <a:pt x="2428842" y="12514"/>
                    </a:cubicBezTo>
                    <a:cubicBezTo>
                      <a:pt x="2436855" y="20527"/>
                      <a:pt x="2441356" y="31394"/>
                      <a:pt x="2441356" y="42726"/>
                    </a:cubicBezTo>
                    <a:lnTo>
                      <a:pt x="2441356" y="871606"/>
                    </a:lnTo>
                    <a:cubicBezTo>
                      <a:pt x="2441356" y="895203"/>
                      <a:pt x="2422227" y="914332"/>
                      <a:pt x="2398630" y="914332"/>
                    </a:cubicBezTo>
                    <a:lnTo>
                      <a:pt x="42726" y="914332"/>
                    </a:lnTo>
                    <a:cubicBezTo>
                      <a:pt x="31394" y="914332"/>
                      <a:pt x="20527" y="909831"/>
                      <a:pt x="12514" y="901818"/>
                    </a:cubicBezTo>
                    <a:cubicBezTo>
                      <a:pt x="4501" y="893805"/>
                      <a:pt x="0" y="882938"/>
                      <a:pt x="0" y="871606"/>
                    </a:cubicBezTo>
                    <a:lnTo>
                      <a:pt x="0" y="42726"/>
                    </a:lnTo>
                    <a:cubicBezTo>
                      <a:pt x="0" y="31394"/>
                      <a:pt x="4501" y="20527"/>
                      <a:pt x="12514" y="12514"/>
                    </a:cubicBezTo>
                    <a:cubicBezTo>
                      <a:pt x="20527" y="4501"/>
                      <a:pt x="31394" y="0"/>
                      <a:pt x="42726" y="0"/>
                    </a:cubicBezTo>
                    <a:close/>
                  </a:path>
                </a:pathLst>
              </a:custGeom>
              <a:solidFill>
                <a:srgbClr val="FFFFFF"/>
              </a:solid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24" id="24"/>
              <p:cNvSpPr txBox="true"/>
              <p:nvPr/>
            </p:nvSpPr>
            <p:spPr>
              <a:xfrm>
                <a:off x="0" y="-47625"/>
                <a:ext cx="2441356" cy="961957"/>
              </a:xfrm>
              <a:prstGeom prst="rect">
                <a:avLst/>
              </a:prstGeom>
            </p:spPr>
            <p:txBody>
              <a:bodyPr anchor="ctr" rtlCol="false" tIns="50800" lIns="50800" bIns="50800" rIns="50800"/>
              <a:lstStyle/>
              <a:p>
                <a:pPr algn="ctr">
                  <a:lnSpc>
                    <a:spcPts val="3359"/>
                  </a:lnSpc>
                </a:pPr>
              </a:p>
            </p:txBody>
          </p:sp>
        </p:grpSp>
        <p:grpSp>
          <p:nvGrpSpPr>
            <p:cNvPr name="Group 25" id="25"/>
            <p:cNvGrpSpPr/>
            <p:nvPr/>
          </p:nvGrpSpPr>
          <p:grpSpPr>
            <a:xfrm rot="0">
              <a:off x="0" y="4381321"/>
              <a:ext cx="9663940" cy="3666818"/>
              <a:chOff x="0" y="0"/>
              <a:chExt cx="1848698" cy="701457"/>
            </a:xfrm>
          </p:grpSpPr>
          <p:sp>
            <p:nvSpPr>
              <p:cNvPr name="Freeform 26" id="26"/>
              <p:cNvSpPr/>
              <p:nvPr/>
            </p:nvSpPr>
            <p:spPr>
              <a:xfrm flipH="false" flipV="false" rot="0">
                <a:off x="0" y="0"/>
                <a:ext cx="1848698" cy="701457"/>
              </a:xfrm>
              <a:custGeom>
                <a:avLst/>
                <a:gdLst/>
                <a:ahLst/>
                <a:cxnLst/>
                <a:rect r="r" b="b" t="t" l="l"/>
                <a:pathLst>
                  <a:path h="701457" w="1848698">
                    <a:moveTo>
                      <a:pt x="42726" y="0"/>
                    </a:moveTo>
                    <a:lnTo>
                      <a:pt x="1805972" y="0"/>
                    </a:lnTo>
                    <a:cubicBezTo>
                      <a:pt x="1817304" y="0"/>
                      <a:pt x="1828171" y="4501"/>
                      <a:pt x="1836184" y="12514"/>
                    </a:cubicBezTo>
                    <a:cubicBezTo>
                      <a:pt x="1844197" y="20527"/>
                      <a:pt x="1848698" y="31394"/>
                      <a:pt x="1848698" y="42726"/>
                    </a:cubicBezTo>
                    <a:lnTo>
                      <a:pt x="1848698" y="658731"/>
                    </a:lnTo>
                    <a:cubicBezTo>
                      <a:pt x="1848698" y="670063"/>
                      <a:pt x="1844197" y="680930"/>
                      <a:pt x="1836184" y="688943"/>
                    </a:cubicBezTo>
                    <a:cubicBezTo>
                      <a:pt x="1828171" y="696956"/>
                      <a:pt x="1817304" y="701457"/>
                      <a:pt x="1805972" y="701457"/>
                    </a:cubicBezTo>
                    <a:lnTo>
                      <a:pt x="42726" y="701457"/>
                    </a:lnTo>
                    <a:cubicBezTo>
                      <a:pt x="31394" y="701457"/>
                      <a:pt x="20527" y="696956"/>
                      <a:pt x="12514" y="688943"/>
                    </a:cubicBezTo>
                    <a:cubicBezTo>
                      <a:pt x="4501" y="680930"/>
                      <a:pt x="0" y="670063"/>
                      <a:pt x="0" y="658731"/>
                    </a:cubicBezTo>
                    <a:lnTo>
                      <a:pt x="0" y="42726"/>
                    </a:lnTo>
                    <a:cubicBezTo>
                      <a:pt x="0" y="31394"/>
                      <a:pt x="4501" y="20527"/>
                      <a:pt x="12514" y="12514"/>
                    </a:cubicBezTo>
                    <a:cubicBezTo>
                      <a:pt x="20527" y="4501"/>
                      <a:pt x="31394" y="0"/>
                      <a:pt x="42726" y="0"/>
                    </a:cubicBezTo>
                    <a:close/>
                  </a:path>
                </a:pathLst>
              </a:custGeom>
              <a:gradFill rotWithShape="true">
                <a:gsLst>
                  <a:gs pos="0">
                    <a:srgbClr val="292929">
                      <a:alpha val="100000"/>
                    </a:srgbClr>
                  </a:gs>
                  <a:gs pos="100000">
                    <a:srgbClr val="3F4E52">
                      <a:alpha val="100000"/>
                    </a:srgbClr>
                  </a:gs>
                </a:gsLst>
                <a:lin ang="0"/>
              </a:grad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27" id="27"/>
              <p:cNvSpPr txBox="true"/>
              <p:nvPr/>
            </p:nvSpPr>
            <p:spPr>
              <a:xfrm>
                <a:off x="0" y="-47625"/>
                <a:ext cx="1848698" cy="749082"/>
              </a:xfrm>
              <a:prstGeom prst="rect">
                <a:avLst/>
              </a:prstGeom>
            </p:spPr>
            <p:txBody>
              <a:bodyPr anchor="ctr" rtlCol="false" tIns="50800" lIns="50800" bIns="50800" rIns="50800"/>
              <a:lstStyle/>
              <a:p>
                <a:pPr algn="ctr">
                  <a:lnSpc>
                    <a:spcPts val="3359"/>
                  </a:lnSpc>
                </a:pPr>
              </a:p>
            </p:txBody>
          </p:sp>
        </p:grpSp>
        <p:sp>
          <p:nvSpPr>
            <p:cNvPr name="TextBox 28" id="28"/>
            <p:cNvSpPr txBox="true"/>
            <p:nvPr/>
          </p:nvSpPr>
          <p:spPr>
            <a:xfrm rot="0">
              <a:off x="384483" y="932810"/>
              <a:ext cx="8894973" cy="2061676"/>
            </a:xfrm>
            <a:prstGeom prst="rect">
              <a:avLst/>
            </a:prstGeom>
          </p:spPr>
          <p:txBody>
            <a:bodyPr anchor="t" rtlCol="false" tIns="0" lIns="0" bIns="0" rIns="0">
              <a:spAutoFit/>
            </a:bodyPr>
            <a:lstStyle/>
            <a:p>
              <a:pPr algn="just">
                <a:lnSpc>
                  <a:spcPts val="4096"/>
                </a:lnSpc>
              </a:pPr>
              <a:r>
                <a:rPr lang="en-US" sz="3200" i="true" spc="-96">
                  <a:solidFill>
                    <a:srgbClr val="4D4D4D"/>
                  </a:solidFill>
                  <a:latin typeface="Poppins Italics"/>
                  <a:ea typeface="Poppins Italics"/>
                  <a:cs typeface="Poppins Italics"/>
                  <a:sym typeface="Poppins Italics"/>
                </a:rPr>
                <a:t>Membangun pipeline otomatis untukekstraksi dan klasifikasi skill dari lowongan pekerjaan</a:t>
              </a:r>
            </a:p>
          </p:txBody>
        </p:sp>
        <p:sp>
          <p:nvSpPr>
            <p:cNvPr name="TextBox 29" id="29"/>
            <p:cNvSpPr txBox="true"/>
            <p:nvPr/>
          </p:nvSpPr>
          <p:spPr>
            <a:xfrm rot="0">
              <a:off x="498915" y="5377428"/>
              <a:ext cx="8666111" cy="2397294"/>
            </a:xfrm>
            <a:prstGeom prst="rect">
              <a:avLst/>
            </a:prstGeom>
          </p:spPr>
          <p:txBody>
            <a:bodyPr anchor="t" rtlCol="false" tIns="0" lIns="0" bIns="0" rIns="0">
              <a:spAutoFit/>
            </a:bodyPr>
            <a:lstStyle/>
            <a:p>
              <a:pPr algn="just" marL="0" indent="0" lvl="0">
                <a:lnSpc>
                  <a:spcPts val="3584"/>
                </a:lnSpc>
                <a:spcBef>
                  <a:spcPct val="0"/>
                </a:spcBef>
              </a:pPr>
              <a:r>
                <a:rPr lang="en-US" sz="2800" i="true" spc="-84">
                  <a:solidFill>
                    <a:srgbClr val="FFFFFF"/>
                  </a:solidFill>
                  <a:latin typeface="Poppins Italics"/>
                  <a:ea typeface="Poppins Italics"/>
                  <a:cs typeface="Poppins Italics"/>
                  <a:sym typeface="Poppins Italics"/>
                </a:rPr>
                <a:t>M</a:t>
              </a:r>
              <a:r>
                <a:rPr lang="en-US" sz="2800" i="true" spc="-84" strike="noStrike" u="none">
                  <a:solidFill>
                    <a:srgbClr val="FFFFFF"/>
                  </a:solidFill>
                  <a:latin typeface="Poppins Italics"/>
                  <a:ea typeface="Poppins Italics"/>
                  <a:cs typeface="Poppins Italics"/>
                  <a:sym typeface="Poppins Italics"/>
                </a:rPr>
                <a:t>engembangkan model rekomendasi karir berbasis XAI yang transparan dan dapat diinterpretasikan</a:t>
              </a:r>
            </a:p>
          </p:txBody>
        </p:sp>
        <p:sp>
          <p:nvSpPr>
            <p:cNvPr name="Freeform 30" id="30"/>
            <p:cNvSpPr/>
            <p:nvPr/>
          </p:nvSpPr>
          <p:spPr>
            <a:xfrm flipH="false" flipV="false" rot="0">
              <a:off x="482894" y="405452"/>
              <a:ext cx="360511" cy="360511"/>
            </a:xfrm>
            <a:custGeom>
              <a:avLst/>
              <a:gdLst/>
              <a:ahLst/>
              <a:cxnLst/>
              <a:rect r="r" b="b" t="t" l="l"/>
              <a:pathLst>
                <a:path h="360511" w="360511">
                  <a:moveTo>
                    <a:pt x="0" y="0"/>
                  </a:moveTo>
                  <a:lnTo>
                    <a:pt x="360511" y="0"/>
                  </a:lnTo>
                  <a:lnTo>
                    <a:pt x="360511" y="360511"/>
                  </a:lnTo>
                  <a:lnTo>
                    <a:pt x="0" y="36051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1" id="31"/>
            <p:cNvSpPr/>
            <p:nvPr/>
          </p:nvSpPr>
          <p:spPr>
            <a:xfrm flipH="false" flipV="false" rot="0">
              <a:off x="663149" y="4786943"/>
              <a:ext cx="358710" cy="358710"/>
            </a:xfrm>
            <a:custGeom>
              <a:avLst/>
              <a:gdLst/>
              <a:ahLst/>
              <a:cxnLst/>
              <a:rect r="r" b="b" t="t" l="l"/>
              <a:pathLst>
                <a:path h="358710" w="358710">
                  <a:moveTo>
                    <a:pt x="0" y="0"/>
                  </a:moveTo>
                  <a:lnTo>
                    <a:pt x="358711" y="0"/>
                  </a:lnTo>
                  <a:lnTo>
                    <a:pt x="358711" y="358710"/>
                  </a:lnTo>
                  <a:lnTo>
                    <a:pt x="0" y="35871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sp>
        <p:nvSpPr>
          <p:cNvPr name="TextBox 32" id="32"/>
          <p:cNvSpPr txBox="true"/>
          <p:nvPr/>
        </p:nvSpPr>
        <p:spPr>
          <a:xfrm rot="0">
            <a:off x="1383454" y="471410"/>
            <a:ext cx="2385672" cy="382270"/>
          </a:xfrm>
          <a:prstGeom prst="rect">
            <a:avLst/>
          </a:prstGeom>
        </p:spPr>
        <p:txBody>
          <a:bodyPr anchor="t" rtlCol="false" tIns="0" lIns="0" bIns="0" rIns="0">
            <a:spAutoFit/>
          </a:bodyPr>
          <a:lstStyle/>
          <a:p>
            <a:pPr algn="l">
              <a:lnSpc>
                <a:spcPts val="3079"/>
              </a:lnSpc>
            </a:pPr>
            <a:r>
              <a:rPr lang="en-US" sz="2199" spc="-142">
                <a:solidFill>
                  <a:srgbClr val="FFFFFF"/>
                </a:solidFill>
                <a:latin typeface="TS Qamus"/>
                <a:ea typeface="TS Qamus"/>
                <a:cs typeface="TS Qamus"/>
                <a:sym typeface="TS Qamus"/>
              </a:rPr>
              <a:t>Salford &amp; Co.</a:t>
            </a:r>
          </a:p>
        </p:txBody>
      </p:sp>
      <p:sp>
        <p:nvSpPr>
          <p:cNvPr name="TextBox 33" id="33"/>
          <p:cNvSpPr txBox="true"/>
          <p:nvPr/>
        </p:nvSpPr>
        <p:spPr>
          <a:xfrm rot="0">
            <a:off x="14170902" y="477323"/>
            <a:ext cx="2228402" cy="325755"/>
          </a:xfrm>
          <a:prstGeom prst="rect">
            <a:avLst/>
          </a:prstGeom>
        </p:spPr>
        <p:txBody>
          <a:bodyPr anchor="t" rtlCol="false" tIns="0" lIns="0" bIns="0" rIns="0">
            <a:spAutoFit/>
          </a:bodyPr>
          <a:lstStyle/>
          <a:p>
            <a:pPr algn="ctr">
              <a:lnSpc>
                <a:spcPts val="2520"/>
              </a:lnSpc>
            </a:pPr>
            <a:r>
              <a:rPr lang="en-US" sz="1800" spc="-117">
                <a:solidFill>
                  <a:srgbClr val="FFFFFF"/>
                </a:solidFill>
                <a:latin typeface="Poppins"/>
                <a:ea typeface="Poppins"/>
                <a:cs typeface="Poppins"/>
                <a:sym typeface="Poppins"/>
              </a:rPr>
              <a:t>6 August, 2025</a:t>
            </a:r>
          </a:p>
        </p:txBody>
      </p:sp>
      <p:sp>
        <p:nvSpPr>
          <p:cNvPr name="TextBox 34" id="34"/>
          <p:cNvSpPr txBox="true"/>
          <p:nvPr/>
        </p:nvSpPr>
        <p:spPr>
          <a:xfrm rot="0">
            <a:off x="6740220" y="477323"/>
            <a:ext cx="2820551" cy="325755"/>
          </a:xfrm>
          <a:prstGeom prst="rect">
            <a:avLst/>
          </a:prstGeom>
        </p:spPr>
        <p:txBody>
          <a:bodyPr anchor="t" rtlCol="false" tIns="0" lIns="0" bIns="0" rIns="0">
            <a:spAutoFit/>
          </a:bodyPr>
          <a:lstStyle/>
          <a:p>
            <a:pPr algn="ctr">
              <a:lnSpc>
                <a:spcPts val="2520"/>
              </a:lnSpc>
            </a:pPr>
            <a:r>
              <a:rPr lang="en-US" sz="1800" spc="-117">
                <a:solidFill>
                  <a:srgbClr val="000000"/>
                </a:solidFill>
                <a:latin typeface="Poppins"/>
                <a:ea typeface="Poppins"/>
                <a:cs typeface="Poppins"/>
                <a:sym typeface="Poppins"/>
              </a:rPr>
              <a:t>Social</a:t>
            </a:r>
            <a:r>
              <a:rPr lang="en-US" sz="1800" spc="-117">
                <a:solidFill>
                  <a:srgbClr val="000000"/>
                </a:solidFill>
                <a:latin typeface="Poppins"/>
                <a:ea typeface="Poppins"/>
                <a:cs typeface="Poppins"/>
                <a:sym typeface="Poppins"/>
              </a:rPr>
              <a:t> Media Proposal</a:t>
            </a:r>
          </a:p>
        </p:txBody>
      </p:sp>
      <p:sp>
        <p:nvSpPr>
          <p:cNvPr name="TextBox 35" id="35"/>
          <p:cNvSpPr txBox="true"/>
          <p:nvPr/>
        </p:nvSpPr>
        <p:spPr>
          <a:xfrm rot="0">
            <a:off x="815264" y="1809999"/>
            <a:ext cx="9783703" cy="1235847"/>
          </a:xfrm>
          <a:prstGeom prst="rect">
            <a:avLst/>
          </a:prstGeom>
        </p:spPr>
        <p:txBody>
          <a:bodyPr anchor="t" rtlCol="false" tIns="0" lIns="0" bIns="0" rIns="0">
            <a:spAutoFit/>
          </a:bodyPr>
          <a:lstStyle/>
          <a:p>
            <a:pPr algn="l">
              <a:lnSpc>
                <a:spcPts val="8989"/>
              </a:lnSpc>
            </a:pPr>
            <a:r>
              <a:rPr lang="en-US" sz="10100" spc="-121" b="true">
                <a:solidFill>
                  <a:srgbClr val="FFFFFF"/>
                </a:solidFill>
                <a:latin typeface="Geometrica Sans Medium"/>
                <a:ea typeface="Geometrica Sans Medium"/>
                <a:cs typeface="Geometrica Sans Medium"/>
                <a:sym typeface="Geometrica Sans Medium"/>
              </a:rPr>
              <a:t>Tujuan Penelitian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1777" r="0" b="-1777"/>
            </a:stretch>
          </a:blipFill>
        </p:spPr>
      </p:sp>
      <p:sp>
        <p:nvSpPr>
          <p:cNvPr name="AutoShape 3" id="3"/>
          <p:cNvSpPr/>
          <p:nvPr/>
        </p:nvSpPr>
        <p:spPr>
          <a:xfrm>
            <a:off x="6223588" y="-468675"/>
            <a:ext cx="0" cy="11118486"/>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
        <p:nvSpPr>
          <p:cNvPr name="AutoShape 4" id="4"/>
          <p:cNvSpPr/>
          <p:nvPr/>
        </p:nvSpPr>
        <p:spPr>
          <a:xfrm>
            <a:off x="477889" y="-448043"/>
            <a:ext cx="0" cy="11118486"/>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
        <p:nvSpPr>
          <p:cNvPr name="AutoShape 5" id="5"/>
          <p:cNvSpPr/>
          <p:nvPr/>
        </p:nvSpPr>
        <p:spPr>
          <a:xfrm>
            <a:off x="-417053" y="1167061"/>
            <a:ext cx="19109210" cy="0"/>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
        <p:nvSpPr>
          <p:cNvPr name="AutoShape 6" id="6"/>
          <p:cNvSpPr/>
          <p:nvPr/>
        </p:nvSpPr>
        <p:spPr>
          <a:xfrm>
            <a:off x="477889" y="5746957"/>
            <a:ext cx="5745699" cy="0"/>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
        <p:nvSpPr>
          <p:cNvPr name="TextBox 7" id="7"/>
          <p:cNvSpPr txBox="true"/>
          <p:nvPr/>
        </p:nvSpPr>
        <p:spPr>
          <a:xfrm rot="0">
            <a:off x="477889" y="4174190"/>
            <a:ext cx="5842779" cy="2460629"/>
          </a:xfrm>
          <a:prstGeom prst="rect">
            <a:avLst/>
          </a:prstGeom>
        </p:spPr>
        <p:txBody>
          <a:bodyPr anchor="t" rtlCol="false" tIns="0" lIns="0" bIns="0" rIns="0">
            <a:spAutoFit/>
          </a:bodyPr>
          <a:lstStyle/>
          <a:p>
            <a:pPr algn="l">
              <a:lnSpc>
                <a:spcPts val="9206"/>
              </a:lnSpc>
            </a:pPr>
            <a:r>
              <a:rPr lang="en-US" sz="10344" spc="-124" b="true">
                <a:solidFill>
                  <a:srgbClr val="FFFFFF"/>
                </a:solidFill>
                <a:latin typeface="Geometrica Sans Bold"/>
                <a:ea typeface="Geometrica Sans Bold"/>
                <a:cs typeface="Geometrica Sans Bold"/>
                <a:sym typeface="Geometrica Sans Bold"/>
              </a:rPr>
              <a:t>Manfaat Penelitian</a:t>
            </a:r>
          </a:p>
        </p:txBody>
      </p:sp>
      <p:grpSp>
        <p:nvGrpSpPr>
          <p:cNvPr name="Group 8" id="8"/>
          <p:cNvGrpSpPr/>
          <p:nvPr/>
        </p:nvGrpSpPr>
        <p:grpSpPr>
          <a:xfrm rot="0">
            <a:off x="6718498" y="1536885"/>
            <a:ext cx="5096913" cy="3672821"/>
            <a:chOff x="0" y="0"/>
            <a:chExt cx="1342397" cy="967327"/>
          </a:xfrm>
        </p:grpSpPr>
        <p:sp>
          <p:nvSpPr>
            <p:cNvPr name="Freeform 9" id="9"/>
            <p:cNvSpPr/>
            <p:nvPr/>
          </p:nvSpPr>
          <p:spPr>
            <a:xfrm flipH="false" flipV="false" rot="0">
              <a:off x="0" y="0"/>
              <a:ext cx="1342397" cy="967327"/>
            </a:xfrm>
            <a:custGeom>
              <a:avLst/>
              <a:gdLst/>
              <a:ahLst/>
              <a:cxnLst/>
              <a:rect r="r" b="b" t="t" l="l"/>
              <a:pathLst>
                <a:path h="967327" w="1342397">
                  <a:moveTo>
                    <a:pt x="60758" y="0"/>
                  </a:moveTo>
                  <a:lnTo>
                    <a:pt x="1281639" y="0"/>
                  </a:lnTo>
                  <a:cubicBezTo>
                    <a:pt x="1297753" y="0"/>
                    <a:pt x="1313207" y="6401"/>
                    <a:pt x="1324601" y="17796"/>
                  </a:cubicBezTo>
                  <a:cubicBezTo>
                    <a:pt x="1335995" y="29190"/>
                    <a:pt x="1342397" y="44644"/>
                    <a:pt x="1342397" y="60758"/>
                  </a:cubicBezTo>
                  <a:lnTo>
                    <a:pt x="1342397" y="906569"/>
                  </a:lnTo>
                  <a:cubicBezTo>
                    <a:pt x="1342397" y="922683"/>
                    <a:pt x="1335995" y="938137"/>
                    <a:pt x="1324601" y="949532"/>
                  </a:cubicBezTo>
                  <a:cubicBezTo>
                    <a:pt x="1313207" y="960926"/>
                    <a:pt x="1297753" y="967327"/>
                    <a:pt x="1281639" y="967327"/>
                  </a:cubicBezTo>
                  <a:lnTo>
                    <a:pt x="60758" y="967327"/>
                  </a:lnTo>
                  <a:cubicBezTo>
                    <a:pt x="44644" y="967327"/>
                    <a:pt x="29190" y="960926"/>
                    <a:pt x="17796" y="949532"/>
                  </a:cubicBezTo>
                  <a:cubicBezTo>
                    <a:pt x="6401" y="938137"/>
                    <a:pt x="0" y="922683"/>
                    <a:pt x="0" y="906569"/>
                  </a:cubicBezTo>
                  <a:lnTo>
                    <a:pt x="0" y="60758"/>
                  </a:lnTo>
                  <a:cubicBezTo>
                    <a:pt x="0" y="44644"/>
                    <a:pt x="6401" y="29190"/>
                    <a:pt x="17796" y="17796"/>
                  </a:cubicBezTo>
                  <a:cubicBezTo>
                    <a:pt x="29190" y="6401"/>
                    <a:pt x="44644" y="0"/>
                    <a:pt x="60758" y="0"/>
                  </a:cubicBezTo>
                  <a:close/>
                </a:path>
              </a:pathLst>
            </a:custGeom>
            <a:solidFill>
              <a:srgbClr val="FFFFFF"/>
            </a:solid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10" id="10"/>
            <p:cNvSpPr txBox="true"/>
            <p:nvPr/>
          </p:nvSpPr>
          <p:spPr>
            <a:xfrm>
              <a:off x="0" y="-47625"/>
              <a:ext cx="1342397" cy="1014952"/>
            </a:xfrm>
            <a:prstGeom prst="rect">
              <a:avLst/>
            </a:prstGeom>
          </p:spPr>
          <p:txBody>
            <a:bodyPr anchor="ctr" rtlCol="false" tIns="50800" lIns="50800" bIns="50800" rIns="50800"/>
            <a:lstStyle/>
            <a:p>
              <a:pPr algn="ctr">
                <a:lnSpc>
                  <a:spcPts val="3359"/>
                </a:lnSpc>
              </a:pPr>
            </a:p>
          </p:txBody>
        </p:sp>
      </p:grpSp>
      <p:grpSp>
        <p:nvGrpSpPr>
          <p:cNvPr name="Group 11" id="11"/>
          <p:cNvGrpSpPr/>
          <p:nvPr/>
        </p:nvGrpSpPr>
        <p:grpSpPr>
          <a:xfrm rot="0">
            <a:off x="12351483" y="1588809"/>
            <a:ext cx="5096913" cy="3672821"/>
            <a:chOff x="0" y="0"/>
            <a:chExt cx="1342397" cy="967327"/>
          </a:xfrm>
        </p:grpSpPr>
        <p:sp>
          <p:nvSpPr>
            <p:cNvPr name="Freeform 12" id="12"/>
            <p:cNvSpPr/>
            <p:nvPr/>
          </p:nvSpPr>
          <p:spPr>
            <a:xfrm flipH="false" flipV="false" rot="0">
              <a:off x="0" y="0"/>
              <a:ext cx="1342397" cy="967327"/>
            </a:xfrm>
            <a:custGeom>
              <a:avLst/>
              <a:gdLst/>
              <a:ahLst/>
              <a:cxnLst/>
              <a:rect r="r" b="b" t="t" l="l"/>
              <a:pathLst>
                <a:path h="967327" w="1342397">
                  <a:moveTo>
                    <a:pt x="60758" y="0"/>
                  </a:moveTo>
                  <a:lnTo>
                    <a:pt x="1281639" y="0"/>
                  </a:lnTo>
                  <a:cubicBezTo>
                    <a:pt x="1297753" y="0"/>
                    <a:pt x="1313207" y="6401"/>
                    <a:pt x="1324601" y="17796"/>
                  </a:cubicBezTo>
                  <a:cubicBezTo>
                    <a:pt x="1335995" y="29190"/>
                    <a:pt x="1342397" y="44644"/>
                    <a:pt x="1342397" y="60758"/>
                  </a:cubicBezTo>
                  <a:lnTo>
                    <a:pt x="1342397" y="906569"/>
                  </a:lnTo>
                  <a:cubicBezTo>
                    <a:pt x="1342397" y="922683"/>
                    <a:pt x="1335995" y="938137"/>
                    <a:pt x="1324601" y="949532"/>
                  </a:cubicBezTo>
                  <a:cubicBezTo>
                    <a:pt x="1313207" y="960926"/>
                    <a:pt x="1297753" y="967327"/>
                    <a:pt x="1281639" y="967327"/>
                  </a:cubicBezTo>
                  <a:lnTo>
                    <a:pt x="60758" y="967327"/>
                  </a:lnTo>
                  <a:cubicBezTo>
                    <a:pt x="44644" y="967327"/>
                    <a:pt x="29190" y="960926"/>
                    <a:pt x="17796" y="949532"/>
                  </a:cubicBezTo>
                  <a:cubicBezTo>
                    <a:pt x="6401" y="938137"/>
                    <a:pt x="0" y="922683"/>
                    <a:pt x="0" y="906569"/>
                  </a:cubicBezTo>
                  <a:lnTo>
                    <a:pt x="0" y="60758"/>
                  </a:lnTo>
                  <a:cubicBezTo>
                    <a:pt x="0" y="44644"/>
                    <a:pt x="6401" y="29190"/>
                    <a:pt x="17796" y="17796"/>
                  </a:cubicBezTo>
                  <a:cubicBezTo>
                    <a:pt x="29190" y="6401"/>
                    <a:pt x="44644" y="0"/>
                    <a:pt x="60758" y="0"/>
                  </a:cubicBezTo>
                  <a:close/>
                </a:path>
              </a:pathLst>
            </a:custGeom>
            <a:gradFill rotWithShape="true">
              <a:gsLst>
                <a:gs pos="0">
                  <a:srgbClr val="292929">
                    <a:alpha val="100000"/>
                  </a:srgbClr>
                </a:gs>
                <a:gs pos="100000">
                  <a:srgbClr val="3F4E52">
                    <a:alpha val="100000"/>
                  </a:srgbClr>
                </a:gs>
              </a:gsLst>
              <a:lin ang="0"/>
            </a:grad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13" id="13"/>
            <p:cNvSpPr txBox="true"/>
            <p:nvPr/>
          </p:nvSpPr>
          <p:spPr>
            <a:xfrm>
              <a:off x="0" y="-47625"/>
              <a:ext cx="1342397" cy="1014952"/>
            </a:xfrm>
            <a:prstGeom prst="rect">
              <a:avLst/>
            </a:prstGeom>
          </p:spPr>
          <p:txBody>
            <a:bodyPr anchor="ctr" rtlCol="false" tIns="50800" lIns="50800" bIns="50800" rIns="50800"/>
            <a:lstStyle/>
            <a:p>
              <a:pPr algn="ctr" marL="0" indent="0" lvl="0">
                <a:lnSpc>
                  <a:spcPts val="3359"/>
                </a:lnSpc>
                <a:spcBef>
                  <a:spcPct val="0"/>
                </a:spcBef>
              </a:pPr>
            </a:p>
          </p:txBody>
        </p:sp>
      </p:grpSp>
      <p:grpSp>
        <p:nvGrpSpPr>
          <p:cNvPr name="Group 14" id="14"/>
          <p:cNvGrpSpPr/>
          <p:nvPr/>
        </p:nvGrpSpPr>
        <p:grpSpPr>
          <a:xfrm rot="0">
            <a:off x="6740220" y="5623579"/>
            <a:ext cx="5096913" cy="3672821"/>
            <a:chOff x="0" y="0"/>
            <a:chExt cx="1342397" cy="967327"/>
          </a:xfrm>
        </p:grpSpPr>
        <p:sp>
          <p:nvSpPr>
            <p:cNvPr name="Freeform 15" id="15"/>
            <p:cNvSpPr/>
            <p:nvPr/>
          </p:nvSpPr>
          <p:spPr>
            <a:xfrm flipH="false" flipV="false" rot="0">
              <a:off x="0" y="0"/>
              <a:ext cx="1342397" cy="967327"/>
            </a:xfrm>
            <a:custGeom>
              <a:avLst/>
              <a:gdLst/>
              <a:ahLst/>
              <a:cxnLst/>
              <a:rect r="r" b="b" t="t" l="l"/>
              <a:pathLst>
                <a:path h="967327" w="1342397">
                  <a:moveTo>
                    <a:pt x="60758" y="0"/>
                  </a:moveTo>
                  <a:lnTo>
                    <a:pt x="1281639" y="0"/>
                  </a:lnTo>
                  <a:cubicBezTo>
                    <a:pt x="1297753" y="0"/>
                    <a:pt x="1313207" y="6401"/>
                    <a:pt x="1324601" y="17796"/>
                  </a:cubicBezTo>
                  <a:cubicBezTo>
                    <a:pt x="1335995" y="29190"/>
                    <a:pt x="1342397" y="44644"/>
                    <a:pt x="1342397" y="60758"/>
                  </a:cubicBezTo>
                  <a:lnTo>
                    <a:pt x="1342397" y="906569"/>
                  </a:lnTo>
                  <a:cubicBezTo>
                    <a:pt x="1342397" y="922683"/>
                    <a:pt x="1335995" y="938137"/>
                    <a:pt x="1324601" y="949532"/>
                  </a:cubicBezTo>
                  <a:cubicBezTo>
                    <a:pt x="1313207" y="960926"/>
                    <a:pt x="1297753" y="967327"/>
                    <a:pt x="1281639" y="967327"/>
                  </a:cubicBezTo>
                  <a:lnTo>
                    <a:pt x="60758" y="967327"/>
                  </a:lnTo>
                  <a:cubicBezTo>
                    <a:pt x="44644" y="967327"/>
                    <a:pt x="29190" y="960926"/>
                    <a:pt x="17796" y="949532"/>
                  </a:cubicBezTo>
                  <a:cubicBezTo>
                    <a:pt x="6401" y="938137"/>
                    <a:pt x="0" y="922683"/>
                    <a:pt x="0" y="906569"/>
                  </a:cubicBezTo>
                  <a:lnTo>
                    <a:pt x="0" y="60758"/>
                  </a:lnTo>
                  <a:cubicBezTo>
                    <a:pt x="0" y="44644"/>
                    <a:pt x="6401" y="29190"/>
                    <a:pt x="17796" y="17796"/>
                  </a:cubicBezTo>
                  <a:cubicBezTo>
                    <a:pt x="29190" y="6401"/>
                    <a:pt x="44644" y="0"/>
                    <a:pt x="60758" y="0"/>
                  </a:cubicBezTo>
                  <a:close/>
                </a:path>
              </a:pathLst>
            </a:custGeom>
            <a:gradFill rotWithShape="true">
              <a:gsLst>
                <a:gs pos="0">
                  <a:srgbClr val="292929">
                    <a:alpha val="100000"/>
                  </a:srgbClr>
                </a:gs>
                <a:gs pos="100000">
                  <a:srgbClr val="3F4E52">
                    <a:alpha val="100000"/>
                  </a:srgbClr>
                </a:gs>
              </a:gsLst>
              <a:lin ang="0"/>
            </a:grad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16" id="16"/>
            <p:cNvSpPr txBox="true"/>
            <p:nvPr/>
          </p:nvSpPr>
          <p:spPr>
            <a:xfrm>
              <a:off x="0" y="-47625"/>
              <a:ext cx="1342397" cy="1014952"/>
            </a:xfrm>
            <a:prstGeom prst="rect">
              <a:avLst/>
            </a:prstGeom>
          </p:spPr>
          <p:txBody>
            <a:bodyPr anchor="ctr" rtlCol="false" tIns="50800" lIns="50800" bIns="50800" rIns="50800"/>
            <a:lstStyle/>
            <a:p>
              <a:pPr algn="ctr" marL="0" indent="0" lvl="0">
                <a:lnSpc>
                  <a:spcPts val="3359"/>
                </a:lnSpc>
                <a:spcBef>
                  <a:spcPct val="0"/>
                </a:spcBef>
              </a:pPr>
            </a:p>
          </p:txBody>
        </p:sp>
      </p:grpSp>
      <p:grpSp>
        <p:nvGrpSpPr>
          <p:cNvPr name="Group 17" id="17"/>
          <p:cNvGrpSpPr/>
          <p:nvPr/>
        </p:nvGrpSpPr>
        <p:grpSpPr>
          <a:xfrm rot="0">
            <a:off x="12351483" y="5623579"/>
            <a:ext cx="5096913" cy="3672821"/>
            <a:chOff x="0" y="0"/>
            <a:chExt cx="1342397" cy="967327"/>
          </a:xfrm>
        </p:grpSpPr>
        <p:sp>
          <p:nvSpPr>
            <p:cNvPr name="Freeform 18" id="18"/>
            <p:cNvSpPr/>
            <p:nvPr/>
          </p:nvSpPr>
          <p:spPr>
            <a:xfrm flipH="false" flipV="false" rot="0">
              <a:off x="0" y="0"/>
              <a:ext cx="1342397" cy="967327"/>
            </a:xfrm>
            <a:custGeom>
              <a:avLst/>
              <a:gdLst/>
              <a:ahLst/>
              <a:cxnLst/>
              <a:rect r="r" b="b" t="t" l="l"/>
              <a:pathLst>
                <a:path h="967327" w="1342397">
                  <a:moveTo>
                    <a:pt x="60758" y="0"/>
                  </a:moveTo>
                  <a:lnTo>
                    <a:pt x="1281639" y="0"/>
                  </a:lnTo>
                  <a:cubicBezTo>
                    <a:pt x="1297753" y="0"/>
                    <a:pt x="1313207" y="6401"/>
                    <a:pt x="1324601" y="17796"/>
                  </a:cubicBezTo>
                  <a:cubicBezTo>
                    <a:pt x="1335995" y="29190"/>
                    <a:pt x="1342397" y="44644"/>
                    <a:pt x="1342397" y="60758"/>
                  </a:cubicBezTo>
                  <a:lnTo>
                    <a:pt x="1342397" y="906569"/>
                  </a:lnTo>
                  <a:cubicBezTo>
                    <a:pt x="1342397" y="922683"/>
                    <a:pt x="1335995" y="938137"/>
                    <a:pt x="1324601" y="949532"/>
                  </a:cubicBezTo>
                  <a:cubicBezTo>
                    <a:pt x="1313207" y="960926"/>
                    <a:pt x="1297753" y="967327"/>
                    <a:pt x="1281639" y="967327"/>
                  </a:cubicBezTo>
                  <a:lnTo>
                    <a:pt x="60758" y="967327"/>
                  </a:lnTo>
                  <a:cubicBezTo>
                    <a:pt x="44644" y="967327"/>
                    <a:pt x="29190" y="960926"/>
                    <a:pt x="17796" y="949532"/>
                  </a:cubicBezTo>
                  <a:cubicBezTo>
                    <a:pt x="6401" y="938137"/>
                    <a:pt x="0" y="922683"/>
                    <a:pt x="0" y="906569"/>
                  </a:cubicBezTo>
                  <a:lnTo>
                    <a:pt x="0" y="60758"/>
                  </a:lnTo>
                  <a:cubicBezTo>
                    <a:pt x="0" y="44644"/>
                    <a:pt x="6401" y="29190"/>
                    <a:pt x="17796" y="17796"/>
                  </a:cubicBezTo>
                  <a:cubicBezTo>
                    <a:pt x="29190" y="6401"/>
                    <a:pt x="44644" y="0"/>
                    <a:pt x="60758" y="0"/>
                  </a:cubicBezTo>
                  <a:close/>
                </a:path>
              </a:pathLst>
            </a:custGeom>
            <a:solidFill>
              <a:srgbClr val="FFFFFF"/>
            </a:solid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19" id="19"/>
            <p:cNvSpPr txBox="true"/>
            <p:nvPr/>
          </p:nvSpPr>
          <p:spPr>
            <a:xfrm>
              <a:off x="0" y="-47625"/>
              <a:ext cx="1342397" cy="1014952"/>
            </a:xfrm>
            <a:prstGeom prst="rect">
              <a:avLst/>
            </a:prstGeom>
          </p:spPr>
          <p:txBody>
            <a:bodyPr anchor="ctr" rtlCol="false" tIns="50800" lIns="50800" bIns="50800" rIns="50800"/>
            <a:lstStyle/>
            <a:p>
              <a:pPr algn="ctr">
                <a:lnSpc>
                  <a:spcPts val="3359"/>
                </a:lnSpc>
              </a:pPr>
            </a:p>
          </p:txBody>
        </p:sp>
      </p:grpSp>
      <p:sp>
        <p:nvSpPr>
          <p:cNvPr name="AutoShape 20" id="20"/>
          <p:cNvSpPr/>
          <p:nvPr/>
        </p:nvSpPr>
        <p:spPr>
          <a:xfrm>
            <a:off x="490484" y="9780309"/>
            <a:ext cx="18539715" cy="0"/>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grpSp>
        <p:nvGrpSpPr>
          <p:cNvPr name="Group 21" id="21"/>
          <p:cNvGrpSpPr/>
          <p:nvPr/>
        </p:nvGrpSpPr>
        <p:grpSpPr>
          <a:xfrm rot="0">
            <a:off x="16845300" y="391766"/>
            <a:ext cx="635507" cy="554019"/>
            <a:chOff x="0" y="0"/>
            <a:chExt cx="167376" cy="145915"/>
          </a:xfrm>
        </p:grpSpPr>
        <p:sp>
          <p:nvSpPr>
            <p:cNvPr name="Freeform 22" id="22"/>
            <p:cNvSpPr/>
            <p:nvPr/>
          </p:nvSpPr>
          <p:spPr>
            <a:xfrm flipH="false" flipV="false" rot="0">
              <a:off x="0" y="0"/>
              <a:ext cx="167376" cy="145915"/>
            </a:xfrm>
            <a:custGeom>
              <a:avLst/>
              <a:gdLst/>
              <a:ahLst/>
              <a:cxnLst/>
              <a:rect r="r" b="b" t="t" l="l"/>
              <a:pathLst>
                <a:path h="145915" w="167376">
                  <a:moveTo>
                    <a:pt x="72957" y="0"/>
                  </a:moveTo>
                  <a:lnTo>
                    <a:pt x="94419" y="0"/>
                  </a:lnTo>
                  <a:cubicBezTo>
                    <a:pt x="134712" y="0"/>
                    <a:pt x="167376" y="32664"/>
                    <a:pt x="167376" y="72957"/>
                  </a:cubicBezTo>
                  <a:lnTo>
                    <a:pt x="167376" y="72957"/>
                  </a:lnTo>
                  <a:cubicBezTo>
                    <a:pt x="167376" y="113250"/>
                    <a:pt x="134712" y="145915"/>
                    <a:pt x="94419" y="145915"/>
                  </a:cubicBezTo>
                  <a:lnTo>
                    <a:pt x="72957" y="145915"/>
                  </a:lnTo>
                  <a:cubicBezTo>
                    <a:pt x="32664" y="145915"/>
                    <a:pt x="0" y="113250"/>
                    <a:pt x="0" y="72957"/>
                  </a:cubicBezTo>
                  <a:lnTo>
                    <a:pt x="0" y="72957"/>
                  </a:lnTo>
                  <a:cubicBezTo>
                    <a:pt x="0" y="32664"/>
                    <a:pt x="32664" y="0"/>
                    <a:pt x="72957" y="0"/>
                  </a:cubicBezTo>
                  <a:close/>
                </a:path>
              </a:pathLst>
            </a:custGeom>
            <a:gradFill rotWithShape="true">
              <a:gsLst>
                <a:gs pos="0">
                  <a:srgbClr val="9B9B9B">
                    <a:alpha val="28000"/>
                  </a:srgbClr>
                </a:gs>
                <a:gs pos="25000">
                  <a:srgbClr val="FFFFFF">
                    <a:alpha val="29000"/>
                  </a:srgbClr>
                </a:gs>
                <a:gs pos="50000">
                  <a:srgbClr val="FFFFFF">
                    <a:alpha val="44500"/>
                  </a:srgbClr>
                </a:gs>
                <a:gs pos="75000">
                  <a:srgbClr val="FFFFFF">
                    <a:alpha val="29000"/>
                  </a:srgbClr>
                </a:gs>
                <a:gs pos="100000">
                  <a:srgbClr val="9B9B9B">
                    <a:alpha val="28000"/>
                  </a:srgbClr>
                </a:gs>
              </a:gsLst>
              <a:lin ang="2700000"/>
            </a:grad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23" id="23"/>
            <p:cNvSpPr txBox="true"/>
            <p:nvPr/>
          </p:nvSpPr>
          <p:spPr>
            <a:xfrm>
              <a:off x="0" y="-47625"/>
              <a:ext cx="167376" cy="193540"/>
            </a:xfrm>
            <a:prstGeom prst="rect">
              <a:avLst/>
            </a:prstGeom>
          </p:spPr>
          <p:txBody>
            <a:bodyPr anchor="ctr" rtlCol="false" tIns="50800" lIns="50800" bIns="50800" rIns="50800"/>
            <a:lstStyle/>
            <a:p>
              <a:pPr algn="ctr">
                <a:lnSpc>
                  <a:spcPts val="3359"/>
                </a:lnSpc>
              </a:pPr>
            </a:p>
          </p:txBody>
        </p:sp>
      </p:grpSp>
      <p:grpSp>
        <p:nvGrpSpPr>
          <p:cNvPr name="Group 24" id="24"/>
          <p:cNvGrpSpPr/>
          <p:nvPr/>
        </p:nvGrpSpPr>
        <p:grpSpPr>
          <a:xfrm rot="0">
            <a:off x="13913154" y="391766"/>
            <a:ext cx="2743897" cy="554019"/>
            <a:chOff x="0" y="0"/>
            <a:chExt cx="722672" cy="145915"/>
          </a:xfrm>
        </p:grpSpPr>
        <p:sp>
          <p:nvSpPr>
            <p:cNvPr name="Freeform 25" id="25"/>
            <p:cNvSpPr/>
            <p:nvPr/>
          </p:nvSpPr>
          <p:spPr>
            <a:xfrm flipH="false" flipV="false" rot="0">
              <a:off x="0" y="0"/>
              <a:ext cx="722672" cy="145915"/>
            </a:xfrm>
            <a:custGeom>
              <a:avLst/>
              <a:gdLst/>
              <a:ahLst/>
              <a:cxnLst/>
              <a:rect r="r" b="b" t="t" l="l"/>
              <a:pathLst>
                <a:path h="145915" w="722672">
                  <a:moveTo>
                    <a:pt x="72957" y="0"/>
                  </a:moveTo>
                  <a:lnTo>
                    <a:pt x="649715" y="0"/>
                  </a:lnTo>
                  <a:cubicBezTo>
                    <a:pt x="690008" y="0"/>
                    <a:pt x="722672" y="32664"/>
                    <a:pt x="722672" y="72957"/>
                  </a:cubicBezTo>
                  <a:lnTo>
                    <a:pt x="722672" y="72957"/>
                  </a:lnTo>
                  <a:cubicBezTo>
                    <a:pt x="722672" y="113250"/>
                    <a:pt x="690008" y="145915"/>
                    <a:pt x="649715" y="145915"/>
                  </a:cubicBezTo>
                  <a:lnTo>
                    <a:pt x="72957" y="145915"/>
                  </a:lnTo>
                  <a:cubicBezTo>
                    <a:pt x="32664" y="145915"/>
                    <a:pt x="0" y="113250"/>
                    <a:pt x="0" y="72957"/>
                  </a:cubicBezTo>
                  <a:lnTo>
                    <a:pt x="0" y="72957"/>
                  </a:lnTo>
                  <a:cubicBezTo>
                    <a:pt x="0" y="32664"/>
                    <a:pt x="32664" y="0"/>
                    <a:pt x="72957" y="0"/>
                  </a:cubicBezTo>
                  <a:close/>
                </a:path>
              </a:pathLst>
            </a:custGeom>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26" id="26"/>
            <p:cNvSpPr txBox="true"/>
            <p:nvPr/>
          </p:nvSpPr>
          <p:spPr>
            <a:xfrm>
              <a:off x="0" y="-47625"/>
              <a:ext cx="722672" cy="193540"/>
            </a:xfrm>
            <a:prstGeom prst="rect">
              <a:avLst/>
            </a:prstGeom>
          </p:spPr>
          <p:txBody>
            <a:bodyPr anchor="ctr" rtlCol="false" tIns="50800" lIns="50800" bIns="50800" rIns="50800"/>
            <a:lstStyle/>
            <a:p>
              <a:pPr algn="ctr">
                <a:lnSpc>
                  <a:spcPts val="3359"/>
                </a:lnSpc>
              </a:pPr>
            </a:p>
          </p:txBody>
        </p:sp>
      </p:grpSp>
      <p:sp>
        <p:nvSpPr>
          <p:cNvPr name="TextBox 27" id="27"/>
          <p:cNvSpPr txBox="true"/>
          <p:nvPr/>
        </p:nvSpPr>
        <p:spPr>
          <a:xfrm rot="0">
            <a:off x="14170902" y="477323"/>
            <a:ext cx="2228402" cy="325755"/>
          </a:xfrm>
          <a:prstGeom prst="rect">
            <a:avLst/>
          </a:prstGeom>
        </p:spPr>
        <p:txBody>
          <a:bodyPr anchor="t" rtlCol="false" tIns="0" lIns="0" bIns="0" rIns="0">
            <a:spAutoFit/>
          </a:bodyPr>
          <a:lstStyle/>
          <a:p>
            <a:pPr algn="ctr">
              <a:lnSpc>
                <a:spcPts val="2520"/>
              </a:lnSpc>
            </a:pPr>
            <a:r>
              <a:rPr lang="en-US" sz="1800" spc="-117">
                <a:solidFill>
                  <a:srgbClr val="FFFFFF"/>
                </a:solidFill>
                <a:latin typeface="Poppins"/>
                <a:ea typeface="Poppins"/>
                <a:cs typeface="Poppins"/>
                <a:sym typeface="Poppins"/>
              </a:rPr>
              <a:t>31 August, 2026</a:t>
            </a:r>
          </a:p>
        </p:txBody>
      </p:sp>
      <p:grpSp>
        <p:nvGrpSpPr>
          <p:cNvPr name="Group 28" id="28"/>
          <p:cNvGrpSpPr/>
          <p:nvPr/>
        </p:nvGrpSpPr>
        <p:grpSpPr>
          <a:xfrm rot="0">
            <a:off x="7226179" y="1910818"/>
            <a:ext cx="2316798" cy="407670"/>
            <a:chOff x="0" y="0"/>
            <a:chExt cx="3089064" cy="543560"/>
          </a:xfrm>
        </p:grpSpPr>
        <p:sp>
          <p:nvSpPr>
            <p:cNvPr name="Freeform 29" id="29"/>
            <p:cNvSpPr/>
            <p:nvPr/>
          </p:nvSpPr>
          <p:spPr>
            <a:xfrm flipH="false" flipV="false" rot="0">
              <a:off x="0" y="31709"/>
              <a:ext cx="480142" cy="480142"/>
            </a:xfrm>
            <a:custGeom>
              <a:avLst/>
              <a:gdLst/>
              <a:ahLst/>
              <a:cxnLst/>
              <a:rect r="r" b="b" t="t" l="l"/>
              <a:pathLst>
                <a:path h="480142" w="480142">
                  <a:moveTo>
                    <a:pt x="0" y="0"/>
                  </a:moveTo>
                  <a:lnTo>
                    <a:pt x="480142" y="0"/>
                  </a:lnTo>
                  <a:lnTo>
                    <a:pt x="480142" y="480142"/>
                  </a:lnTo>
                  <a:lnTo>
                    <a:pt x="0" y="48014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30" id="30"/>
            <p:cNvSpPr txBox="true"/>
            <p:nvPr/>
          </p:nvSpPr>
          <p:spPr>
            <a:xfrm rot="0">
              <a:off x="655529" y="-57150"/>
              <a:ext cx="2433535" cy="600710"/>
            </a:xfrm>
            <a:prstGeom prst="rect">
              <a:avLst/>
            </a:prstGeom>
          </p:spPr>
          <p:txBody>
            <a:bodyPr anchor="t" rtlCol="false" tIns="0" lIns="0" bIns="0" rIns="0">
              <a:spAutoFit/>
            </a:bodyPr>
            <a:lstStyle/>
            <a:p>
              <a:pPr algn="l">
                <a:lnSpc>
                  <a:spcPts val="3779"/>
                </a:lnSpc>
              </a:pPr>
              <a:r>
                <a:rPr lang="en-US" sz="2699" spc="-175">
                  <a:solidFill>
                    <a:srgbClr val="000000"/>
                  </a:solidFill>
                  <a:latin typeface="TS Qamus"/>
                  <a:ea typeface="TS Qamus"/>
                  <a:cs typeface="TS Qamus"/>
                  <a:sym typeface="TS Qamus"/>
                </a:rPr>
                <a:t>Mahasiswa</a:t>
              </a:r>
            </a:p>
          </p:txBody>
        </p:sp>
      </p:grpSp>
      <p:sp>
        <p:nvSpPr>
          <p:cNvPr name="TextBox 31" id="31"/>
          <p:cNvSpPr txBox="true"/>
          <p:nvPr/>
        </p:nvSpPr>
        <p:spPr>
          <a:xfrm rot="0">
            <a:off x="7273578" y="2703774"/>
            <a:ext cx="4124995" cy="1796923"/>
          </a:xfrm>
          <a:prstGeom prst="rect">
            <a:avLst/>
          </a:prstGeom>
        </p:spPr>
        <p:txBody>
          <a:bodyPr anchor="t" rtlCol="false" tIns="0" lIns="0" bIns="0" rIns="0">
            <a:spAutoFit/>
          </a:bodyPr>
          <a:lstStyle/>
          <a:p>
            <a:pPr algn="l">
              <a:lnSpc>
                <a:spcPts val="3595"/>
              </a:lnSpc>
            </a:pPr>
            <a:r>
              <a:rPr lang="en-US" sz="3099" spc="-201">
                <a:solidFill>
                  <a:srgbClr val="000000"/>
                </a:solidFill>
                <a:latin typeface="TS Qamus"/>
                <a:ea typeface="TS Qamus"/>
                <a:cs typeface="TS Qamus"/>
                <a:sym typeface="TS Qamus"/>
              </a:rPr>
              <a:t>rekomendasi karir personal dan informasi kompetensi yang perludipenuhi.</a:t>
            </a:r>
          </a:p>
        </p:txBody>
      </p:sp>
      <p:grpSp>
        <p:nvGrpSpPr>
          <p:cNvPr name="Group 32" id="32"/>
          <p:cNvGrpSpPr/>
          <p:nvPr/>
        </p:nvGrpSpPr>
        <p:grpSpPr>
          <a:xfrm rot="0">
            <a:off x="12846783" y="6042679"/>
            <a:ext cx="2316798" cy="407670"/>
            <a:chOff x="0" y="0"/>
            <a:chExt cx="3089064" cy="543560"/>
          </a:xfrm>
        </p:grpSpPr>
        <p:sp>
          <p:nvSpPr>
            <p:cNvPr name="Freeform 33" id="33"/>
            <p:cNvSpPr/>
            <p:nvPr/>
          </p:nvSpPr>
          <p:spPr>
            <a:xfrm flipH="false" flipV="false" rot="0">
              <a:off x="0" y="31709"/>
              <a:ext cx="480142" cy="480142"/>
            </a:xfrm>
            <a:custGeom>
              <a:avLst/>
              <a:gdLst/>
              <a:ahLst/>
              <a:cxnLst/>
              <a:rect r="r" b="b" t="t" l="l"/>
              <a:pathLst>
                <a:path h="480142" w="480142">
                  <a:moveTo>
                    <a:pt x="0" y="0"/>
                  </a:moveTo>
                  <a:lnTo>
                    <a:pt x="480142" y="0"/>
                  </a:lnTo>
                  <a:lnTo>
                    <a:pt x="480142" y="480142"/>
                  </a:lnTo>
                  <a:lnTo>
                    <a:pt x="0" y="48014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34" id="34"/>
            <p:cNvSpPr txBox="true"/>
            <p:nvPr/>
          </p:nvSpPr>
          <p:spPr>
            <a:xfrm rot="0">
              <a:off x="655529" y="-57150"/>
              <a:ext cx="2433535" cy="600710"/>
            </a:xfrm>
            <a:prstGeom prst="rect">
              <a:avLst/>
            </a:prstGeom>
          </p:spPr>
          <p:txBody>
            <a:bodyPr anchor="t" rtlCol="false" tIns="0" lIns="0" bIns="0" rIns="0">
              <a:spAutoFit/>
            </a:bodyPr>
            <a:lstStyle/>
            <a:p>
              <a:pPr algn="l">
                <a:lnSpc>
                  <a:spcPts val="3779"/>
                </a:lnSpc>
              </a:pPr>
              <a:r>
                <a:rPr lang="en-US" sz="2699" spc="-175">
                  <a:solidFill>
                    <a:srgbClr val="000000"/>
                  </a:solidFill>
                  <a:latin typeface="TS Qamus"/>
                  <a:ea typeface="TS Qamus"/>
                  <a:cs typeface="TS Qamus"/>
                  <a:sym typeface="TS Qamus"/>
                </a:rPr>
                <a:t>BRIN</a:t>
              </a:r>
            </a:p>
          </p:txBody>
        </p:sp>
      </p:grpSp>
      <p:sp>
        <p:nvSpPr>
          <p:cNvPr name="TextBox 35" id="35"/>
          <p:cNvSpPr txBox="true"/>
          <p:nvPr/>
        </p:nvSpPr>
        <p:spPr>
          <a:xfrm rot="0">
            <a:off x="12894182" y="6835635"/>
            <a:ext cx="4124995" cy="1796923"/>
          </a:xfrm>
          <a:prstGeom prst="rect">
            <a:avLst/>
          </a:prstGeom>
        </p:spPr>
        <p:txBody>
          <a:bodyPr anchor="t" rtlCol="false" tIns="0" lIns="0" bIns="0" rIns="0">
            <a:spAutoFit/>
          </a:bodyPr>
          <a:lstStyle/>
          <a:p>
            <a:pPr algn="l" marL="0" indent="0" lvl="0">
              <a:lnSpc>
                <a:spcPts val="3595"/>
              </a:lnSpc>
              <a:spcBef>
                <a:spcPct val="0"/>
              </a:spcBef>
            </a:pPr>
            <a:r>
              <a:rPr lang="en-US" sz="3099" spc="-201" strike="noStrike" u="none">
                <a:solidFill>
                  <a:srgbClr val="000000"/>
                </a:solidFill>
                <a:latin typeface="TS Qamus"/>
                <a:ea typeface="TS Qamus"/>
                <a:cs typeface="TS Qamus"/>
                <a:sym typeface="TS Qamus"/>
              </a:rPr>
              <a:t>prototipe sistem rekomendasi karir terintegrasi untuk ekosistem OBE.</a:t>
            </a:r>
          </a:p>
        </p:txBody>
      </p:sp>
      <p:grpSp>
        <p:nvGrpSpPr>
          <p:cNvPr name="Group 36" id="36"/>
          <p:cNvGrpSpPr/>
          <p:nvPr/>
        </p:nvGrpSpPr>
        <p:grpSpPr>
          <a:xfrm rot="0">
            <a:off x="7273578" y="6165051"/>
            <a:ext cx="3289995" cy="407670"/>
            <a:chOff x="0" y="0"/>
            <a:chExt cx="4386661" cy="543560"/>
          </a:xfrm>
        </p:grpSpPr>
        <p:sp>
          <p:nvSpPr>
            <p:cNvPr name="Freeform 37" id="37"/>
            <p:cNvSpPr/>
            <p:nvPr/>
          </p:nvSpPr>
          <p:spPr>
            <a:xfrm flipH="false" flipV="false" rot="0">
              <a:off x="0" y="31709"/>
              <a:ext cx="480142" cy="480142"/>
            </a:xfrm>
            <a:custGeom>
              <a:avLst/>
              <a:gdLst/>
              <a:ahLst/>
              <a:cxnLst/>
              <a:rect r="r" b="b" t="t" l="l"/>
              <a:pathLst>
                <a:path h="480142" w="480142">
                  <a:moveTo>
                    <a:pt x="0" y="0"/>
                  </a:moveTo>
                  <a:lnTo>
                    <a:pt x="480142" y="0"/>
                  </a:lnTo>
                  <a:lnTo>
                    <a:pt x="480142" y="480142"/>
                  </a:lnTo>
                  <a:lnTo>
                    <a:pt x="0" y="48014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38" id="38"/>
            <p:cNvSpPr txBox="true"/>
            <p:nvPr/>
          </p:nvSpPr>
          <p:spPr>
            <a:xfrm rot="0">
              <a:off x="655529" y="-57150"/>
              <a:ext cx="3731132" cy="600710"/>
            </a:xfrm>
            <a:prstGeom prst="rect">
              <a:avLst/>
            </a:prstGeom>
          </p:spPr>
          <p:txBody>
            <a:bodyPr anchor="t" rtlCol="false" tIns="0" lIns="0" bIns="0" rIns="0">
              <a:spAutoFit/>
            </a:bodyPr>
            <a:lstStyle/>
            <a:p>
              <a:pPr algn="l">
                <a:lnSpc>
                  <a:spcPts val="3779"/>
                </a:lnSpc>
              </a:pPr>
              <a:r>
                <a:rPr lang="en-US" sz="2699" spc="-175">
                  <a:solidFill>
                    <a:srgbClr val="FFFFFF"/>
                  </a:solidFill>
                  <a:latin typeface="TS Qamus"/>
                  <a:ea typeface="TS Qamus"/>
                  <a:cs typeface="TS Qamus"/>
                  <a:sym typeface="TS Qamus"/>
                </a:rPr>
                <a:t>Perguruan tinggi </a:t>
              </a:r>
            </a:p>
          </p:txBody>
        </p:sp>
      </p:grpSp>
      <p:sp>
        <p:nvSpPr>
          <p:cNvPr name="TextBox 39" id="39"/>
          <p:cNvSpPr txBox="true"/>
          <p:nvPr/>
        </p:nvSpPr>
        <p:spPr>
          <a:xfrm rot="0">
            <a:off x="7320977" y="6958006"/>
            <a:ext cx="4124995" cy="1796923"/>
          </a:xfrm>
          <a:prstGeom prst="rect">
            <a:avLst/>
          </a:prstGeom>
        </p:spPr>
        <p:txBody>
          <a:bodyPr anchor="t" rtlCol="false" tIns="0" lIns="0" bIns="0" rIns="0">
            <a:spAutoFit/>
          </a:bodyPr>
          <a:lstStyle/>
          <a:p>
            <a:pPr algn="l" marL="0" indent="0" lvl="0">
              <a:lnSpc>
                <a:spcPts val="3595"/>
              </a:lnSpc>
              <a:spcBef>
                <a:spcPct val="0"/>
              </a:spcBef>
            </a:pPr>
            <a:r>
              <a:rPr lang="en-US" sz="3099" spc="-201">
                <a:solidFill>
                  <a:srgbClr val="FFFFFF"/>
                </a:solidFill>
                <a:latin typeface="TS Qamus"/>
                <a:ea typeface="TS Qamus"/>
                <a:cs typeface="TS Qamus"/>
                <a:sym typeface="TS Qamus"/>
              </a:rPr>
              <a:t>wawa</a:t>
            </a:r>
            <a:r>
              <a:rPr lang="en-US" sz="3099" spc="-201" strike="noStrike" u="none">
                <a:solidFill>
                  <a:srgbClr val="FFFFFF"/>
                </a:solidFill>
                <a:latin typeface="TS Qamus"/>
                <a:ea typeface="TS Qamus"/>
                <a:cs typeface="TS Qamus"/>
                <a:sym typeface="TS Qamus"/>
              </a:rPr>
              <a:t>s</a:t>
            </a:r>
            <a:r>
              <a:rPr lang="en-US" sz="3099" spc="-201" strike="noStrike" u="none">
                <a:solidFill>
                  <a:srgbClr val="FFFFFF"/>
                </a:solidFill>
                <a:latin typeface="TS Qamus"/>
                <a:ea typeface="TS Qamus"/>
                <a:cs typeface="TS Qamus"/>
                <a:sym typeface="TS Qamus"/>
              </a:rPr>
              <a:t>an</a:t>
            </a:r>
            <a:r>
              <a:rPr lang="en-US" sz="3099" spc="-201" strike="noStrike" u="none">
                <a:solidFill>
                  <a:srgbClr val="FFFFFF"/>
                </a:solidFill>
                <a:latin typeface="TS Qamus"/>
                <a:ea typeface="TS Qamus"/>
                <a:cs typeface="TS Qamus"/>
                <a:sym typeface="TS Qamus"/>
              </a:rPr>
              <a:t> </a:t>
            </a:r>
            <a:r>
              <a:rPr lang="en-US" sz="3099" spc="-201" strike="noStrike" u="none">
                <a:solidFill>
                  <a:srgbClr val="FFFFFF"/>
                </a:solidFill>
                <a:latin typeface="TS Qamus"/>
                <a:ea typeface="TS Qamus"/>
                <a:cs typeface="TS Qamus"/>
                <a:sym typeface="TS Qamus"/>
              </a:rPr>
              <a:t>b</a:t>
            </a:r>
            <a:r>
              <a:rPr lang="en-US" sz="3099" spc="-201" strike="noStrike" u="none">
                <a:solidFill>
                  <a:srgbClr val="FFFFFF"/>
                </a:solidFill>
                <a:latin typeface="TS Qamus"/>
                <a:ea typeface="TS Qamus"/>
                <a:cs typeface="TS Qamus"/>
                <a:sym typeface="TS Qamus"/>
              </a:rPr>
              <a:t>e</a:t>
            </a:r>
            <a:r>
              <a:rPr lang="en-US" sz="3099" spc="-201" strike="noStrike" u="none">
                <a:solidFill>
                  <a:srgbClr val="FFFFFF"/>
                </a:solidFill>
                <a:latin typeface="TS Qamus"/>
                <a:ea typeface="TS Qamus"/>
                <a:cs typeface="TS Qamus"/>
                <a:sym typeface="TS Qamus"/>
              </a:rPr>
              <a:t>rb</a:t>
            </a:r>
            <a:r>
              <a:rPr lang="en-US" sz="3099" spc="-201" strike="noStrike" u="none">
                <a:solidFill>
                  <a:srgbClr val="FFFFFF"/>
                </a:solidFill>
                <a:latin typeface="TS Qamus"/>
                <a:ea typeface="TS Qamus"/>
                <a:cs typeface="TS Qamus"/>
                <a:sym typeface="TS Qamus"/>
              </a:rPr>
              <a:t>asi</a:t>
            </a:r>
            <a:r>
              <a:rPr lang="en-US" sz="3099" spc="-201" strike="noStrike" u="none">
                <a:solidFill>
                  <a:srgbClr val="FFFFFF"/>
                </a:solidFill>
                <a:latin typeface="TS Qamus"/>
                <a:ea typeface="TS Qamus"/>
                <a:cs typeface="TS Qamus"/>
                <a:sym typeface="TS Qamus"/>
              </a:rPr>
              <a:t>s</a:t>
            </a:r>
            <a:r>
              <a:rPr lang="en-US" sz="3099" spc="-201" strike="noStrike" u="none">
                <a:solidFill>
                  <a:srgbClr val="FFFFFF"/>
                </a:solidFill>
                <a:latin typeface="TS Qamus"/>
                <a:ea typeface="TS Qamus"/>
                <a:cs typeface="TS Qamus"/>
                <a:sym typeface="TS Qamus"/>
              </a:rPr>
              <a:t> </a:t>
            </a:r>
            <a:r>
              <a:rPr lang="en-US" sz="3099" spc="-201" strike="noStrike" u="none">
                <a:solidFill>
                  <a:srgbClr val="FFFFFF"/>
                </a:solidFill>
                <a:latin typeface="TS Qamus"/>
                <a:ea typeface="TS Qamus"/>
                <a:cs typeface="TS Qamus"/>
                <a:sym typeface="TS Qamus"/>
              </a:rPr>
              <a:t>d</a:t>
            </a:r>
            <a:r>
              <a:rPr lang="en-US" sz="3099" spc="-201" strike="noStrike" u="none">
                <a:solidFill>
                  <a:srgbClr val="FFFFFF"/>
                </a:solidFill>
                <a:latin typeface="TS Qamus"/>
                <a:ea typeface="TS Qamus"/>
                <a:cs typeface="TS Qamus"/>
                <a:sym typeface="TS Qamus"/>
              </a:rPr>
              <a:t>ata untuk</a:t>
            </a:r>
            <a:r>
              <a:rPr lang="en-US" sz="3099" spc="-201" strike="noStrike" u="none">
                <a:solidFill>
                  <a:srgbClr val="FFFFFF"/>
                </a:solidFill>
                <a:latin typeface="TS Qamus"/>
                <a:ea typeface="TS Qamus"/>
                <a:cs typeface="TS Qamus"/>
                <a:sym typeface="TS Qamus"/>
              </a:rPr>
              <a:t>p</a:t>
            </a:r>
            <a:r>
              <a:rPr lang="en-US" sz="3099" spc="-201" strike="noStrike" u="none">
                <a:solidFill>
                  <a:srgbClr val="FFFFFF"/>
                </a:solidFill>
                <a:latin typeface="TS Qamus"/>
                <a:ea typeface="TS Qamus"/>
                <a:cs typeface="TS Qamus"/>
                <a:sym typeface="TS Qamus"/>
              </a:rPr>
              <a:t>e</a:t>
            </a:r>
            <a:r>
              <a:rPr lang="en-US" sz="3099" spc="-201" strike="noStrike" u="none">
                <a:solidFill>
                  <a:srgbClr val="FFFFFF"/>
                </a:solidFill>
                <a:latin typeface="TS Qamus"/>
                <a:ea typeface="TS Qamus"/>
                <a:cs typeface="TS Qamus"/>
                <a:sym typeface="TS Qamus"/>
              </a:rPr>
              <a:t>ng</a:t>
            </a:r>
            <a:r>
              <a:rPr lang="en-US" sz="3099" spc="-201" strike="noStrike" u="none">
                <a:solidFill>
                  <a:srgbClr val="FFFFFF"/>
                </a:solidFill>
                <a:latin typeface="TS Qamus"/>
                <a:ea typeface="TS Qamus"/>
                <a:cs typeface="TS Qamus"/>
                <a:sym typeface="TS Qamus"/>
              </a:rPr>
              <a:t>em</a:t>
            </a:r>
            <a:r>
              <a:rPr lang="en-US" sz="3099" spc="-201" strike="noStrike" u="none">
                <a:solidFill>
                  <a:srgbClr val="FFFFFF"/>
                </a:solidFill>
                <a:latin typeface="TS Qamus"/>
                <a:ea typeface="TS Qamus"/>
                <a:cs typeface="TS Qamus"/>
                <a:sym typeface="TS Qamus"/>
              </a:rPr>
              <a:t>bangan</a:t>
            </a:r>
            <a:r>
              <a:rPr lang="en-US" sz="3099" spc="-201" strike="noStrike" u="none">
                <a:solidFill>
                  <a:srgbClr val="FFFFFF"/>
                </a:solidFill>
                <a:latin typeface="TS Qamus"/>
                <a:ea typeface="TS Qamus"/>
                <a:cs typeface="TS Qamus"/>
                <a:sym typeface="TS Qamus"/>
              </a:rPr>
              <a:t> </a:t>
            </a:r>
            <a:r>
              <a:rPr lang="en-US" sz="3099" spc="-201" strike="noStrike" u="none">
                <a:solidFill>
                  <a:srgbClr val="FFFFFF"/>
                </a:solidFill>
                <a:latin typeface="TS Qamus"/>
                <a:ea typeface="TS Qamus"/>
                <a:cs typeface="TS Qamus"/>
                <a:sym typeface="TS Qamus"/>
              </a:rPr>
              <a:t>kurikulum</a:t>
            </a:r>
            <a:r>
              <a:rPr lang="en-US" sz="3099" spc="-201" strike="noStrike" u="none">
                <a:solidFill>
                  <a:srgbClr val="FFFFFF"/>
                </a:solidFill>
                <a:latin typeface="TS Qamus"/>
                <a:ea typeface="TS Qamus"/>
                <a:cs typeface="TS Qamus"/>
                <a:sym typeface="TS Qamus"/>
              </a:rPr>
              <a:t>.</a:t>
            </a:r>
          </a:p>
        </p:txBody>
      </p:sp>
      <p:grpSp>
        <p:nvGrpSpPr>
          <p:cNvPr name="Group 40" id="40"/>
          <p:cNvGrpSpPr/>
          <p:nvPr/>
        </p:nvGrpSpPr>
        <p:grpSpPr>
          <a:xfrm rot="0">
            <a:off x="12894182" y="1910818"/>
            <a:ext cx="3938794" cy="407670"/>
            <a:chOff x="0" y="0"/>
            <a:chExt cx="5251725" cy="543560"/>
          </a:xfrm>
        </p:grpSpPr>
        <p:sp>
          <p:nvSpPr>
            <p:cNvPr name="Freeform 41" id="41"/>
            <p:cNvSpPr/>
            <p:nvPr/>
          </p:nvSpPr>
          <p:spPr>
            <a:xfrm flipH="false" flipV="false" rot="0">
              <a:off x="0" y="31709"/>
              <a:ext cx="480142" cy="480142"/>
            </a:xfrm>
            <a:custGeom>
              <a:avLst/>
              <a:gdLst/>
              <a:ahLst/>
              <a:cxnLst/>
              <a:rect r="r" b="b" t="t" l="l"/>
              <a:pathLst>
                <a:path h="480142" w="480142">
                  <a:moveTo>
                    <a:pt x="0" y="0"/>
                  </a:moveTo>
                  <a:lnTo>
                    <a:pt x="480142" y="0"/>
                  </a:lnTo>
                  <a:lnTo>
                    <a:pt x="480142" y="480142"/>
                  </a:lnTo>
                  <a:lnTo>
                    <a:pt x="0" y="48014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42" id="42"/>
            <p:cNvSpPr txBox="true"/>
            <p:nvPr/>
          </p:nvSpPr>
          <p:spPr>
            <a:xfrm rot="0">
              <a:off x="655529" y="-57150"/>
              <a:ext cx="4596196" cy="600710"/>
            </a:xfrm>
            <a:prstGeom prst="rect">
              <a:avLst/>
            </a:prstGeom>
          </p:spPr>
          <p:txBody>
            <a:bodyPr anchor="t" rtlCol="false" tIns="0" lIns="0" bIns="0" rIns="0">
              <a:spAutoFit/>
            </a:bodyPr>
            <a:lstStyle/>
            <a:p>
              <a:pPr algn="l">
                <a:lnSpc>
                  <a:spcPts val="3779"/>
                </a:lnSpc>
              </a:pPr>
              <a:r>
                <a:rPr lang="en-US" sz="2699" spc="-175">
                  <a:solidFill>
                    <a:srgbClr val="FFFFFF"/>
                  </a:solidFill>
                  <a:latin typeface="TS Qamus"/>
                  <a:ea typeface="TS Qamus"/>
                  <a:cs typeface="TS Qamus"/>
                  <a:sym typeface="TS Qamus"/>
                </a:rPr>
                <a:t>Perusahaan/industri </a:t>
              </a:r>
            </a:p>
          </p:txBody>
        </p:sp>
      </p:grpSp>
      <p:sp>
        <p:nvSpPr>
          <p:cNvPr name="TextBox 43" id="43"/>
          <p:cNvSpPr txBox="true"/>
          <p:nvPr/>
        </p:nvSpPr>
        <p:spPr>
          <a:xfrm rot="0">
            <a:off x="12941581" y="2703774"/>
            <a:ext cx="4124995" cy="1796923"/>
          </a:xfrm>
          <a:prstGeom prst="rect">
            <a:avLst/>
          </a:prstGeom>
        </p:spPr>
        <p:txBody>
          <a:bodyPr anchor="t" rtlCol="false" tIns="0" lIns="0" bIns="0" rIns="0">
            <a:spAutoFit/>
          </a:bodyPr>
          <a:lstStyle/>
          <a:p>
            <a:pPr algn="l" marL="0" indent="0" lvl="0">
              <a:lnSpc>
                <a:spcPts val="3595"/>
              </a:lnSpc>
              <a:spcBef>
                <a:spcPct val="0"/>
              </a:spcBef>
            </a:pPr>
            <a:r>
              <a:rPr lang="en-US" sz="3099" spc="-201">
                <a:solidFill>
                  <a:srgbClr val="FFFFFF"/>
                </a:solidFill>
                <a:latin typeface="TS Qamus"/>
                <a:ea typeface="TS Qamus"/>
                <a:cs typeface="TS Qamus"/>
                <a:sym typeface="TS Qamus"/>
              </a:rPr>
              <a:t>talent pool recommend</a:t>
            </a:r>
            <a:r>
              <a:rPr lang="en-US" sz="3099" spc="-201" strike="noStrike" u="none">
                <a:solidFill>
                  <a:srgbClr val="FFFFFF"/>
                </a:solidFill>
                <a:latin typeface="TS Qamus"/>
                <a:ea typeface="TS Qamus"/>
                <a:cs typeface="TS Qamus"/>
                <a:sym typeface="TS Qamus"/>
              </a:rPr>
              <a:t>a</a:t>
            </a:r>
            <a:r>
              <a:rPr lang="en-US" sz="3099" spc="-201" strike="noStrike" u="none">
                <a:solidFill>
                  <a:srgbClr val="FFFFFF"/>
                </a:solidFill>
                <a:latin typeface="TS Qamus"/>
                <a:ea typeface="TS Qamus"/>
                <a:cs typeface="TS Qamus"/>
                <a:sym typeface="TS Qamus"/>
              </a:rPr>
              <a:t>tio</a:t>
            </a:r>
            <a:r>
              <a:rPr lang="en-US" sz="3099" spc="-201" strike="noStrike" u="none">
                <a:solidFill>
                  <a:srgbClr val="FFFFFF"/>
                </a:solidFill>
                <a:latin typeface="TS Qamus"/>
                <a:ea typeface="TS Qamus"/>
                <a:cs typeface="TS Qamus"/>
                <a:sym typeface="TS Qamus"/>
              </a:rPr>
              <a:t>n berbasis kompeten</a:t>
            </a:r>
            <a:r>
              <a:rPr lang="en-US" sz="3099" spc="-201" strike="noStrike" u="none">
                <a:solidFill>
                  <a:srgbClr val="FFFFFF"/>
                </a:solidFill>
                <a:latin typeface="TS Qamus"/>
                <a:ea typeface="TS Qamus"/>
                <a:cs typeface="TS Qamus"/>
                <a:sym typeface="TS Qamus"/>
              </a:rPr>
              <a:t>si</a:t>
            </a:r>
            <a:r>
              <a:rPr lang="en-US" sz="3099" spc="-201" strike="noStrike" u="none">
                <a:solidFill>
                  <a:srgbClr val="FFFFFF"/>
                </a:solidFill>
                <a:latin typeface="TS Qamus"/>
                <a:ea typeface="TS Qamus"/>
                <a:cs typeface="TS Qamus"/>
                <a:sym typeface="TS Qamus"/>
              </a:rPr>
              <a:t> terukur.</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777" r="0" b="-1777"/>
            </a:stretch>
          </a:blipFill>
        </p:spPr>
      </p:sp>
      <p:sp>
        <p:nvSpPr>
          <p:cNvPr name="AutoShape 3" id="3"/>
          <p:cNvSpPr/>
          <p:nvPr/>
        </p:nvSpPr>
        <p:spPr>
          <a:xfrm>
            <a:off x="10038640" y="-468675"/>
            <a:ext cx="0" cy="11118486"/>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
        <p:nvSpPr>
          <p:cNvPr name="AutoShape 4" id="4"/>
          <p:cNvSpPr/>
          <p:nvPr/>
        </p:nvSpPr>
        <p:spPr>
          <a:xfrm>
            <a:off x="477889" y="-448043"/>
            <a:ext cx="0" cy="11118486"/>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
        <p:nvSpPr>
          <p:cNvPr name="Freeform 5" id="5"/>
          <p:cNvSpPr/>
          <p:nvPr/>
        </p:nvSpPr>
        <p:spPr>
          <a:xfrm flipH="false" flipV="false" rot="0">
            <a:off x="783373" y="515779"/>
            <a:ext cx="443469" cy="305994"/>
          </a:xfrm>
          <a:custGeom>
            <a:avLst/>
            <a:gdLst/>
            <a:ahLst/>
            <a:cxnLst/>
            <a:rect r="r" b="b" t="t" l="l"/>
            <a:pathLst>
              <a:path h="305994" w="443469">
                <a:moveTo>
                  <a:pt x="0" y="0"/>
                </a:moveTo>
                <a:lnTo>
                  <a:pt x="443469" y="0"/>
                </a:lnTo>
                <a:lnTo>
                  <a:pt x="443469" y="305993"/>
                </a:lnTo>
                <a:lnTo>
                  <a:pt x="0" y="30599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16845300" y="391766"/>
            <a:ext cx="635507" cy="554019"/>
            <a:chOff x="0" y="0"/>
            <a:chExt cx="167376" cy="145915"/>
          </a:xfrm>
        </p:grpSpPr>
        <p:sp>
          <p:nvSpPr>
            <p:cNvPr name="Freeform 7" id="7"/>
            <p:cNvSpPr/>
            <p:nvPr/>
          </p:nvSpPr>
          <p:spPr>
            <a:xfrm flipH="false" flipV="false" rot="0">
              <a:off x="0" y="0"/>
              <a:ext cx="167376" cy="145915"/>
            </a:xfrm>
            <a:custGeom>
              <a:avLst/>
              <a:gdLst/>
              <a:ahLst/>
              <a:cxnLst/>
              <a:rect r="r" b="b" t="t" l="l"/>
              <a:pathLst>
                <a:path h="145915" w="167376">
                  <a:moveTo>
                    <a:pt x="72957" y="0"/>
                  </a:moveTo>
                  <a:lnTo>
                    <a:pt x="94419" y="0"/>
                  </a:lnTo>
                  <a:cubicBezTo>
                    <a:pt x="134712" y="0"/>
                    <a:pt x="167376" y="32664"/>
                    <a:pt x="167376" y="72957"/>
                  </a:cubicBezTo>
                  <a:lnTo>
                    <a:pt x="167376" y="72957"/>
                  </a:lnTo>
                  <a:cubicBezTo>
                    <a:pt x="167376" y="113250"/>
                    <a:pt x="134712" y="145915"/>
                    <a:pt x="94419" y="145915"/>
                  </a:cubicBezTo>
                  <a:lnTo>
                    <a:pt x="72957" y="145915"/>
                  </a:lnTo>
                  <a:cubicBezTo>
                    <a:pt x="32664" y="145915"/>
                    <a:pt x="0" y="113250"/>
                    <a:pt x="0" y="72957"/>
                  </a:cubicBezTo>
                  <a:lnTo>
                    <a:pt x="0" y="72957"/>
                  </a:lnTo>
                  <a:cubicBezTo>
                    <a:pt x="0" y="32664"/>
                    <a:pt x="32664" y="0"/>
                    <a:pt x="72957" y="0"/>
                  </a:cubicBezTo>
                  <a:close/>
                </a:path>
              </a:pathLst>
            </a:custGeom>
            <a:gradFill rotWithShape="true">
              <a:gsLst>
                <a:gs pos="0">
                  <a:srgbClr val="9B9B9B">
                    <a:alpha val="28000"/>
                  </a:srgbClr>
                </a:gs>
                <a:gs pos="25000">
                  <a:srgbClr val="FFFFFF">
                    <a:alpha val="29000"/>
                  </a:srgbClr>
                </a:gs>
                <a:gs pos="50000">
                  <a:srgbClr val="FFFFFF">
                    <a:alpha val="44500"/>
                  </a:srgbClr>
                </a:gs>
                <a:gs pos="75000">
                  <a:srgbClr val="FFFFFF">
                    <a:alpha val="29000"/>
                  </a:srgbClr>
                </a:gs>
                <a:gs pos="100000">
                  <a:srgbClr val="9B9B9B">
                    <a:alpha val="28000"/>
                  </a:srgbClr>
                </a:gs>
              </a:gsLst>
              <a:lin ang="2700000"/>
            </a:grad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8" id="8"/>
            <p:cNvSpPr txBox="true"/>
            <p:nvPr/>
          </p:nvSpPr>
          <p:spPr>
            <a:xfrm>
              <a:off x="0" y="-47625"/>
              <a:ext cx="167376" cy="193540"/>
            </a:xfrm>
            <a:prstGeom prst="rect">
              <a:avLst/>
            </a:prstGeom>
          </p:spPr>
          <p:txBody>
            <a:bodyPr anchor="ctr" rtlCol="false" tIns="50800" lIns="50800" bIns="50800" rIns="50800"/>
            <a:lstStyle/>
            <a:p>
              <a:pPr algn="ctr">
                <a:lnSpc>
                  <a:spcPts val="3359"/>
                </a:lnSpc>
              </a:pPr>
            </a:p>
          </p:txBody>
        </p:sp>
      </p:grpSp>
      <p:grpSp>
        <p:nvGrpSpPr>
          <p:cNvPr name="Group 9" id="9"/>
          <p:cNvGrpSpPr/>
          <p:nvPr/>
        </p:nvGrpSpPr>
        <p:grpSpPr>
          <a:xfrm rot="0">
            <a:off x="13913154" y="391766"/>
            <a:ext cx="2743897" cy="554019"/>
            <a:chOff x="0" y="0"/>
            <a:chExt cx="722672" cy="145915"/>
          </a:xfrm>
        </p:grpSpPr>
        <p:sp>
          <p:nvSpPr>
            <p:cNvPr name="Freeform 10" id="10"/>
            <p:cNvSpPr/>
            <p:nvPr/>
          </p:nvSpPr>
          <p:spPr>
            <a:xfrm flipH="false" flipV="false" rot="0">
              <a:off x="0" y="0"/>
              <a:ext cx="722672" cy="145915"/>
            </a:xfrm>
            <a:custGeom>
              <a:avLst/>
              <a:gdLst/>
              <a:ahLst/>
              <a:cxnLst/>
              <a:rect r="r" b="b" t="t" l="l"/>
              <a:pathLst>
                <a:path h="145915" w="722672">
                  <a:moveTo>
                    <a:pt x="72957" y="0"/>
                  </a:moveTo>
                  <a:lnTo>
                    <a:pt x="649715" y="0"/>
                  </a:lnTo>
                  <a:cubicBezTo>
                    <a:pt x="690008" y="0"/>
                    <a:pt x="722672" y="32664"/>
                    <a:pt x="722672" y="72957"/>
                  </a:cubicBezTo>
                  <a:lnTo>
                    <a:pt x="722672" y="72957"/>
                  </a:lnTo>
                  <a:cubicBezTo>
                    <a:pt x="722672" y="113250"/>
                    <a:pt x="690008" y="145915"/>
                    <a:pt x="649715" y="145915"/>
                  </a:cubicBezTo>
                  <a:lnTo>
                    <a:pt x="72957" y="145915"/>
                  </a:lnTo>
                  <a:cubicBezTo>
                    <a:pt x="32664" y="145915"/>
                    <a:pt x="0" y="113250"/>
                    <a:pt x="0" y="72957"/>
                  </a:cubicBezTo>
                  <a:lnTo>
                    <a:pt x="0" y="72957"/>
                  </a:lnTo>
                  <a:cubicBezTo>
                    <a:pt x="0" y="32664"/>
                    <a:pt x="32664" y="0"/>
                    <a:pt x="72957" y="0"/>
                  </a:cubicBezTo>
                  <a:close/>
                </a:path>
              </a:pathLst>
            </a:custGeom>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11" id="11"/>
            <p:cNvSpPr txBox="true"/>
            <p:nvPr/>
          </p:nvSpPr>
          <p:spPr>
            <a:xfrm>
              <a:off x="0" y="-47625"/>
              <a:ext cx="722672" cy="193540"/>
            </a:xfrm>
            <a:prstGeom prst="rect">
              <a:avLst/>
            </a:prstGeom>
          </p:spPr>
          <p:txBody>
            <a:bodyPr anchor="ctr" rtlCol="false" tIns="50800" lIns="50800" bIns="50800" rIns="50800"/>
            <a:lstStyle/>
            <a:p>
              <a:pPr algn="ctr">
                <a:lnSpc>
                  <a:spcPts val="3359"/>
                </a:lnSpc>
              </a:pPr>
            </a:p>
          </p:txBody>
        </p:sp>
      </p:grpSp>
      <p:grpSp>
        <p:nvGrpSpPr>
          <p:cNvPr name="Group 12" id="12"/>
          <p:cNvGrpSpPr/>
          <p:nvPr/>
        </p:nvGrpSpPr>
        <p:grpSpPr>
          <a:xfrm rot="0">
            <a:off x="6476000" y="391766"/>
            <a:ext cx="3341946" cy="554019"/>
            <a:chOff x="0" y="0"/>
            <a:chExt cx="880183" cy="145915"/>
          </a:xfrm>
        </p:grpSpPr>
        <p:sp>
          <p:nvSpPr>
            <p:cNvPr name="Freeform 13" id="13"/>
            <p:cNvSpPr/>
            <p:nvPr/>
          </p:nvSpPr>
          <p:spPr>
            <a:xfrm flipH="false" flipV="false" rot="0">
              <a:off x="0" y="0"/>
              <a:ext cx="880183" cy="145915"/>
            </a:xfrm>
            <a:custGeom>
              <a:avLst/>
              <a:gdLst/>
              <a:ahLst/>
              <a:cxnLst/>
              <a:rect r="r" b="b" t="t" l="l"/>
              <a:pathLst>
                <a:path h="145915" w="880183">
                  <a:moveTo>
                    <a:pt x="72957" y="0"/>
                  </a:moveTo>
                  <a:lnTo>
                    <a:pt x="807226" y="0"/>
                  </a:lnTo>
                  <a:cubicBezTo>
                    <a:pt x="847519" y="0"/>
                    <a:pt x="880183" y="32664"/>
                    <a:pt x="880183" y="72957"/>
                  </a:cubicBezTo>
                  <a:lnTo>
                    <a:pt x="880183" y="72957"/>
                  </a:lnTo>
                  <a:cubicBezTo>
                    <a:pt x="880183" y="113250"/>
                    <a:pt x="847519" y="145915"/>
                    <a:pt x="807226" y="145915"/>
                  </a:cubicBezTo>
                  <a:lnTo>
                    <a:pt x="72957" y="145915"/>
                  </a:lnTo>
                  <a:cubicBezTo>
                    <a:pt x="32664" y="145915"/>
                    <a:pt x="0" y="113250"/>
                    <a:pt x="0" y="72957"/>
                  </a:cubicBezTo>
                  <a:lnTo>
                    <a:pt x="0" y="72957"/>
                  </a:lnTo>
                  <a:cubicBezTo>
                    <a:pt x="0" y="32664"/>
                    <a:pt x="32664" y="0"/>
                    <a:pt x="72957" y="0"/>
                  </a:cubicBezTo>
                  <a:close/>
                </a:path>
              </a:pathLst>
            </a:custGeom>
            <a:solidFill>
              <a:srgbClr val="FFFFFF"/>
            </a:solid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14" id="14"/>
            <p:cNvSpPr txBox="true"/>
            <p:nvPr/>
          </p:nvSpPr>
          <p:spPr>
            <a:xfrm>
              <a:off x="0" y="-47625"/>
              <a:ext cx="880183" cy="193540"/>
            </a:xfrm>
            <a:prstGeom prst="rect">
              <a:avLst/>
            </a:prstGeom>
          </p:spPr>
          <p:txBody>
            <a:bodyPr anchor="ctr" rtlCol="false" tIns="50800" lIns="50800" bIns="50800" rIns="50800"/>
            <a:lstStyle/>
            <a:p>
              <a:pPr algn="ctr">
                <a:lnSpc>
                  <a:spcPts val="3359"/>
                </a:lnSpc>
              </a:pPr>
            </a:p>
          </p:txBody>
        </p:sp>
      </p:grpSp>
      <p:sp>
        <p:nvSpPr>
          <p:cNvPr name="AutoShape 15" id="15"/>
          <p:cNvSpPr/>
          <p:nvPr/>
        </p:nvSpPr>
        <p:spPr>
          <a:xfrm>
            <a:off x="477889" y="3841062"/>
            <a:ext cx="9560751" cy="0"/>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
        <p:nvSpPr>
          <p:cNvPr name="AutoShape 16" id="16"/>
          <p:cNvSpPr/>
          <p:nvPr/>
        </p:nvSpPr>
        <p:spPr>
          <a:xfrm>
            <a:off x="477889" y="6083801"/>
            <a:ext cx="9560751" cy="0"/>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
        <p:nvSpPr>
          <p:cNvPr name="AutoShape 17" id="17"/>
          <p:cNvSpPr/>
          <p:nvPr/>
        </p:nvSpPr>
        <p:spPr>
          <a:xfrm>
            <a:off x="-417053" y="1167061"/>
            <a:ext cx="19109210" cy="0"/>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
        <p:nvSpPr>
          <p:cNvPr name="AutoShape 18" id="18"/>
          <p:cNvSpPr/>
          <p:nvPr/>
        </p:nvSpPr>
        <p:spPr>
          <a:xfrm flipV="true">
            <a:off x="10038640" y="9780309"/>
            <a:ext cx="8653516" cy="0"/>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
        <p:nvSpPr>
          <p:cNvPr name="TextBox 19" id="19"/>
          <p:cNvSpPr txBox="true"/>
          <p:nvPr/>
        </p:nvSpPr>
        <p:spPr>
          <a:xfrm rot="0">
            <a:off x="1383454" y="471410"/>
            <a:ext cx="2385672" cy="382270"/>
          </a:xfrm>
          <a:prstGeom prst="rect">
            <a:avLst/>
          </a:prstGeom>
        </p:spPr>
        <p:txBody>
          <a:bodyPr anchor="t" rtlCol="false" tIns="0" lIns="0" bIns="0" rIns="0">
            <a:spAutoFit/>
          </a:bodyPr>
          <a:lstStyle/>
          <a:p>
            <a:pPr algn="l">
              <a:lnSpc>
                <a:spcPts val="3079"/>
              </a:lnSpc>
            </a:pPr>
            <a:r>
              <a:rPr lang="en-US" sz="2199" spc="-142">
                <a:solidFill>
                  <a:srgbClr val="FFFFFF"/>
                </a:solidFill>
                <a:latin typeface="TS Qamus"/>
                <a:ea typeface="TS Qamus"/>
                <a:cs typeface="TS Qamus"/>
                <a:sym typeface="TS Qamus"/>
              </a:rPr>
              <a:t>Salford &amp; Co.</a:t>
            </a:r>
          </a:p>
        </p:txBody>
      </p:sp>
      <p:sp>
        <p:nvSpPr>
          <p:cNvPr name="TextBox 20" id="20"/>
          <p:cNvSpPr txBox="true"/>
          <p:nvPr/>
        </p:nvSpPr>
        <p:spPr>
          <a:xfrm rot="0">
            <a:off x="14170902" y="477323"/>
            <a:ext cx="2228402" cy="325755"/>
          </a:xfrm>
          <a:prstGeom prst="rect">
            <a:avLst/>
          </a:prstGeom>
        </p:spPr>
        <p:txBody>
          <a:bodyPr anchor="t" rtlCol="false" tIns="0" lIns="0" bIns="0" rIns="0">
            <a:spAutoFit/>
          </a:bodyPr>
          <a:lstStyle/>
          <a:p>
            <a:pPr algn="ctr">
              <a:lnSpc>
                <a:spcPts val="2520"/>
              </a:lnSpc>
            </a:pPr>
            <a:r>
              <a:rPr lang="en-US" sz="1800" spc="-117">
                <a:solidFill>
                  <a:srgbClr val="FFFFFF"/>
                </a:solidFill>
                <a:latin typeface="Poppins"/>
                <a:ea typeface="Poppins"/>
                <a:cs typeface="Poppins"/>
                <a:sym typeface="Poppins"/>
              </a:rPr>
              <a:t>6 August, 2025</a:t>
            </a:r>
          </a:p>
        </p:txBody>
      </p:sp>
      <p:sp>
        <p:nvSpPr>
          <p:cNvPr name="TextBox 21" id="21"/>
          <p:cNvSpPr txBox="true"/>
          <p:nvPr/>
        </p:nvSpPr>
        <p:spPr>
          <a:xfrm rot="0">
            <a:off x="6740220" y="477323"/>
            <a:ext cx="2820551" cy="325755"/>
          </a:xfrm>
          <a:prstGeom prst="rect">
            <a:avLst/>
          </a:prstGeom>
        </p:spPr>
        <p:txBody>
          <a:bodyPr anchor="t" rtlCol="false" tIns="0" lIns="0" bIns="0" rIns="0">
            <a:spAutoFit/>
          </a:bodyPr>
          <a:lstStyle/>
          <a:p>
            <a:pPr algn="ctr">
              <a:lnSpc>
                <a:spcPts val="2520"/>
              </a:lnSpc>
            </a:pPr>
            <a:r>
              <a:rPr lang="en-US" sz="1800" spc="-117">
                <a:solidFill>
                  <a:srgbClr val="000000"/>
                </a:solidFill>
                <a:latin typeface="Poppins"/>
                <a:ea typeface="Poppins"/>
                <a:cs typeface="Poppins"/>
                <a:sym typeface="Poppins"/>
              </a:rPr>
              <a:t>Social</a:t>
            </a:r>
            <a:r>
              <a:rPr lang="en-US" sz="1800" spc="-117">
                <a:solidFill>
                  <a:srgbClr val="000000"/>
                </a:solidFill>
                <a:latin typeface="Poppins"/>
                <a:ea typeface="Poppins"/>
                <a:cs typeface="Poppins"/>
                <a:sym typeface="Poppins"/>
              </a:rPr>
              <a:t> Media Proposal</a:t>
            </a:r>
          </a:p>
        </p:txBody>
      </p:sp>
      <p:sp>
        <p:nvSpPr>
          <p:cNvPr name="TextBox 22" id="22"/>
          <p:cNvSpPr txBox="true"/>
          <p:nvPr/>
        </p:nvSpPr>
        <p:spPr>
          <a:xfrm rot="0">
            <a:off x="815264" y="1967251"/>
            <a:ext cx="9336079" cy="4790949"/>
          </a:xfrm>
          <a:prstGeom prst="rect">
            <a:avLst/>
          </a:prstGeom>
        </p:spPr>
        <p:txBody>
          <a:bodyPr anchor="t" rtlCol="false" tIns="0" lIns="0" bIns="0" rIns="0">
            <a:spAutoFit/>
          </a:bodyPr>
          <a:lstStyle/>
          <a:p>
            <a:pPr algn="l">
              <a:lnSpc>
                <a:spcPts val="9256"/>
              </a:lnSpc>
            </a:pPr>
            <a:r>
              <a:rPr lang="en-US" sz="10400" spc="-124" b="true">
                <a:solidFill>
                  <a:srgbClr val="FFFFFF"/>
                </a:solidFill>
                <a:latin typeface="Geometrica Sans Medium"/>
                <a:ea typeface="Geometrica Sans Medium"/>
                <a:cs typeface="Geometrica Sans Medium"/>
                <a:sym typeface="Geometrica Sans Medium"/>
              </a:rPr>
              <a:t>Tinjauan Pustaka: Outcome-Based Education</a:t>
            </a:r>
          </a:p>
          <a:p>
            <a:pPr algn="l">
              <a:lnSpc>
                <a:spcPts val="9256"/>
              </a:lnSpc>
            </a:pPr>
          </a:p>
        </p:txBody>
      </p:sp>
      <p:grpSp>
        <p:nvGrpSpPr>
          <p:cNvPr name="Group 23" id="23"/>
          <p:cNvGrpSpPr/>
          <p:nvPr/>
        </p:nvGrpSpPr>
        <p:grpSpPr>
          <a:xfrm rot="0">
            <a:off x="815264" y="6469563"/>
            <a:ext cx="8925680" cy="4616071"/>
            <a:chOff x="0" y="0"/>
            <a:chExt cx="1382821" cy="715150"/>
          </a:xfrm>
        </p:grpSpPr>
        <p:sp>
          <p:nvSpPr>
            <p:cNvPr name="Freeform 24" id="24"/>
            <p:cNvSpPr/>
            <p:nvPr/>
          </p:nvSpPr>
          <p:spPr>
            <a:xfrm flipH="false" flipV="false" rot="0">
              <a:off x="0" y="0"/>
              <a:ext cx="1382821" cy="715150"/>
            </a:xfrm>
            <a:custGeom>
              <a:avLst/>
              <a:gdLst/>
              <a:ahLst/>
              <a:cxnLst/>
              <a:rect r="r" b="b" t="t" l="l"/>
              <a:pathLst>
                <a:path h="715150" w="1382821">
                  <a:moveTo>
                    <a:pt x="34695" y="0"/>
                  </a:moveTo>
                  <a:lnTo>
                    <a:pt x="1348126" y="0"/>
                  </a:lnTo>
                  <a:cubicBezTo>
                    <a:pt x="1357328" y="0"/>
                    <a:pt x="1366153" y="3655"/>
                    <a:pt x="1372659" y="10162"/>
                  </a:cubicBezTo>
                  <a:cubicBezTo>
                    <a:pt x="1379166" y="16669"/>
                    <a:pt x="1382821" y="25493"/>
                    <a:pt x="1382821" y="34695"/>
                  </a:cubicBezTo>
                  <a:lnTo>
                    <a:pt x="1382821" y="680455"/>
                  </a:lnTo>
                  <a:cubicBezTo>
                    <a:pt x="1382821" y="699617"/>
                    <a:pt x="1367288" y="715150"/>
                    <a:pt x="1348126" y="715150"/>
                  </a:cubicBezTo>
                  <a:lnTo>
                    <a:pt x="34695" y="715150"/>
                  </a:lnTo>
                  <a:cubicBezTo>
                    <a:pt x="25493" y="715150"/>
                    <a:pt x="16669" y="711495"/>
                    <a:pt x="10162" y="704988"/>
                  </a:cubicBezTo>
                  <a:cubicBezTo>
                    <a:pt x="3655" y="698482"/>
                    <a:pt x="0" y="689657"/>
                    <a:pt x="0" y="680455"/>
                  </a:cubicBezTo>
                  <a:lnTo>
                    <a:pt x="0" y="34695"/>
                  </a:lnTo>
                  <a:cubicBezTo>
                    <a:pt x="0" y="15533"/>
                    <a:pt x="15533" y="0"/>
                    <a:pt x="34695" y="0"/>
                  </a:cubicBezTo>
                  <a:close/>
                </a:path>
              </a:pathLst>
            </a:custGeom>
            <a:blipFill>
              <a:blip r:embed="rId5"/>
              <a:stretch>
                <a:fillRect l="0" t="-14413" r="0" b="-14413"/>
              </a:stretch>
            </a:blipFill>
            <a:ln w="19050"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grpSp>
        <p:nvGrpSpPr>
          <p:cNvPr name="Group 25" id="25"/>
          <p:cNvGrpSpPr/>
          <p:nvPr/>
        </p:nvGrpSpPr>
        <p:grpSpPr>
          <a:xfrm rot="0">
            <a:off x="10427567" y="1557854"/>
            <a:ext cx="7053240" cy="2326562"/>
            <a:chOff x="0" y="0"/>
            <a:chExt cx="1857643" cy="612757"/>
          </a:xfrm>
        </p:grpSpPr>
        <p:sp>
          <p:nvSpPr>
            <p:cNvPr name="Freeform 26" id="26"/>
            <p:cNvSpPr/>
            <p:nvPr/>
          </p:nvSpPr>
          <p:spPr>
            <a:xfrm flipH="false" flipV="false" rot="0">
              <a:off x="0" y="0"/>
              <a:ext cx="1857643" cy="612757"/>
            </a:xfrm>
            <a:custGeom>
              <a:avLst/>
              <a:gdLst/>
              <a:ahLst/>
              <a:cxnLst/>
              <a:rect r="r" b="b" t="t" l="l"/>
              <a:pathLst>
                <a:path h="612757" w="1857643">
                  <a:moveTo>
                    <a:pt x="43906" y="0"/>
                  </a:moveTo>
                  <a:lnTo>
                    <a:pt x="1813738" y="0"/>
                  </a:lnTo>
                  <a:cubicBezTo>
                    <a:pt x="1837986" y="0"/>
                    <a:pt x="1857643" y="19657"/>
                    <a:pt x="1857643" y="43906"/>
                  </a:cubicBezTo>
                  <a:lnTo>
                    <a:pt x="1857643" y="568851"/>
                  </a:lnTo>
                  <a:cubicBezTo>
                    <a:pt x="1857643" y="593100"/>
                    <a:pt x="1837986" y="612757"/>
                    <a:pt x="1813738" y="612757"/>
                  </a:cubicBezTo>
                  <a:lnTo>
                    <a:pt x="43906" y="612757"/>
                  </a:lnTo>
                  <a:cubicBezTo>
                    <a:pt x="32261" y="612757"/>
                    <a:pt x="21094" y="608131"/>
                    <a:pt x="12860" y="599897"/>
                  </a:cubicBezTo>
                  <a:cubicBezTo>
                    <a:pt x="4626" y="591663"/>
                    <a:pt x="0" y="580496"/>
                    <a:pt x="0" y="568851"/>
                  </a:cubicBezTo>
                  <a:lnTo>
                    <a:pt x="0" y="43906"/>
                  </a:lnTo>
                  <a:cubicBezTo>
                    <a:pt x="0" y="19657"/>
                    <a:pt x="19657" y="0"/>
                    <a:pt x="43906" y="0"/>
                  </a:cubicBezTo>
                  <a:close/>
                </a:path>
              </a:pathLst>
            </a:custGeom>
            <a:solidFill>
              <a:srgbClr val="FFFFFF"/>
            </a:solid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27" id="27"/>
            <p:cNvSpPr txBox="true"/>
            <p:nvPr/>
          </p:nvSpPr>
          <p:spPr>
            <a:xfrm>
              <a:off x="0" y="-47625"/>
              <a:ext cx="1857643" cy="660382"/>
            </a:xfrm>
            <a:prstGeom prst="rect">
              <a:avLst/>
            </a:prstGeom>
          </p:spPr>
          <p:txBody>
            <a:bodyPr anchor="ctr" rtlCol="false" tIns="50800" lIns="50800" bIns="50800" rIns="50800"/>
            <a:lstStyle/>
            <a:p>
              <a:pPr algn="ctr">
                <a:lnSpc>
                  <a:spcPts val="3359"/>
                </a:lnSpc>
              </a:pPr>
            </a:p>
          </p:txBody>
        </p:sp>
      </p:grpSp>
      <p:grpSp>
        <p:nvGrpSpPr>
          <p:cNvPr name="Group 28" id="28"/>
          <p:cNvGrpSpPr/>
          <p:nvPr/>
        </p:nvGrpSpPr>
        <p:grpSpPr>
          <a:xfrm rot="0">
            <a:off x="10427567" y="7067984"/>
            <a:ext cx="7053240" cy="2326562"/>
            <a:chOff x="0" y="0"/>
            <a:chExt cx="1857643" cy="612757"/>
          </a:xfrm>
        </p:grpSpPr>
        <p:sp>
          <p:nvSpPr>
            <p:cNvPr name="Freeform 29" id="29"/>
            <p:cNvSpPr/>
            <p:nvPr/>
          </p:nvSpPr>
          <p:spPr>
            <a:xfrm flipH="false" flipV="false" rot="0">
              <a:off x="0" y="0"/>
              <a:ext cx="1857643" cy="612757"/>
            </a:xfrm>
            <a:custGeom>
              <a:avLst/>
              <a:gdLst/>
              <a:ahLst/>
              <a:cxnLst/>
              <a:rect r="r" b="b" t="t" l="l"/>
              <a:pathLst>
                <a:path h="612757" w="1857643">
                  <a:moveTo>
                    <a:pt x="43906" y="0"/>
                  </a:moveTo>
                  <a:lnTo>
                    <a:pt x="1813738" y="0"/>
                  </a:lnTo>
                  <a:cubicBezTo>
                    <a:pt x="1837986" y="0"/>
                    <a:pt x="1857643" y="19657"/>
                    <a:pt x="1857643" y="43906"/>
                  </a:cubicBezTo>
                  <a:lnTo>
                    <a:pt x="1857643" y="568851"/>
                  </a:lnTo>
                  <a:cubicBezTo>
                    <a:pt x="1857643" y="593100"/>
                    <a:pt x="1837986" y="612757"/>
                    <a:pt x="1813738" y="612757"/>
                  </a:cubicBezTo>
                  <a:lnTo>
                    <a:pt x="43906" y="612757"/>
                  </a:lnTo>
                  <a:cubicBezTo>
                    <a:pt x="32261" y="612757"/>
                    <a:pt x="21094" y="608131"/>
                    <a:pt x="12860" y="599897"/>
                  </a:cubicBezTo>
                  <a:cubicBezTo>
                    <a:pt x="4626" y="591663"/>
                    <a:pt x="0" y="580496"/>
                    <a:pt x="0" y="568851"/>
                  </a:cubicBezTo>
                  <a:lnTo>
                    <a:pt x="0" y="43906"/>
                  </a:lnTo>
                  <a:cubicBezTo>
                    <a:pt x="0" y="19657"/>
                    <a:pt x="19657" y="0"/>
                    <a:pt x="43906" y="0"/>
                  </a:cubicBezTo>
                  <a:close/>
                </a:path>
              </a:pathLst>
            </a:custGeom>
            <a:solidFill>
              <a:srgbClr val="FFFFFF"/>
            </a:solid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30" id="30"/>
            <p:cNvSpPr txBox="true"/>
            <p:nvPr/>
          </p:nvSpPr>
          <p:spPr>
            <a:xfrm>
              <a:off x="0" y="-47625"/>
              <a:ext cx="1857643" cy="660382"/>
            </a:xfrm>
            <a:prstGeom prst="rect">
              <a:avLst/>
            </a:prstGeom>
          </p:spPr>
          <p:txBody>
            <a:bodyPr anchor="ctr" rtlCol="false" tIns="50800" lIns="50800" bIns="50800" rIns="50800"/>
            <a:lstStyle/>
            <a:p>
              <a:pPr algn="ctr">
                <a:lnSpc>
                  <a:spcPts val="3359"/>
                </a:lnSpc>
              </a:pPr>
            </a:p>
          </p:txBody>
        </p:sp>
      </p:grpSp>
      <p:grpSp>
        <p:nvGrpSpPr>
          <p:cNvPr name="Group 31" id="31"/>
          <p:cNvGrpSpPr/>
          <p:nvPr/>
        </p:nvGrpSpPr>
        <p:grpSpPr>
          <a:xfrm rot="0">
            <a:off x="10427567" y="4277445"/>
            <a:ext cx="7053240" cy="2400014"/>
            <a:chOff x="0" y="0"/>
            <a:chExt cx="1857643" cy="632103"/>
          </a:xfrm>
        </p:grpSpPr>
        <p:sp>
          <p:nvSpPr>
            <p:cNvPr name="Freeform 32" id="32"/>
            <p:cNvSpPr/>
            <p:nvPr/>
          </p:nvSpPr>
          <p:spPr>
            <a:xfrm flipH="false" flipV="false" rot="0">
              <a:off x="0" y="0"/>
              <a:ext cx="1857643" cy="632103"/>
            </a:xfrm>
            <a:custGeom>
              <a:avLst/>
              <a:gdLst/>
              <a:ahLst/>
              <a:cxnLst/>
              <a:rect r="r" b="b" t="t" l="l"/>
              <a:pathLst>
                <a:path h="632103" w="1857643">
                  <a:moveTo>
                    <a:pt x="43906" y="0"/>
                  </a:moveTo>
                  <a:lnTo>
                    <a:pt x="1813738" y="0"/>
                  </a:lnTo>
                  <a:cubicBezTo>
                    <a:pt x="1837986" y="0"/>
                    <a:pt x="1857643" y="19657"/>
                    <a:pt x="1857643" y="43906"/>
                  </a:cubicBezTo>
                  <a:lnTo>
                    <a:pt x="1857643" y="588197"/>
                  </a:lnTo>
                  <a:cubicBezTo>
                    <a:pt x="1857643" y="599841"/>
                    <a:pt x="1853018" y="611009"/>
                    <a:pt x="1844784" y="619243"/>
                  </a:cubicBezTo>
                  <a:cubicBezTo>
                    <a:pt x="1836550" y="627477"/>
                    <a:pt x="1825382" y="632103"/>
                    <a:pt x="1813738" y="632103"/>
                  </a:cubicBezTo>
                  <a:lnTo>
                    <a:pt x="43906" y="632103"/>
                  </a:lnTo>
                  <a:cubicBezTo>
                    <a:pt x="19657" y="632103"/>
                    <a:pt x="0" y="612445"/>
                    <a:pt x="0" y="588197"/>
                  </a:cubicBezTo>
                  <a:lnTo>
                    <a:pt x="0" y="43906"/>
                  </a:lnTo>
                  <a:cubicBezTo>
                    <a:pt x="0" y="19657"/>
                    <a:pt x="19657" y="0"/>
                    <a:pt x="43906" y="0"/>
                  </a:cubicBezTo>
                  <a:close/>
                </a:path>
              </a:pathLst>
            </a:custGeom>
            <a:gradFill rotWithShape="true">
              <a:gsLst>
                <a:gs pos="0">
                  <a:srgbClr val="292929">
                    <a:alpha val="100000"/>
                  </a:srgbClr>
                </a:gs>
                <a:gs pos="100000">
                  <a:srgbClr val="3F4E52">
                    <a:alpha val="100000"/>
                  </a:srgbClr>
                </a:gs>
              </a:gsLst>
              <a:lin ang="0"/>
            </a:grad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33" id="33"/>
            <p:cNvSpPr txBox="true"/>
            <p:nvPr/>
          </p:nvSpPr>
          <p:spPr>
            <a:xfrm>
              <a:off x="0" y="-47625"/>
              <a:ext cx="1857643" cy="679728"/>
            </a:xfrm>
            <a:prstGeom prst="rect">
              <a:avLst/>
            </a:prstGeom>
          </p:spPr>
          <p:txBody>
            <a:bodyPr anchor="ctr" rtlCol="false" tIns="50800" lIns="50800" bIns="50800" rIns="50800"/>
            <a:lstStyle/>
            <a:p>
              <a:pPr algn="ctr">
                <a:lnSpc>
                  <a:spcPts val="3359"/>
                </a:lnSpc>
              </a:pPr>
            </a:p>
          </p:txBody>
        </p:sp>
      </p:grpSp>
      <p:sp>
        <p:nvSpPr>
          <p:cNvPr name="TextBox 34" id="34"/>
          <p:cNvSpPr txBox="true"/>
          <p:nvPr/>
        </p:nvSpPr>
        <p:spPr>
          <a:xfrm rot="0">
            <a:off x="10819493" y="2706132"/>
            <a:ext cx="6343560" cy="775716"/>
          </a:xfrm>
          <a:prstGeom prst="rect">
            <a:avLst/>
          </a:prstGeom>
        </p:spPr>
        <p:txBody>
          <a:bodyPr anchor="t" rtlCol="false" tIns="0" lIns="0" bIns="0" rIns="0">
            <a:spAutoFit/>
          </a:bodyPr>
          <a:lstStyle/>
          <a:p>
            <a:pPr algn="l">
              <a:lnSpc>
                <a:spcPts val="3072"/>
              </a:lnSpc>
            </a:pPr>
            <a:r>
              <a:rPr lang="en-US" sz="2400" i="true" spc="-72">
                <a:solidFill>
                  <a:srgbClr val="4D4D4D"/>
                </a:solidFill>
                <a:latin typeface="Poppins Italics"/>
                <a:ea typeface="Poppins Italics"/>
                <a:cs typeface="Poppins Italics"/>
                <a:sym typeface="Poppins Italics"/>
              </a:rPr>
              <a:t>OBE berfokus pada hasilpembelajaran yang ingindicapai peserta didik</a:t>
            </a:r>
          </a:p>
        </p:txBody>
      </p:sp>
      <p:sp>
        <p:nvSpPr>
          <p:cNvPr name="TextBox 35" id="35"/>
          <p:cNvSpPr txBox="true"/>
          <p:nvPr/>
        </p:nvSpPr>
        <p:spPr>
          <a:xfrm rot="0">
            <a:off x="10819493" y="8007612"/>
            <a:ext cx="6343560" cy="1156716"/>
          </a:xfrm>
          <a:prstGeom prst="rect">
            <a:avLst/>
          </a:prstGeom>
        </p:spPr>
        <p:txBody>
          <a:bodyPr anchor="t" rtlCol="false" tIns="0" lIns="0" bIns="0" rIns="0">
            <a:spAutoFit/>
          </a:bodyPr>
          <a:lstStyle/>
          <a:p>
            <a:pPr algn="l">
              <a:lnSpc>
                <a:spcPts val="3072"/>
              </a:lnSpc>
            </a:pPr>
            <a:r>
              <a:rPr lang="en-US" sz="2400" i="true" spc="-72">
                <a:solidFill>
                  <a:srgbClr val="4D4D4D"/>
                </a:solidFill>
                <a:latin typeface="Poppins Italics"/>
                <a:ea typeface="Poppins Italics"/>
                <a:cs typeface="Poppins Italics"/>
                <a:sym typeface="Poppins Italics"/>
              </a:rPr>
              <a:t>Analisis kebutuhan kompetensi industri menjadi penting agar penyelarasan dapat berbasis data.</a:t>
            </a:r>
          </a:p>
        </p:txBody>
      </p:sp>
      <p:sp>
        <p:nvSpPr>
          <p:cNvPr name="TextBox 36" id="36"/>
          <p:cNvSpPr txBox="true"/>
          <p:nvPr/>
        </p:nvSpPr>
        <p:spPr>
          <a:xfrm rot="0">
            <a:off x="10890753" y="5270697"/>
            <a:ext cx="6268653" cy="1156716"/>
          </a:xfrm>
          <a:prstGeom prst="rect">
            <a:avLst/>
          </a:prstGeom>
        </p:spPr>
        <p:txBody>
          <a:bodyPr anchor="t" rtlCol="false" tIns="0" lIns="0" bIns="0" rIns="0">
            <a:spAutoFit/>
          </a:bodyPr>
          <a:lstStyle/>
          <a:p>
            <a:pPr algn="l">
              <a:lnSpc>
                <a:spcPts val="3072"/>
              </a:lnSpc>
            </a:pPr>
            <a:r>
              <a:rPr lang="en-US" sz="2400" i="true" spc="-72">
                <a:solidFill>
                  <a:srgbClr val="C6C6C6"/>
                </a:solidFill>
                <a:latin typeface="Poppins Italics"/>
                <a:ea typeface="Poppins Italics"/>
                <a:cs typeface="Poppins Italics"/>
                <a:sym typeface="Poppins Italics"/>
              </a:rPr>
              <a:t>Kurikulum diarahkan agar capaian pembelajaran selaras dengan kompetensi dunia kerja.</a:t>
            </a:r>
          </a:p>
        </p:txBody>
      </p:sp>
      <p:sp>
        <p:nvSpPr>
          <p:cNvPr name="Freeform 37" id="37"/>
          <p:cNvSpPr/>
          <p:nvPr/>
        </p:nvSpPr>
        <p:spPr>
          <a:xfrm flipH="false" flipV="false" rot="0">
            <a:off x="10890753" y="1946758"/>
            <a:ext cx="345797" cy="345797"/>
          </a:xfrm>
          <a:custGeom>
            <a:avLst/>
            <a:gdLst/>
            <a:ahLst/>
            <a:cxnLst/>
            <a:rect r="r" b="b" t="t" l="l"/>
            <a:pathLst>
              <a:path h="345797" w="345797">
                <a:moveTo>
                  <a:pt x="0" y="0"/>
                </a:moveTo>
                <a:lnTo>
                  <a:pt x="345797" y="0"/>
                </a:lnTo>
                <a:lnTo>
                  <a:pt x="345797" y="345797"/>
                </a:lnTo>
                <a:lnTo>
                  <a:pt x="0" y="34579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8" id="38"/>
          <p:cNvSpPr/>
          <p:nvPr/>
        </p:nvSpPr>
        <p:spPr>
          <a:xfrm flipH="false" flipV="false" rot="0">
            <a:off x="10890753" y="7456888"/>
            <a:ext cx="345797" cy="345797"/>
          </a:xfrm>
          <a:custGeom>
            <a:avLst/>
            <a:gdLst/>
            <a:ahLst/>
            <a:cxnLst/>
            <a:rect r="r" b="b" t="t" l="l"/>
            <a:pathLst>
              <a:path h="345797" w="345797">
                <a:moveTo>
                  <a:pt x="0" y="0"/>
                </a:moveTo>
                <a:lnTo>
                  <a:pt x="345797" y="0"/>
                </a:lnTo>
                <a:lnTo>
                  <a:pt x="345797" y="345797"/>
                </a:lnTo>
                <a:lnTo>
                  <a:pt x="0" y="34579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9" id="39"/>
          <p:cNvSpPr/>
          <p:nvPr/>
        </p:nvSpPr>
        <p:spPr>
          <a:xfrm flipH="false" flipV="false" rot="0">
            <a:off x="10965660" y="4722078"/>
            <a:ext cx="345797" cy="345797"/>
          </a:xfrm>
          <a:custGeom>
            <a:avLst/>
            <a:gdLst/>
            <a:ahLst/>
            <a:cxnLst/>
            <a:rect r="r" b="b" t="t" l="l"/>
            <a:pathLst>
              <a:path h="345797" w="345797">
                <a:moveTo>
                  <a:pt x="0" y="0"/>
                </a:moveTo>
                <a:lnTo>
                  <a:pt x="345797" y="0"/>
                </a:lnTo>
                <a:lnTo>
                  <a:pt x="345797" y="345798"/>
                </a:lnTo>
                <a:lnTo>
                  <a:pt x="0" y="34579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40" id="40"/>
          <p:cNvSpPr txBox="true"/>
          <p:nvPr/>
        </p:nvSpPr>
        <p:spPr>
          <a:xfrm rot="0">
            <a:off x="11584009" y="1741831"/>
            <a:ext cx="4815295" cy="679450"/>
          </a:xfrm>
          <a:prstGeom prst="rect">
            <a:avLst/>
          </a:prstGeom>
        </p:spPr>
        <p:txBody>
          <a:bodyPr anchor="t" rtlCol="false" tIns="0" lIns="0" bIns="0" rIns="0">
            <a:spAutoFit/>
          </a:bodyPr>
          <a:lstStyle/>
          <a:p>
            <a:pPr algn="l">
              <a:lnSpc>
                <a:spcPts val="5599"/>
              </a:lnSpc>
            </a:pPr>
            <a:r>
              <a:rPr lang="en-US" sz="3999" spc="-259">
                <a:solidFill>
                  <a:srgbClr val="000000"/>
                </a:solidFill>
                <a:latin typeface="TS Qamus"/>
                <a:ea typeface="TS Qamus"/>
                <a:cs typeface="TS Qamus"/>
                <a:sym typeface="TS Qamus"/>
              </a:rPr>
              <a:t>Strategy 01</a:t>
            </a:r>
          </a:p>
        </p:txBody>
      </p:sp>
      <p:sp>
        <p:nvSpPr>
          <p:cNvPr name="TextBox 41" id="41"/>
          <p:cNvSpPr txBox="true"/>
          <p:nvPr/>
        </p:nvSpPr>
        <p:spPr>
          <a:xfrm rot="0">
            <a:off x="11584009" y="7251962"/>
            <a:ext cx="5320817" cy="679450"/>
          </a:xfrm>
          <a:prstGeom prst="rect">
            <a:avLst/>
          </a:prstGeom>
        </p:spPr>
        <p:txBody>
          <a:bodyPr anchor="t" rtlCol="false" tIns="0" lIns="0" bIns="0" rIns="0">
            <a:spAutoFit/>
          </a:bodyPr>
          <a:lstStyle/>
          <a:p>
            <a:pPr algn="l">
              <a:lnSpc>
                <a:spcPts val="5599"/>
              </a:lnSpc>
            </a:pPr>
            <a:r>
              <a:rPr lang="en-US" sz="3999" spc="-259">
                <a:solidFill>
                  <a:srgbClr val="000000"/>
                </a:solidFill>
                <a:latin typeface="TS Qamus"/>
                <a:ea typeface="TS Qamus"/>
                <a:cs typeface="TS Qamus"/>
                <a:sym typeface="TS Qamus"/>
              </a:rPr>
              <a:t>Strategy 03</a:t>
            </a:r>
          </a:p>
        </p:txBody>
      </p:sp>
      <p:sp>
        <p:nvSpPr>
          <p:cNvPr name="TextBox 42" id="42"/>
          <p:cNvSpPr txBox="true"/>
          <p:nvPr/>
        </p:nvSpPr>
        <p:spPr>
          <a:xfrm rot="0">
            <a:off x="11658916" y="4517152"/>
            <a:ext cx="5245910" cy="679450"/>
          </a:xfrm>
          <a:prstGeom prst="rect">
            <a:avLst/>
          </a:prstGeom>
        </p:spPr>
        <p:txBody>
          <a:bodyPr anchor="t" rtlCol="false" tIns="0" lIns="0" bIns="0" rIns="0">
            <a:spAutoFit/>
          </a:bodyPr>
          <a:lstStyle/>
          <a:p>
            <a:pPr algn="l">
              <a:lnSpc>
                <a:spcPts val="5599"/>
              </a:lnSpc>
            </a:pPr>
            <a:r>
              <a:rPr lang="en-US" sz="3999" spc="-259">
                <a:solidFill>
                  <a:srgbClr val="FFFFFF"/>
                </a:solidFill>
                <a:latin typeface="TS Qamus"/>
                <a:ea typeface="TS Qamus"/>
                <a:cs typeface="TS Qamus"/>
                <a:sym typeface="TS Qamus"/>
              </a:rPr>
              <a:t>Strategy 02</a:t>
            </a:r>
          </a:p>
        </p:txBody>
      </p:sp>
      <p:sp>
        <p:nvSpPr>
          <p:cNvPr name="AutoShape 43" id="43"/>
          <p:cNvSpPr/>
          <p:nvPr/>
        </p:nvSpPr>
        <p:spPr>
          <a:xfrm>
            <a:off x="6223588" y="-468675"/>
            <a:ext cx="0" cy="1635737"/>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777" r="0" b="-1777"/>
            </a:stretch>
          </a:blipFill>
        </p:spPr>
      </p:sp>
      <p:sp>
        <p:nvSpPr>
          <p:cNvPr name="AutoShape 3" id="3"/>
          <p:cNvSpPr/>
          <p:nvPr/>
        </p:nvSpPr>
        <p:spPr>
          <a:xfrm>
            <a:off x="10038640" y="-468675"/>
            <a:ext cx="0" cy="11118486"/>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
        <p:nvSpPr>
          <p:cNvPr name="AutoShape 4" id="4"/>
          <p:cNvSpPr/>
          <p:nvPr/>
        </p:nvSpPr>
        <p:spPr>
          <a:xfrm>
            <a:off x="477889" y="-448043"/>
            <a:ext cx="0" cy="11118486"/>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grpSp>
        <p:nvGrpSpPr>
          <p:cNvPr name="Group 5" id="5"/>
          <p:cNvGrpSpPr/>
          <p:nvPr/>
        </p:nvGrpSpPr>
        <p:grpSpPr>
          <a:xfrm rot="0">
            <a:off x="16845300" y="391766"/>
            <a:ext cx="635507" cy="554019"/>
            <a:chOff x="0" y="0"/>
            <a:chExt cx="167376" cy="145915"/>
          </a:xfrm>
        </p:grpSpPr>
        <p:sp>
          <p:nvSpPr>
            <p:cNvPr name="Freeform 6" id="6"/>
            <p:cNvSpPr/>
            <p:nvPr/>
          </p:nvSpPr>
          <p:spPr>
            <a:xfrm flipH="false" flipV="false" rot="0">
              <a:off x="0" y="0"/>
              <a:ext cx="167376" cy="145915"/>
            </a:xfrm>
            <a:custGeom>
              <a:avLst/>
              <a:gdLst/>
              <a:ahLst/>
              <a:cxnLst/>
              <a:rect r="r" b="b" t="t" l="l"/>
              <a:pathLst>
                <a:path h="145915" w="167376">
                  <a:moveTo>
                    <a:pt x="72957" y="0"/>
                  </a:moveTo>
                  <a:lnTo>
                    <a:pt x="94419" y="0"/>
                  </a:lnTo>
                  <a:cubicBezTo>
                    <a:pt x="134712" y="0"/>
                    <a:pt x="167376" y="32664"/>
                    <a:pt x="167376" y="72957"/>
                  </a:cubicBezTo>
                  <a:lnTo>
                    <a:pt x="167376" y="72957"/>
                  </a:lnTo>
                  <a:cubicBezTo>
                    <a:pt x="167376" y="113250"/>
                    <a:pt x="134712" y="145915"/>
                    <a:pt x="94419" y="145915"/>
                  </a:cubicBezTo>
                  <a:lnTo>
                    <a:pt x="72957" y="145915"/>
                  </a:lnTo>
                  <a:cubicBezTo>
                    <a:pt x="32664" y="145915"/>
                    <a:pt x="0" y="113250"/>
                    <a:pt x="0" y="72957"/>
                  </a:cubicBezTo>
                  <a:lnTo>
                    <a:pt x="0" y="72957"/>
                  </a:lnTo>
                  <a:cubicBezTo>
                    <a:pt x="0" y="32664"/>
                    <a:pt x="32664" y="0"/>
                    <a:pt x="72957" y="0"/>
                  </a:cubicBezTo>
                  <a:close/>
                </a:path>
              </a:pathLst>
            </a:custGeom>
            <a:gradFill rotWithShape="true">
              <a:gsLst>
                <a:gs pos="0">
                  <a:srgbClr val="9B9B9B">
                    <a:alpha val="28000"/>
                  </a:srgbClr>
                </a:gs>
                <a:gs pos="25000">
                  <a:srgbClr val="FFFFFF">
                    <a:alpha val="29000"/>
                  </a:srgbClr>
                </a:gs>
                <a:gs pos="50000">
                  <a:srgbClr val="FFFFFF">
                    <a:alpha val="44500"/>
                  </a:srgbClr>
                </a:gs>
                <a:gs pos="75000">
                  <a:srgbClr val="FFFFFF">
                    <a:alpha val="29000"/>
                  </a:srgbClr>
                </a:gs>
                <a:gs pos="100000">
                  <a:srgbClr val="9B9B9B">
                    <a:alpha val="28000"/>
                  </a:srgbClr>
                </a:gs>
              </a:gsLst>
              <a:lin ang="2700000"/>
            </a:grad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7" id="7"/>
            <p:cNvSpPr txBox="true"/>
            <p:nvPr/>
          </p:nvSpPr>
          <p:spPr>
            <a:xfrm>
              <a:off x="0" y="-47625"/>
              <a:ext cx="167376" cy="193540"/>
            </a:xfrm>
            <a:prstGeom prst="rect">
              <a:avLst/>
            </a:prstGeom>
          </p:spPr>
          <p:txBody>
            <a:bodyPr anchor="ctr" rtlCol="false" tIns="50800" lIns="50800" bIns="50800" rIns="50800"/>
            <a:lstStyle/>
            <a:p>
              <a:pPr algn="ctr">
                <a:lnSpc>
                  <a:spcPts val="3359"/>
                </a:lnSpc>
              </a:pPr>
            </a:p>
          </p:txBody>
        </p:sp>
      </p:grpSp>
      <p:grpSp>
        <p:nvGrpSpPr>
          <p:cNvPr name="Group 8" id="8"/>
          <p:cNvGrpSpPr/>
          <p:nvPr/>
        </p:nvGrpSpPr>
        <p:grpSpPr>
          <a:xfrm rot="0">
            <a:off x="13913154" y="391766"/>
            <a:ext cx="2743897" cy="554019"/>
            <a:chOff x="0" y="0"/>
            <a:chExt cx="722672" cy="145915"/>
          </a:xfrm>
        </p:grpSpPr>
        <p:sp>
          <p:nvSpPr>
            <p:cNvPr name="Freeform 9" id="9"/>
            <p:cNvSpPr/>
            <p:nvPr/>
          </p:nvSpPr>
          <p:spPr>
            <a:xfrm flipH="false" flipV="false" rot="0">
              <a:off x="0" y="0"/>
              <a:ext cx="722672" cy="145915"/>
            </a:xfrm>
            <a:custGeom>
              <a:avLst/>
              <a:gdLst/>
              <a:ahLst/>
              <a:cxnLst/>
              <a:rect r="r" b="b" t="t" l="l"/>
              <a:pathLst>
                <a:path h="145915" w="722672">
                  <a:moveTo>
                    <a:pt x="72957" y="0"/>
                  </a:moveTo>
                  <a:lnTo>
                    <a:pt x="649715" y="0"/>
                  </a:lnTo>
                  <a:cubicBezTo>
                    <a:pt x="690008" y="0"/>
                    <a:pt x="722672" y="32664"/>
                    <a:pt x="722672" y="72957"/>
                  </a:cubicBezTo>
                  <a:lnTo>
                    <a:pt x="722672" y="72957"/>
                  </a:lnTo>
                  <a:cubicBezTo>
                    <a:pt x="722672" y="113250"/>
                    <a:pt x="690008" y="145915"/>
                    <a:pt x="649715" y="145915"/>
                  </a:cubicBezTo>
                  <a:lnTo>
                    <a:pt x="72957" y="145915"/>
                  </a:lnTo>
                  <a:cubicBezTo>
                    <a:pt x="32664" y="145915"/>
                    <a:pt x="0" y="113250"/>
                    <a:pt x="0" y="72957"/>
                  </a:cubicBezTo>
                  <a:lnTo>
                    <a:pt x="0" y="72957"/>
                  </a:lnTo>
                  <a:cubicBezTo>
                    <a:pt x="0" y="32664"/>
                    <a:pt x="32664" y="0"/>
                    <a:pt x="72957" y="0"/>
                  </a:cubicBezTo>
                  <a:close/>
                </a:path>
              </a:pathLst>
            </a:custGeom>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10" id="10"/>
            <p:cNvSpPr txBox="true"/>
            <p:nvPr/>
          </p:nvSpPr>
          <p:spPr>
            <a:xfrm>
              <a:off x="0" y="-47625"/>
              <a:ext cx="722672" cy="193540"/>
            </a:xfrm>
            <a:prstGeom prst="rect">
              <a:avLst/>
            </a:prstGeom>
          </p:spPr>
          <p:txBody>
            <a:bodyPr anchor="ctr" rtlCol="false" tIns="50800" lIns="50800" bIns="50800" rIns="50800"/>
            <a:lstStyle/>
            <a:p>
              <a:pPr algn="ctr">
                <a:lnSpc>
                  <a:spcPts val="3359"/>
                </a:lnSpc>
              </a:pPr>
            </a:p>
          </p:txBody>
        </p:sp>
      </p:grpSp>
      <p:sp>
        <p:nvSpPr>
          <p:cNvPr name="AutoShape 11" id="11"/>
          <p:cNvSpPr/>
          <p:nvPr/>
        </p:nvSpPr>
        <p:spPr>
          <a:xfrm>
            <a:off x="477889" y="3841062"/>
            <a:ext cx="9560751" cy="0"/>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
        <p:nvSpPr>
          <p:cNvPr name="AutoShape 12" id="12"/>
          <p:cNvSpPr/>
          <p:nvPr/>
        </p:nvSpPr>
        <p:spPr>
          <a:xfrm>
            <a:off x="477889" y="6083801"/>
            <a:ext cx="9560751" cy="0"/>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
        <p:nvSpPr>
          <p:cNvPr name="AutoShape 13" id="13"/>
          <p:cNvSpPr/>
          <p:nvPr/>
        </p:nvSpPr>
        <p:spPr>
          <a:xfrm>
            <a:off x="-417053" y="1167061"/>
            <a:ext cx="19109210" cy="0"/>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
        <p:nvSpPr>
          <p:cNvPr name="AutoShape 14" id="14"/>
          <p:cNvSpPr/>
          <p:nvPr/>
        </p:nvSpPr>
        <p:spPr>
          <a:xfrm flipV="true">
            <a:off x="10038640" y="9780309"/>
            <a:ext cx="8653516" cy="0"/>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
        <p:nvSpPr>
          <p:cNvPr name="TextBox 15" id="15"/>
          <p:cNvSpPr txBox="true"/>
          <p:nvPr/>
        </p:nvSpPr>
        <p:spPr>
          <a:xfrm rot="0">
            <a:off x="14170902" y="477323"/>
            <a:ext cx="2228402" cy="325755"/>
          </a:xfrm>
          <a:prstGeom prst="rect">
            <a:avLst/>
          </a:prstGeom>
        </p:spPr>
        <p:txBody>
          <a:bodyPr anchor="t" rtlCol="false" tIns="0" lIns="0" bIns="0" rIns="0">
            <a:spAutoFit/>
          </a:bodyPr>
          <a:lstStyle/>
          <a:p>
            <a:pPr algn="ctr">
              <a:lnSpc>
                <a:spcPts val="2520"/>
              </a:lnSpc>
            </a:pPr>
            <a:r>
              <a:rPr lang="en-US" sz="1800" spc="-117">
                <a:solidFill>
                  <a:srgbClr val="FFFFFF"/>
                </a:solidFill>
                <a:latin typeface="Poppins"/>
                <a:ea typeface="Poppins"/>
                <a:cs typeface="Poppins"/>
                <a:sym typeface="Poppins"/>
              </a:rPr>
              <a:t>6 August, 2025</a:t>
            </a:r>
          </a:p>
        </p:txBody>
      </p:sp>
      <p:sp>
        <p:nvSpPr>
          <p:cNvPr name="TextBox 16" id="16"/>
          <p:cNvSpPr txBox="true"/>
          <p:nvPr/>
        </p:nvSpPr>
        <p:spPr>
          <a:xfrm rot="0">
            <a:off x="815264" y="1967251"/>
            <a:ext cx="8555075" cy="3619374"/>
          </a:xfrm>
          <a:prstGeom prst="rect">
            <a:avLst/>
          </a:prstGeom>
        </p:spPr>
        <p:txBody>
          <a:bodyPr anchor="t" rtlCol="false" tIns="0" lIns="0" bIns="0" rIns="0">
            <a:spAutoFit/>
          </a:bodyPr>
          <a:lstStyle/>
          <a:p>
            <a:pPr algn="l">
              <a:lnSpc>
                <a:spcPts val="9256"/>
              </a:lnSpc>
            </a:pPr>
            <a:r>
              <a:rPr lang="en-US" sz="10400" spc="-124" b="true">
                <a:solidFill>
                  <a:srgbClr val="FFFFFF"/>
                </a:solidFill>
                <a:latin typeface="Geometrica Sans Medium"/>
                <a:ea typeface="Geometrica Sans Medium"/>
                <a:cs typeface="Geometrica Sans Medium"/>
                <a:sym typeface="Geometrica Sans Medium"/>
              </a:rPr>
              <a:t>Tinjauan Pustaka: Explainable AI</a:t>
            </a:r>
          </a:p>
        </p:txBody>
      </p:sp>
      <p:grpSp>
        <p:nvGrpSpPr>
          <p:cNvPr name="Group 17" id="17"/>
          <p:cNvGrpSpPr/>
          <p:nvPr/>
        </p:nvGrpSpPr>
        <p:grpSpPr>
          <a:xfrm rot="0">
            <a:off x="815264" y="6469563"/>
            <a:ext cx="8925680" cy="4616071"/>
            <a:chOff x="0" y="0"/>
            <a:chExt cx="1382821" cy="715150"/>
          </a:xfrm>
        </p:grpSpPr>
        <p:sp>
          <p:nvSpPr>
            <p:cNvPr name="Freeform 18" id="18"/>
            <p:cNvSpPr/>
            <p:nvPr/>
          </p:nvSpPr>
          <p:spPr>
            <a:xfrm flipH="false" flipV="false" rot="0">
              <a:off x="0" y="0"/>
              <a:ext cx="1382821" cy="715150"/>
            </a:xfrm>
            <a:custGeom>
              <a:avLst/>
              <a:gdLst/>
              <a:ahLst/>
              <a:cxnLst/>
              <a:rect r="r" b="b" t="t" l="l"/>
              <a:pathLst>
                <a:path h="715150" w="1382821">
                  <a:moveTo>
                    <a:pt x="34695" y="0"/>
                  </a:moveTo>
                  <a:lnTo>
                    <a:pt x="1348126" y="0"/>
                  </a:lnTo>
                  <a:cubicBezTo>
                    <a:pt x="1357328" y="0"/>
                    <a:pt x="1366153" y="3655"/>
                    <a:pt x="1372659" y="10162"/>
                  </a:cubicBezTo>
                  <a:cubicBezTo>
                    <a:pt x="1379166" y="16669"/>
                    <a:pt x="1382821" y="25493"/>
                    <a:pt x="1382821" y="34695"/>
                  </a:cubicBezTo>
                  <a:lnTo>
                    <a:pt x="1382821" y="680455"/>
                  </a:lnTo>
                  <a:cubicBezTo>
                    <a:pt x="1382821" y="699617"/>
                    <a:pt x="1367288" y="715150"/>
                    <a:pt x="1348126" y="715150"/>
                  </a:cubicBezTo>
                  <a:lnTo>
                    <a:pt x="34695" y="715150"/>
                  </a:lnTo>
                  <a:cubicBezTo>
                    <a:pt x="25493" y="715150"/>
                    <a:pt x="16669" y="711495"/>
                    <a:pt x="10162" y="704988"/>
                  </a:cubicBezTo>
                  <a:cubicBezTo>
                    <a:pt x="3655" y="698482"/>
                    <a:pt x="0" y="689657"/>
                    <a:pt x="0" y="680455"/>
                  </a:cubicBezTo>
                  <a:lnTo>
                    <a:pt x="0" y="34695"/>
                  </a:lnTo>
                  <a:cubicBezTo>
                    <a:pt x="0" y="15533"/>
                    <a:pt x="15533" y="0"/>
                    <a:pt x="34695" y="0"/>
                  </a:cubicBezTo>
                  <a:close/>
                </a:path>
              </a:pathLst>
            </a:custGeom>
            <a:blipFill>
              <a:blip r:embed="rId3"/>
              <a:stretch>
                <a:fillRect l="0" t="-13809" r="0" b="-13809"/>
              </a:stretch>
            </a:blipFill>
            <a:ln w="19050"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sp>
        <p:nvSpPr>
          <p:cNvPr name="AutoShape 19" id="19"/>
          <p:cNvSpPr/>
          <p:nvPr/>
        </p:nvSpPr>
        <p:spPr>
          <a:xfrm>
            <a:off x="6223588" y="-468675"/>
            <a:ext cx="0" cy="1635737"/>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grpSp>
        <p:nvGrpSpPr>
          <p:cNvPr name="Group 20" id="20"/>
          <p:cNvGrpSpPr/>
          <p:nvPr/>
        </p:nvGrpSpPr>
        <p:grpSpPr>
          <a:xfrm rot="0">
            <a:off x="10427567" y="1557854"/>
            <a:ext cx="7053240" cy="2326562"/>
            <a:chOff x="0" y="0"/>
            <a:chExt cx="1857643" cy="612757"/>
          </a:xfrm>
        </p:grpSpPr>
        <p:sp>
          <p:nvSpPr>
            <p:cNvPr name="Freeform 21" id="21"/>
            <p:cNvSpPr/>
            <p:nvPr/>
          </p:nvSpPr>
          <p:spPr>
            <a:xfrm flipH="false" flipV="false" rot="0">
              <a:off x="0" y="0"/>
              <a:ext cx="1857643" cy="612757"/>
            </a:xfrm>
            <a:custGeom>
              <a:avLst/>
              <a:gdLst/>
              <a:ahLst/>
              <a:cxnLst/>
              <a:rect r="r" b="b" t="t" l="l"/>
              <a:pathLst>
                <a:path h="612757" w="1857643">
                  <a:moveTo>
                    <a:pt x="43906" y="0"/>
                  </a:moveTo>
                  <a:lnTo>
                    <a:pt x="1813738" y="0"/>
                  </a:lnTo>
                  <a:cubicBezTo>
                    <a:pt x="1837986" y="0"/>
                    <a:pt x="1857643" y="19657"/>
                    <a:pt x="1857643" y="43906"/>
                  </a:cubicBezTo>
                  <a:lnTo>
                    <a:pt x="1857643" y="568851"/>
                  </a:lnTo>
                  <a:cubicBezTo>
                    <a:pt x="1857643" y="593100"/>
                    <a:pt x="1837986" y="612757"/>
                    <a:pt x="1813738" y="612757"/>
                  </a:cubicBezTo>
                  <a:lnTo>
                    <a:pt x="43906" y="612757"/>
                  </a:lnTo>
                  <a:cubicBezTo>
                    <a:pt x="32261" y="612757"/>
                    <a:pt x="21094" y="608131"/>
                    <a:pt x="12860" y="599897"/>
                  </a:cubicBezTo>
                  <a:cubicBezTo>
                    <a:pt x="4626" y="591663"/>
                    <a:pt x="0" y="580496"/>
                    <a:pt x="0" y="568851"/>
                  </a:cubicBezTo>
                  <a:lnTo>
                    <a:pt x="0" y="43906"/>
                  </a:lnTo>
                  <a:cubicBezTo>
                    <a:pt x="0" y="19657"/>
                    <a:pt x="19657" y="0"/>
                    <a:pt x="43906" y="0"/>
                  </a:cubicBezTo>
                  <a:close/>
                </a:path>
              </a:pathLst>
            </a:custGeom>
            <a:solidFill>
              <a:srgbClr val="FFFFFF"/>
            </a:solid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22" id="22"/>
            <p:cNvSpPr txBox="true"/>
            <p:nvPr/>
          </p:nvSpPr>
          <p:spPr>
            <a:xfrm>
              <a:off x="0" y="-47625"/>
              <a:ext cx="1857643" cy="660382"/>
            </a:xfrm>
            <a:prstGeom prst="rect">
              <a:avLst/>
            </a:prstGeom>
          </p:spPr>
          <p:txBody>
            <a:bodyPr anchor="ctr" rtlCol="false" tIns="50800" lIns="50800" bIns="50800" rIns="50800"/>
            <a:lstStyle/>
            <a:p>
              <a:pPr algn="ctr">
                <a:lnSpc>
                  <a:spcPts val="3359"/>
                </a:lnSpc>
              </a:pPr>
            </a:p>
          </p:txBody>
        </p:sp>
      </p:grpSp>
      <p:grpSp>
        <p:nvGrpSpPr>
          <p:cNvPr name="Group 23" id="23"/>
          <p:cNvGrpSpPr/>
          <p:nvPr/>
        </p:nvGrpSpPr>
        <p:grpSpPr>
          <a:xfrm rot="0">
            <a:off x="10427567" y="7067984"/>
            <a:ext cx="7053240" cy="2326562"/>
            <a:chOff x="0" y="0"/>
            <a:chExt cx="1857643" cy="612757"/>
          </a:xfrm>
        </p:grpSpPr>
        <p:sp>
          <p:nvSpPr>
            <p:cNvPr name="Freeform 24" id="24"/>
            <p:cNvSpPr/>
            <p:nvPr/>
          </p:nvSpPr>
          <p:spPr>
            <a:xfrm flipH="false" flipV="false" rot="0">
              <a:off x="0" y="0"/>
              <a:ext cx="1857643" cy="612757"/>
            </a:xfrm>
            <a:custGeom>
              <a:avLst/>
              <a:gdLst/>
              <a:ahLst/>
              <a:cxnLst/>
              <a:rect r="r" b="b" t="t" l="l"/>
              <a:pathLst>
                <a:path h="612757" w="1857643">
                  <a:moveTo>
                    <a:pt x="43906" y="0"/>
                  </a:moveTo>
                  <a:lnTo>
                    <a:pt x="1813738" y="0"/>
                  </a:lnTo>
                  <a:cubicBezTo>
                    <a:pt x="1837986" y="0"/>
                    <a:pt x="1857643" y="19657"/>
                    <a:pt x="1857643" y="43906"/>
                  </a:cubicBezTo>
                  <a:lnTo>
                    <a:pt x="1857643" y="568851"/>
                  </a:lnTo>
                  <a:cubicBezTo>
                    <a:pt x="1857643" y="593100"/>
                    <a:pt x="1837986" y="612757"/>
                    <a:pt x="1813738" y="612757"/>
                  </a:cubicBezTo>
                  <a:lnTo>
                    <a:pt x="43906" y="612757"/>
                  </a:lnTo>
                  <a:cubicBezTo>
                    <a:pt x="32261" y="612757"/>
                    <a:pt x="21094" y="608131"/>
                    <a:pt x="12860" y="599897"/>
                  </a:cubicBezTo>
                  <a:cubicBezTo>
                    <a:pt x="4626" y="591663"/>
                    <a:pt x="0" y="580496"/>
                    <a:pt x="0" y="568851"/>
                  </a:cubicBezTo>
                  <a:lnTo>
                    <a:pt x="0" y="43906"/>
                  </a:lnTo>
                  <a:cubicBezTo>
                    <a:pt x="0" y="19657"/>
                    <a:pt x="19657" y="0"/>
                    <a:pt x="43906" y="0"/>
                  </a:cubicBezTo>
                  <a:close/>
                </a:path>
              </a:pathLst>
            </a:custGeom>
            <a:solidFill>
              <a:srgbClr val="FFFFFF"/>
            </a:solid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25" id="25"/>
            <p:cNvSpPr txBox="true"/>
            <p:nvPr/>
          </p:nvSpPr>
          <p:spPr>
            <a:xfrm>
              <a:off x="0" y="-47625"/>
              <a:ext cx="1857643" cy="660382"/>
            </a:xfrm>
            <a:prstGeom prst="rect">
              <a:avLst/>
            </a:prstGeom>
          </p:spPr>
          <p:txBody>
            <a:bodyPr anchor="ctr" rtlCol="false" tIns="50800" lIns="50800" bIns="50800" rIns="50800"/>
            <a:lstStyle/>
            <a:p>
              <a:pPr algn="ctr">
                <a:lnSpc>
                  <a:spcPts val="3359"/>
                </a:lnSpc>
              </a:pPr>
            </a:p>
          </p:txBody>
        </p:sp>
      </p:grpSp>
      <p:grpSp>
        <p:nvGrpSpPr>
          <p:cNvPr name="Group 26" id="26"/>
          <p:cNvGrpSpPr/>
          <p:nvPr/>
        </p:nvGrpSpPr>
        <p:grpSpPr>
          <a:xfrm rot="0">
            <a:off x="10427567" y="4277445"/>
            <a:ext cx="7053240" cy="2400014"/>
            <a:chOff x="0" y="0"/>
            <a:chExt cx="1857643" cy="632103"/>
          </a:xfrm>
        </p:grpSpPr>
        <p:sp>
          <p:nvSpPr>
            <p:cNvPr name="Freeform 27" id="27"/>
            <p:cNvSpPr/>
            <p:nvPr/>
          </p:nvSpPr>
          <p:spPr>
            <a:xfrm flipH="false" flipV="false" rot="0">
              <a:off x="0" y="0"/>
              <a:ext cx="1857643" cy="632103"/>
            </a:xfrm>
            <a:custGeom>
              <a:avLst/>
              <a:gdLst/>
              <a:ahLst/>
              <a:cxnLst/>
              <a:rect r="r" b="b" t="t" l="l"/>
              <a:pathLst>
                <a:path h="632103" w="1857643">
                  <a:moveTo>
                    <a:pt x="43906" y="0"/>
                  </a:moveTo>
                  <a:lnTo>
                    <a:pt x="1813738" y="0"/>
                  </a:lnTo>
                  <a:cubicBezTo>
                    <a:pt x="1837986" y="0"/>
                    <a:pt x="1857643" y="19657"/>
                    <a:pt x="1857643" y="43906"/>
                  </a:cubicBezTo>
                  <a:lnTo>
                    <a:pt x="1857643" y="588197"/>
                  </a:lnTo>
                  <a:cubicBezTo>
                    <a:pt x="1857643" y="599841"/>
                    <a:pt x="1853018" y="611009"/>
                    <a:pt x="1844784" y="619243"/>
                  </a:cubicBezTo>
                  <a:cubicBezTo>
                    <a:pt x="1836550" y="627477"/>
                    <a:pt x="1825382" y="632103"/>
                    <a:pt x="1813738" y="632103"/>
                  </a:cubicBezTo>
                  <a:lnTo>
                    <a:pt x="43906" y="632103"/>
                  </a:lnTo>
                  <a:cubicBezTo>
                    <a:pt x="19657" y="632103"/>
                    <a:pt x="0" y="612445"/>
                    <a:pt x="0" y="588197"/>
                  </a:cubicBezTo>
                  <a:lnTo>
                    <a:pt x="0" y="43906"/>
                  </a:lnTo>
                  <a:cubicBezTo>
                    <a:pt x="0" y="19657"/>
                    <a:pt x="19657" y="0"/>
                    <a:pt x="43906" y="0"/>
                  </a:cubicBezTo>
                  <a:close/>
                </a:path>
              </a:pathLst>
            </a:custGeom>
            <a:gradFill rotWithShape="true">
              <a:gsLst>
                <a:gs pos="0">
                  <a:srgbClr val="292929">
                    <a:alpha val="100000"/>
                  </a:srgbClr>
                </a:gs>
                <a:gs pos="100000">
                  <a:srgbClr val="3F4E52">
                    <a:alpha val="100000"/>
                  </a:srgbClr>
                </a:gs>
              </a:gsLst>
              <a:lin ang="0"/>
            </a:grad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28" id="28"/>
            <p:cNvSpPr txBox="true"/>
            <p:nvPr/>
          </p:nvSpPr>
          <p:spPr>
            <a:xfrm>
              <a:off x="0" y="-47625"/>
              <a:ext cx="1857643" cy="679728"/>
            </a:xfrm>
            <a:prstGeom prst="rect">
              <a:avLst/>
            </a:prstGeom>
          </p:spPr>
          <p:txBody>
            <a:bodyPr anchor="ctr" rtlCol="false" tIns="50800" lIns="50800" bIns="50800" rIns="50800"/>
            <a:lstStyle/>
            <a:p>
              <a:pPr algn="ctr">
                <a:lnSpc>
                  <a:spcPts val="3359"/>
                </a:lnSpc>
              </a:pPr>
            </a:p>
          </p:txBody>
        </p:sp>
      </p:grpSp>
      <p:sp>
        <p:nvSpPr>
          <p:cNvPr name="TextBox 29" id="29"/>
          <p:cNvSpPr txBox="true"/>
          <p:nvPr/>
        </p:nvSpPr>
        <p:spPr>
          <a:xfrm rot="0">
            <a:off x="10819493" y="2511129"/>
            <a:ext cx="6439807" cy="812800"/>
          </a:xfrm>
          <a:prstGeom prst="rect">
            <a:avLst/>
          </a:prstGeom>
        </p:spPr>
        <p:txBody>
          <a:bodyPr anchor="t" rtlCol="false" tIns="0" lIns="0" bIns="0" rIns="0">
            <a:spAutoFit/>
          </a:bodyPr>
          <a:lstStyle/>
          <a:p>
            <a:pPr algn="l">
              <a:lnSpc>
                <a:spcPts val="3199"/>
              </a:lnSpc>
            </a:pPr>
            <a:r>
              <a:rPr lang="en-US" sz="2499" i="true" spc="-74">
                <a:solidFill>
                  <a:srgbClr val="4D4D4D"/>
                </a:solidFill>
                <a:latin typeface="Poppins Italics"/>
                <a:ea typeface="Poppins Italics"/>
                <a:cs typeface="Poppins Italics"/>
                <a:sym typeface="Poppins Italics"/>
              </a:rPr>
              <a:t>XAI membuat keputusan model AI lebih mudah dipahami manusia (SHAP &amp; DiCE)</a:t>
            </a:r>
          </a:p>
        </p:txBody>
      </p:sp>
      <p:sp>
        <p:nvSpPr>
          <p:cNvPr name="TextBox 30" id="30"/>
          <p:cNvSpPr txBox="true"/>
          <p:nvPr/>
        </p:nvSpPr>
        <p:spPr>
          <a:xfrm rot="0">
            <a:off x="10819493" y="8007612"/>
            <a:ext cx="6343560" cy="812800"/>
          </a:xfrm>
          <a:prstGeom prst="rect">
            <a:avLst/>
          </a:prstGeom>
        </p:spPr>
        <p:txBody>
          <a:bodyPr anchor="t" rtlCol="false" tIns="0" lIns="0" bIns="0" rIns="0">
            <a:spAutoFit/>
          </a:bodyPr>
          <a:lstStyle/>
          <a:p>
            <a:pPr algn="l">
              <a:lnSpc>
                <a:spcPts val="3199"/>
              </a:lnSpc>
            </a:pPr>
            <a:r>
              <a:rPr lang="en-US" sz="2499" i="true" spc="-74">
                <a:solidFill>
                  <a:srgbClr val="4D4D4D"/>
                </a:solidFill>
                <a:latin typeface="Poppins Italics"/>
                <a:ea typeface="Poppins Italics"/>
                <a:cs typeface="Poppins Italics"/>
                <a:sym typeface="Poppins Italics"/>
              </a:rPr>
              <a:t>Transparansi diharapkan meningkatkan kepercayaan pengguna.</a:t>
            </a:r>
          </a:p>
        </p:txBody>
      </p:sp>
      <p:sp>
        <p:nvSpPr>
          <p:cNvPr name="TextBox 31" id="31"/>
          <p:cNvSpPr txBox="true"/>
          <p:nvPr/>
        </p:nvSpPr>
        <p:spPr>
          <a:xfrm rot="0">
            <a:off x="10890753" y="5270697"/>
            <a:ext cx="6268653" cy="1212850"/>
          </a:xfrm>
          <a:prstGeom prst="rect">
            <a:avLst/>
          </a:prstGeom>
        </p:spPr>
        <p:txBody>
          <a:bodyPr anchor="t" rtlCol="false" tIns="0" lIns="0" bIns="0" rIns="0">
            <a:spAutoFit/>
          </a:bodyPr>
          <a:lstStyle/>
          <a:p>
            <a:pPr algn="l">
              <a:lnSpc>
                <a:spcPts val="3199"/>
              </a:lnSpc>
            </a:pPr>
            <a:r>
              <a:rPr lang="en-US" sz="2499" i="true" spc="-74">
                <a:solidFill>
                  <a:srgbClr val="C6C6C6"/>
                </a:solidFill>
                <a:latin typeface="Poppins Italics"/>
                <a:ea typeface="Poppins Italics"/>
                <a:cs typeface="Poppins Italics"/>
                <a:sym typeface="Poppins Italics"/>
              </a:rPr>
              <a:t>Pada rekomendasi karir, XAI membantu menjelaskan kontribusi kompetensi terhadap rekomendasi.</a:t>
            </a:r>
          </a:p>
        </p:txBody>
      </p:sp>
      <p:sp>
        <p:nvSpPr>
          <p:cNvPr name="Freeform 32" id="32"/>
          <p:cNvSpPr/>
          <p:nvPr/>
        </p:nvSpPr>
        <p:spPr>
          <a:xfrm flipH="false" flipV="false" rot="0">
            <a:off x="10890753" y="1946758"/>
            <a:ext cx="345797" cy="345797"/>
          </a:xfrm>
          <a:custGeom>
            <a:avLst/>
            <a:gdLst/>
            <a:ahLst/>
            <a:cxnLst/>
            <a:rect r="r" b="b" t="t" l="l"/>
            <a:pathLst>
              <a:path h="345797" w="345797">
                <a:moveTo>
                  <a:pt x="0" y="0"/>
                </a:moveTo>
                <a:lnTo>
                  <a:pt x="345797" y="0"/>
                </a:lnTo>
                <a:lnTo>
                  <a:pt x="345797" y="345797"/>
                </a:lnTo>
                <a:lnTo>
                  <a:pt x="0" y="34579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33" id="33"/>
          <p:cNvSpPr/>
          <p:nvPr/>
        </p:nvSpPr>
        <p:spPr>
          <a:xfrm flipH="false" flipV="false" rot="0">
            <a:off x="10890753" y="7456888"/>
            <a:ext cx="345797" cy="345797"/>
          </a:xfrm>
          <a:custGeom>
            <a:avLst/>
            <a:gdLst/>
            <a:ahLst/>
            <a:cxnLst/>
            <a:rect r="r" b="b" t="t" l="l"/>
            <a:pathLst>
              <a:path h="345797" w="345797">
                <a:moveTo>
                  <a:pt x="0" y="0"/>
                </a:moveTo>
                <a:lnTo>
                  <a:pt x="345797" y="0"/>
                </a:lnTo>
                <a:lnTo>
                  <a:pt x="345797" y="345797"/>
                </a:lnTo>
                <a:lnTo>
                  <a:pt x="0" y="34579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34" id="34"/>
          <p:cNvSpPr/>
          <p:nvPr/>
        </p:nvSpPr>
        <p:spPr>
          <a:xfrm flipH="false" flipV="false" rot="0">
            <a:off x="10965660" y="4722078"/>
            <a:ext cx="345797" cy="345797"/>
          </a:xfrm>
          <a:custGeom>
            <a:avLst/>
            <a:gdLst/>
            <a:ahLst/>
            <a:cxnLst/>
            <a:rect r="r" b="b" t="t" l="l"/>
            <a:pathLst>
              <a:path h="345797" w="345797">
                <a:moveTo>
                  <a:pt x="0" y="0"/>
                </a:moveTo>
                <a:lnTo>
                  <a:pt x="345797" y="0"/>
                </a:lnTo>
                <a:lnTo>
                  <a:pt x="345797" y="345798"/>
                </a:lnTo>
                <a:lnTo>
                  <a:pt x="0" y="34579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35" id="35"/>
          <p:cNvSpPr txBox="true"/>
          <p:nvPr/>
        </p:nvSpPr>
        <p:spPr>
          <a:xfrm rot="0">
            <a:off x="11584009" y="1741831"/>
            <a:ext cx="4815295" cy="679450"/>
          </a:xfrm>
          <a:prstGeom prst="rect">
            <a:avLst/>
          </a:prstGeom>
        </p:spPr>
        <p:txBody>
          <a:bodyPr anchor="t" rtlCol="false" tIns="0" lIns="0" bIns="0" rIns="0">
            <a:spAutoFit/>
          </a:bodyPr>
          <a:lstStyle/>
          <a:p>
            <a:pPr algn="l">
              <a:lnSpc>
                <a:spcPts val="5599"/>
              </a:lnSpc>
            </a:pPr>
            <a:r>
              <a:rPr lang="en-US" sz="3999" spc="-259">
                <a:solidFill>
                  <a:srgbClr val="000000"/>
                </a:solidFill>
                <a:latin typeface="TS Qamus"/>
                <a:ea typeface="TS Qamus"/>
                <a:cs typeface="TS Qamus"/>
                <a:sym typeface="TS Qamus"/>
              </a:rPr>
              <a:t>Strategy 01</a:t>
            </a:r>
          </a:p>
        </p:txBody>
      </p:sp>
      <p:sp>
        <p:nvSpPr>
          <p:cNvPr name="TextBox 36" id="36"/>
          <p:cNvSpPr txBox="true"/>
          <p:nvPr/>
        </p:nvSpPr>
        <p:spPr>
          <a:xfrm rot="0">
            <a:off x="11584009" y="7251962"/>
            <a:ext cx="5320817" cy="679450"/>
          </a:xfrm>
          <a:prstGeom prst="rect">
            <a:avLst/>
          </a:prstGeom>
        </p:spPr>
        <p:txBody>
          <a:bodyPr anchor="t" rtlCol="false" tIns="0" lIns="0" bIns="0" rIns="0">
            <a:spAutoFit/>
          </a:bodyPr>
          <a:lstStyle/>
          <a:p>
            <a:pPr algn="l">
              <a:lnSpc>
                <a:spcPts val="5599"/>
              </a:lnSpc>
            </a:pPr>
            <a:r>
              <a:rPr lang="en-US" sz="3999" spc="-259">
                <a:solidFill>
                  <a:srgbClr val="000000"/>
                </a:solidFill>
                <a:latin typeface="TS Qamus"/>
                <a:ea typeface="TS Qamus"/>
                <a:cs typeface="TS Qamus"/>
                <a:sym typeface="TS Qamus"/>
              </a:rPr>
              <a:t>Strategy 03</a:t>
            </a:r>
          </a:p>
        </p:txBody>
      </p:sp>
      <p:sp>
        <p:nvSpPr>
          <p:cNvPr name="TextBox 37" id="37"/>
          <p:cNvSpPr txBox="true"/>
          <p:nvPr/>
        </p:nvSpPr>
        <p:spPr>
          <a:xfrm rot="0">
            <a:off x="11658916" y="4517152"/>
            <a:ext cx="5245910" cy="679450"/>
          </a:xfrm>
          <a:prstGeom prst="rect">
            <a:avLst/>
          </a:prstGeom>
        </p:spPr>
        <p:txBody>
          <a:bodyPr anchor="t" rtlCol="false" tIns="0" lIns="0" bIns="0" rIns="0">
            <a:spAutoFit/>
          </a:bodyPr>
          <a:lstStyle/>
          <a:p>
            <a:pPr algn="l">
              <a:lnSpc>
                <a:spcPts val="5599"/>
              </a:lnSpc>
            </a:pPr>
            <a:r>
              <a:rPr lang="en-US" sz="3999" spc="-259">
                <a:solidFill>
                  <a:srgbClr val="FFFFFF"/>
                </a:solidFill>
                <a:latin typeface="TS Qamus"/>
                <a:ea typeface="TS Qamus"/>
                <a:cs typeface="TS Qamus"/>
                <a:sym typeface="TS Qamus"/>
              </a:rPr>
              <a:t>Strategy 02</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777" r="0" b="-1777"/>
            </a:stretch>
          </a:blipFill>
        </p:spPr>
      </p:sp>
      <p:sp>
        <p:nvSpPr>
          <p:cNvPr name="AutoShape 3" id="3"/>
          <p:cNvSpPr/>
          <p:nvPr/>
        </p:nvSpPr>
        <p:spPr>
          <a:xfrm>
            <a:off x="10038640" y="-468675"/>
            <a:ext cx="0" cy="11118486"/>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
        <p:nvSpPr>
          <p:cNvPr name="AutoShape 4" id="4"/>
          <p:cNvSpPr/>
          <p:nvPr/>
        </p:nvSpPr>
        <p:spPr>
          <a:xfrm>
            <a:off x="477889" y="-448043"/>
            <a:ext cx="0" cy="11118486"/>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
        <p:nvSpPr>
          <p:cNvPr name="Freeform 5" id="5"/>
          <p:cNvSpPr/>
          <p:nvPr/>
        </p:nvSpPr>
        <p:spPr>
          <a:xfrm flipH="false" flipV="false" rot="0">
            <a:off x="783373" y="515779"/>
            <a:ext cx="443469" cy="305994"/>
          </a:xfrm>
          <a:custGeom>
            <a:avLst/>
            <a:gdLst/>
            <a:ahLst/>
            <a:cxnLst/>
            <a:rect r="r" b="b" t="t" l="l"/>
            <a:pathLst>
              <a:path h="305994" w="443469">
                <a:moveTo>
                  <a:pt x="0" y="0"/>
                </a:moveTo>
                <a:lnTo>
                  <a:pt x="443469" y="0"/>
                </a:lnTo>
                <a:lnTo>
                  <a:pt x="443469" y="305993"/>
                </a:lnTo>
                <a:lnTo>
                  <a:pt x="0" y="30599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16845300" y="391766"/>
            <a:ext cx="635507" cy="554019"/>
            <a:chOff x="0" y="0"/>
            <a:chExt cx="167376" cy="145915"/>
          </a:xfrm>
        </p:grpSpPr>
        <p:sp>
          <p:nvSpPr>
            <p:cNvPr name="Freeform 7" id="7"/>
            <p:cNvSpPr/>
            <p:nvPr/>
          </p:nvSpPr>
          <p:spPr>
            <a:xfrm flipH="false" flipV="false" rot="0">
              <a:off x="0" y="0"/>
              <a:ext cx="167376" cy="145915"/>
            </a:xfrm>
            <a:custGeom>
              <a:avLst/>
              <a:gdLst/>
              <a:ahLst/>
              <a:cxnLst/>
              <a:rect r="r" b="b" t="t" l="l"/>
              <a:pathLst>
                <a:path h="145915" w="167376">
                  <a:moveTo>
                    <a:pt x="72957" y="0"/>
                  </a:moveTo>
                  <a:lnTo>
                    <a:pt x="94419" y="0"/>
                  </a:lnTo>
                  <a:cubicBezTo>
                    <a:pt x="134712" y="0"/>
                    <a:pt x="167376" y="32664"/>
                    <a:pt x="167376" y="72957"/>
                  </a:cubicBezTo>
                  <a:lnTo>
                    <a:pt x="167376" y="72957"/>
                  </a:lnTo>
                  <a:cubicBezTo>
                    <a:pt x="167376" y="113250"/>
                    <a:pt x="134712" y="145915"/>
                    <a:pt x="94419" y="145915"/>
                  </a:cubicBezTo>
                  <a:lnTo>
                    <a:pt x="72957" y="145915"/>
                  </a:lnTo>
                  <a:cubicBezTo>
                    <a:pt x="32664" y="145915"/>
                    <a:pt x="0" y="113250"/>
                    <a:pt x="0" y="72957"/>
                  </a:cubicBezTo>
                  <a:lnTo>
                    <a:pt x="0" y="72957"/>
                  </a:lnTo>
                  <a:cubicBezTo>
                    <a:pt x="0" y="32664"/>
                    <a:pt x="32664" y="0"/>
                    <a:pt x="72957" y="0"/>
                  </a:cubicBezTo>
                  <a:close/>
                </a:path>
              </a:pathLst>
            </a:custGeom>
            <a:gradFill rotWithShape="true">
              <a:gsLst>
                <a:gs pos="0">
                  <a:srgbClr val="9B9B9B">
                    <a:alpha val="28000"/>
                  </a:srgbClr>
                </a:gs>
                <a:gs pos="25000">
                  <a:srgbClr val="FFFFFF">
                    <a:alpha val="29000"/>
                  </a:srgbClr>
                </a:gs>
                <a:gs pos="50000">
                  <a:srgbClr val="FFFFFF">
                    <a:alpha val="44500"/>
                  </a:srgbClr>
                </a:gs>
                <a:gs pos="75000">
                  <a:srgbClr val="FFFFFF">
                    <a:alpha val="29000"/>
                  </a:srgbClr>
                </a:gs>
                <a:gs pos="100000">
                  <a:srgbClr val="9B9B9B">
                    <a:alpha val="28000"/>
                  </a:srgbClr>
                </a:gs>
              </a:gsLst>
              <a:lin ang="2700000"/>
            </a:grad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8" id="8"/>
            <p:cNvSpPr txBox="true"/>
            <p:nvPr/>
          </p:nvSpPr>
          <p:spPr>
            <a:xfrm>
              <a:off x="0" y="-47625"/>
              <a:ext cx="167376" cy="193540"/>
            </a:xfrm>
            <a:prstGeom prst="rect">
              <a:avLst/>
            </a:prstGeom>
          </p:spPr>
          <p:txBody>
            <a:bodyPr anchor="ctr" rtlCol="false" tIns="50800" lIns="50800" bIns="50800" rIns="50800"/>
            <a:lstStyle/>
            <a:p>
              <a:pPr algn="ctr">
                <a:lnSpc>
                  <a:spcPts val="3359"/>
                </a:lnSpc>
              </a:pPr>
            </a:p>
          </p:txBody>
        </p:sp>
      </p:grpSp>
      <p:grpSp>
        <p:nvGrpSpPr>
          <p:cNvPr name="Group 9" id="9"/>
          <p:cNvGrpSpPr/>
          <p:nvPr/>
        </p:nvGrpSpPr>
        <p:grpSpPr>
          <a:xfrm rot="0">
            <a:off x="13913154" y="391766"/>
            <a:ext cx="2743897" cy="554019"/>
            <a:chOff x="0" y="0"/>
            <a:chExt cx="722672" cy="145915"/>
          </a:xfrm>
        </p:grpSpPr>
        <p:sp>
          <p:nvSpPr>
            <p:cNvPr name="Freeform 10" id="10"/>
            <p:cNvSpPr/>
            <p:nvPr/>
          </p:nvSpPr>
          <p:spPr>
            <a:xfrm flipH="false" flipV="false" rot="0">
              <a:off x="0" y="0"/>
              <a:ext cx="722672" cy="145915"/>
            </a:xfrm>
            <a:custGeom>
              <a:avLst/>
              <a:gdLst/>
              <a:ahLst/>
              <a:cxnLst/>
              <a:rect r="r" b="b" t="t" l="l"/>
              <a:pathLst>
                <a:path h="145915" w="722672">
                  <a:moveTo>
                    <a:pt x="72957" y="0"/>
                  </a:moveTo>
                  <a:lnTo>
                    <a:pt x="649715" y="0"/>
                  </a:lnTo>
                  <a:cubicBezTo>
                    <a:pt x="690008" y="0"/>
                    <a:pt x="722672" y="32664"/>
                    <a:pt x="722672" y="72957"/>
                  </a:cubicBezTo>
                  <a:lnTo>
                    <a:pt x="722672" y="72957"/>
                  </a:lnTo>
                  <a:cubicBezTo>
                    <a:pt x="722672" y="113250"/>
                    <a:pt x="690008" y="145915"/>
                    <a:pt x="649715" y="145915"/>
                  </a:cubicBezTo>
                  <a:lnTo>
                    <a:pt x="72957" y="145915"/>
                  </a:lnTo>
                  <a:cubicBezTo>
                    <a:pt x="32664" y="145915"/>
                    <a:pt x="0" y="113250"/>
                    <a:pt x="0" y="72957"/>
                  </a:cubicBezTo>
                  <a:lnTo>
                    <a:pt x="0" y="72957"/>
                  </a:lnTo>
                  <a:cubicBezTo>
                    <a:pt x="0" y="32664"/>
                    <a:pt x="32664" y="0"/>
                    <a:pt x="72957" y="0"/>
                  </a:cubicBezTo>
                  <a:close/>
                </a:path>
              </a:pathLst>
            </a:custGeom>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11" id="11"/>
            <p:cNvSpPr txBox="true"/>
            <p:nvPr/>
          </p:nvSpPr>
          <p:spPr>
            <a:xfrm>
              <a:off x="0" y="-47625"/>
              <a:ext cx="722672" cy="193540"/>
            </a:xfrm>
            <a:prstGeom prst="rect">
              <a:avLst/>
            </a:prstGeom>
          </p:spPr>
          <p:txBody>
            <a:bodyPr anchor="ctr" rtlCol="false" tIns="50800" lIns="50800" bIns="50800" rIns="50800"/>
            <a:lstStyle/>
            <a:p>
              <a:pPr algn="ctr">
                <a:lnSpc>
                  <a:spcPts val="3359"/>
                </a:lnSpc>
              </a:pPr>
            </a:p>
          </p:txBody>
        </p:sp>
      </p:grpSp>
      <p:grpSp>
        <p:nvGrpSpPr>
          <p:cNvPr name="Group 12" id="12"/>
          <p:cNvGrpSpPr/>
          <p:nvPr/>
        </p:nvGrpSpPr>
        <p:grpSpPr>
          <a:xfrm rot="0">
            <a:off x="6476000" y="391766"/>
            <a:ext cx="3341946" cy="554019"/>
            <a:chOff x="0" y="0"/>
            <a:chExt cx="880183" cy="145915"/>
          </a:xfrm>
        </p:grpSpPr>
        <p:sp>
          <p:nvSpPr>
            <p:cNvPr name="Freeform 13" id="13"/>
            <p:cNvSpPr/>
            <p:nvPr/>
          </p:nvSpPr>
          <p:spPr>
            <a:xfrm flipH="false" flipV="false" rot="0">
              <a:off x="0" y="0"/>
              <a:ext cx="880183" cy="145915"/>
            </a:xfrm>
            <a:custGeom>
              <a:avLst/>
              <a:gdLst/>
              <a:ahLst/>
              <a:cxnLst/>
              <a:rect r="r" b="b" t="t" l="l"/>
              <a:pathLst>
                <a:path h="145915" w="880183">
                  <a:moveTo>
                    <a:pt x="72957" y="0"/>
                  </a:moveTo>
                  <a:lnTo>
                    <a:pt x="807226" y="0"/>
                  </a:lnTo>
                  <a:cubicBezTo>
                    <a:pt x="847519" y="0"/>
                    <a:pt x="880183" y="32664"/>
                    <a:pt x="880183" y="72957"/>
                  </a:cubicBezTo>
                  <a:lnTo>
                    <a:pt x="880183" y="72957"/>
                  </a:lnTo>
                  <a:cubicBezTo>
                    <a:pt x="880183" y="113250"/>
                    <a:pt x="847519" y="145915"/>
                    <a:pt x="807226" y="145915"/>
                  </a:cubicBezTo>
                  <a:lnTo>
                    <a:pt x="72957" y="145915"/>
                  </a:lnTo>
                  <a:cubicBezTo>
                    <a:pt x="32664" y="145915"/>
                    <a:pt x="0" y="113250"/>
                    <a:pt x="0" y="72957"/>
                  </a:cubicBezTo>
                  <a:lnTo>
                    <a:pt x="0" y="72957"/>
                  </a:lnTo>
                  <a:cubicBezTo>
                    <a:pt x="0" y="32664"/>
                    <a:pt x="32664" y="0"/>
                    <a:pt x="72957" y="0"/>
                  </a:cubicBezTo>
                  <a:close/>
                </a:path>
              </a:pathLst>
            </a:custGeom>
            <a:solidFill>
              <a:srgbClr val="FFFFFF"/>
            </a:solid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14" id="14"/>
            <p:cNvSpPr txBox="true"/>
            <p:nvPr/>
          </p:nvSpPr>
          <p:spPr>
            <a:xfrm>
              <a:off x="0" y="-47625"/>
              <a:ext cx="880183" cy="193540"/>
            </a:xfrm>
            <a:prstGeom prst="rect">
              <a:avLst/>
            </a:prstGeom>
          </p:spPr>
          <p:txBody>
            <a:bodyPr anchor="ctr" rtlCol="false" tIns="50800" lIns="50800" bIns="50800" rIns="50800"/>
            <a:lstStyle/>
            <a:p>
              <a:pPr algn="ctr">
                <a:lnSpc>
                  <a:spcPts val="3359"/>
                </a:lnSpc>
              </a:pPr>
            </a:p>
          </p:txBody>
        </p:sp>
      </p:grpSp>
      <p:sp>
        <p:nvSpPr>
          <p:cNvPr name="AutoShape 15" id="15"/>
          <p:cNvSpPr/>
          <p:nvPr/>
        </p:nvSpPr>
        <p:spPr>
          <a:xfrm>
            <a:off x="477889" y="3841062"/>
            <a:ext cx="9560751" cy="0"/>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
        <p:nvSpPr>
          <p:cNvPr name="AutoShape 16" id="16"/>
          <p:cNvSpPr/>
          <p:nvPr/>
        </p:nvSpPr>
        <p:spPr>
          <a:xfrm>
            <a:off x="477889" y="6083801"/>
            <a:ext cx="9560751" cy="0"/>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
        <p:nvSpPr>
          <p:cNvPr name="AutoShape 17" id="17"/>
          <p:cNvSpPr/>
          <p:nvPr/>
        </p:nvSpPr>
        <p:spPr>
          <a:xfrm>
            <a:off x="-417053" y="1167061"/>
            <a:ext cx="19109210" cy="0"/>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
        <p:nvSpPr>
          <p:cNvPr name="AutoShape 18" id="18"/>
          <p:cNvSpPr/>
          <p:nvPr/>
        </p:nvSpPr>
        <p:spPr>
          <a:xfrm flipV="true">
            <a:off x="10038640" y="9780309"/>
            <a:ext cx="8653516" cy="0"/>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
        <p:nvSpPr>
          <p:cNvPr name="TextBox 19" id="19"/>
          <p:cNvSpPr txBox="true"/>
          <p:nvPr/>
        </p:nvSpPr>
        <p:spPr>
          <a:xfrm rot="0">
            <a:off x="1383454" y="471410"/>
            <a:ext cx="2385672" cy="382270"/>
          </a:xfrm>
          <a:prstGeom prst="rect">
            <a:avLst/>
          </a:prstGeom>
        </p:spPr>
        <p:txBody>
          <a:bodyPr anchor="t" rtlCol="false" tIns="0" lIns="0" bIns="0" rIns="0">
            <a:spAutoFit/>
          </a:bodyPr>
          <a:lstStyle/>
          <a:p>
            <a:pPr algn="l">
              <a:lnSpc>
                <a:spcPts val="3079"/>
              </a:lnSpc>
            </a:pPr>
            <a:r>
              <a:rPr lang="en-US" sz="2199" spc="-142">
                <a:solidFill>
                  <a:srgbClr val="FFFFFF"/>
                </a:solidFill>
                <a:latin typeface="TS Qamus"/>
                <a:ea typeface="TS Qamus"/>
                <a:cs typeface="TS Qamus"/>
                <a:sym typeface="TS Qamus"/>
              </a:rPr>
              <a:t>Salford &amp; Co.</a:t>
            </a:r>
          </a:p>
        </p:txBody>
      </p:sp>
      <p:sp>
        <p:nvSpPr>
          <p:cNvPr name="TextBox 20" id="20"/>
          <p:cNvSpPr txBox="true"/>
          <p:nvPr/>
        </p:nvSpPr>
        <p:spPr>
          <a:xfrm rot="0">
            <a:off x="14170902" y="477323"/>
            <a:ext cx="2228402" cy="325755"/>
          </a:xfrm>
          <a:prstGeom prst="rect">
            <a:avLst/>
          </a:prstGeom>
        </p:spPr>
        <p:txBody>
          <a:bodyPr anchor="t" rtlCol="false" tIns="0" lIns="0" bIns="0" rIns="0">
            <a:spAutoFit/>
          </a:bodyPr>
          <a:lstStyle/>
          <a:p>
            <a:pPr algn="ctr">
              <a:lnSpc>
                <a:spcPts val="2520"/>
              </a:lnSpc>
            </a:pPr>
            <a:r>
              <a:rPr lang="en-US" sz="1800" spc="-117">
                <a:solidFill>
                  <a:srgbClr val="FFFFFF"/>
                </a:solidFill>
                <a:latin typeface="Poppins"/>
                <a:ea typeface="Poppins"/>
                <a:cs typeface="Poppins"/>
                <a:sym typeface="Poppins"/>
              </a:rPr>
              <a:t>6 August, 2025</a:t>
            </a:r>
          </a:p>
        </p:txBody>
      </p:sp>
      <p:sp>
        <p:nvSpPr>
          <p:cNvPr name="TextBox 21" id="21"/>
          <p:cNvSpPr txBox="true"/>
          <p:nvPr/>
        </p:nvSpPr>
        <p:spPr>
          <a:xfrm rot="0">
            <a:off x="6740220" y="477323"/>
            <a:ext cx="2820551" cy="325755"/>
          </a:xfrm>
          <a:prstGeom prst="rect">
            <a:avLst/>
          </a:prstGeom>
        </p:spPr>
        <p:txBody>
          <a:bodyPr anchor="t" rtlCol="false" tIns="0" lIns="0" bIns="0" rIns="0">
            <a:spAutoFit/>
          </a:bodyPr>
          <a:lstStyle/>
          <a:p>
            <a:pPr algn="ctr">
              <a:lnSpc>
                <a:spcPts val="2520"/>
              </a:lnSpc>
            </a:pPr>
            <a:r>
              <a:rPr lang="en-US" sz="1800" spc="-117">
                <a:solidFill>
                  <a:srgbClr val="000000"/>
                </a:solidFill>
                <a:latin typeface="Poppins"/>
                <a:ea typeface="Poppins"/>
                <a:cs typeface="Poppins"/>
                <a:sym typeface="Poppins"/>
              </a:rPr>
              <a:t>Social</a:t>
            </a:r>
            <a:r>
              <a:rPr lang="en-US" sz="1800" spc="-117">
                <a:solidFill>
                  <a:srgbClr val="000000"/>
                </a:solidFill>
                <a:latin typeface="Poppins"/>
                <a:ea typeface="Poppins"/>
                <a:cs typeface="Poppins"/>
                <a:sym typeface="Poppins"/>
              </a:rPr>
              <a:t> Media Proposal</a:t>
            </a:r>
          </a:p>
        </p:txBody>
      </p:sp>
      <p:sp>
        <p:nvSpPr>
          <p:cNvPr name="TextBox 22" id="22"/>
          <p:cNvSpPr txBox="true"/>
          <p:nvPr/>
        </p:nvSpPr>
        <p:spPr>
          <a:xfrm rot="0">
            <a:off x="815264" y="1267074"/>
            <a:ext cx="8555075" cy="2189479"/>
          </a:xfrm>
          <a:prstGeom prst="rect">
            <a:avLst/>
          </a:prstGeom>
        </p:spPr>
        <p:txBody>
          <a:bodyPr anchor="t" rtlCol="false" tIns="0" lIns="0" bIns="0" rIns="0">
            <a:spAutoFit/>
          </a:bodyPr>
          <a:lstStyle/>
          <a:p>
            <a:pPr algn="l">
              <a:lnSpc>
                <a:spcPts val="17920"/>
              </a:lnSpc>
            </a:pPr>
            <a:r>
              <a:rPr lang="en-US" sz="12800" spc="-153" b="true">
                <a:solidFill>
                  <a:srgbClr val="FFFFFF"/>
                </a:solidFill>
                <a:latin typeface="Geometrica Sans Medium"/>
                <a:ea typeface="Geometrica Sans Medium"/>
                <a:cs typeface="Geometrica Sans Medium"/>
                <a:sym typeface="Geometrica Sans Medium"/>
              </a:rPr>
              <a:t>TalentXAI</a:t>
            </a:r>
          </a:p>
        </p:txBody>
      </p:sp>
      <p:sp>
        <p:nvSpPr>
          <p:cNvPr name="TextBox 23" id="23"/>
          <p:cNvSpPr txBox="true"/>
          <p:nvPr/>
        </p:nvSpPr>
        <p:spPr>
          <a:xfrm rot="0">
            <a:off x="1005108" y="4083949"/>
            <a:ext cx="8360627" cy="1376553"/>
          </a:xfrm>
          <a:prstGeom prst="rect">
            <a:avLst/>
          </a:prstGeom>
        </p:spPr>
        <p:txBody>
          <a:bodyPr anchor="t" rtlCol="false" tIns="0" lIns="0" bIns="0" rIns="0">
            <a:spAutoFit/>
          </a:bodyPr>
          <a:lstStyle/>
          <a:p>
            <a:pPr algn="l">
              <a:lnSpc>
                <a:spcPts val="5376"/>
              </a:lnSpc>
            </a:pPr>
            <a:r>
              <a:rPr lang="en-US" sz="4200" i="true" spc="-126">
                <a:solidFill>
                  <a:srgbClr val="C6C6C6"/>
                </a:solidFill>
                <a:latin typeface="Poppins Italics"/>
                <a:ea typeface="Poppins Italics"/>
                <a:cs typeface="Poppins Italics"/>
                <a:sym typeface="Poppins Italics"/>
              </a:rPr>
              <a:t>Rekomendasi Karir Berbasis NLP dan Explainable AI</a:t>
            </a:r>
          </a:p>
        </p:txBody>
      </p:sp>
      <p:grpSp>
        <p:nvGrpSpPr>
          <p:cNvPr name="Group 24" id="24"/>
          <p:cNvGrpSpPr/>
          <p:nvPr/>
        </p:nvGrpSpPr>
        <p:grpSpPr>
          <a:xfrm rot="0">
            <a:off x="783373" y="6802938"/>
            <a:ext cx="7083037" cy="3663116"/>
            <a:chOff x="0" y="0"/>
            <a:chExt cx="1382821" cy="715150"/>
          </a:xfrm>
        </p:grpSpPr>
        <p:sp>
          <p:nvSpPr>
            <p:cNvPr name="Freeform 25" id="25"/>
            <p:cNvSpPr/>
            <p:nvPr/>
          </p:nvSpPr>
          <p:spPr>
            <a:xfrm flipH="false" flipV="false" rot="0">
              <a:off x="0" y="0"/>
              <a:ext cx="1382821" cy="715150"/>
            </a:xfrm>
            <a:custGeom>
              <a:avLst/>
              <a:gdLst/>
              <a:ahLst/>
              <a:cxnLst/>
              <a:rect r="r" b="b" t="t" l="l"/>
              <a:pathLst>
                <a:path h="715150" w="1382821">
                  <a:moveTo>
                    <a:pt x="43721" y="0"/>
                  </a:moveTo>
                  <a:lnTo>
                    <a:pt x="1339101" y="0"/>
                  </a:lnTo>
                  <a:cubicBezTo>
                    <a:pt x="1350696" y="0"/>
                    <a:pt x="1361817" y="4606"/>
                    <a:pt x="1370016" y="12806"/>
                  </a:cubicBezTo>
                  <a:cubicBezTo>
                    <a:pt x="1378215" y="21005"/>
                    <a:pt x="1382821" y="32125"/>
                    <a:pt x="1382821" y="43721"/>
                  </a:cubicBezTo>
                  <a:lnTo>
                    <a:pt x="1382821" y="671429"/>
                  </a:lnTo>
                  <a:cubicBezTo>
                    <a:pt x="1382821" y="683025"/>
                    <a:pt x="1378215" y="694145"/>
                    <a:pt x="1370016" y="702345"/>
                  </a:cubicBezTo>
                  <a:cubicBezTo>
                    <a:pt x="1361817" y="710544"/>
                    <a:pt x="1350696" y="715150"/>
                    <a:pt x="1339101" y="715150"/>
                  </a:cubicBezTo>
                  <a:lnTo>
                    <a:pt x="43721" y="715150"/>
                  </a:lnTo>
                  <a:cubicBezTo>
                    <a:pt x="32125" y="715150"/>
                    <a:pt x="21005" y="710544"/>
                    <a:pt x="12806" y="702345"/>
                  </a:cubicBezTo>
                  <a:cubicBezTo>
                    <a:pt x="4606" y="694145"/>
                    <a:pt x="0" y="683025"/>
                    <a:pt x="0" y="671429"/>
                  </a:cubicBezTo>
                  <a:lnTo>
                    <a:pt x="0" y="43721"/>
                  </a:lnTo>
                  <a:cubicBezTo>
                    <a:pt x="0" y="32125"/>
                    <a:pt x="4606" y="21005"/>
                    <a:pt x="12806" y="12806"/>
                  </a:cubicBezTo>
                  <a:cubicBezTo>
                    <a:pt x="21005" y="4606"/>
                    <a:pt x="32125" y="0"/>
                    <a:pt x="43721" y="0"/>
                  </a:cubicBezTo>
                  <a:close/>
                </a:path>
              </a:pathLst>
            </a:custGeom>
            <a:blipFill>
              <a:blip r:embed="rId5"/>
              <a:stretch>
                <a:fillRect l="0" t="-33167" r="-28872" b="-33167"/>
              </a:stretch>
            </a:blipFill>
            <a:ln w="19050"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grpSp>
        <p:nvGrpSpPr>
          <p:cNvPr name="Group 26" id="26"/>
          <p:cNvGrpSpPr/>
          <p:nvPr/>
        </p:nvGrpSpPr>
        <p:grpSpPr>
          <a:xfrm rot="0">
            <a:off x="9817946" y="1555339"/>
            <a:ext cx="7345107" cy="2422837"/>
            <a:chOff x="0" y="0"/>
            <a:chExt cx="1857643" cy="612757"/>
          </a:xfrm>
        </p:grpSpPr>
        <p:sp>
          <p:nvSpPr>
            <p:cNvPr name="Freeform 27" id="27"/>
            <p:cNvSpPr/>
            <p:nvPr/>
          </p:nvSpPr>
          <p:spPr>
            <a:xfrm flipH="false" flipV="false" rot="0">
              <a:off x="0" y="0"/>
              <a:ext cx="1857643" cy="612757"/>
            </a:xfrm>
            <a:custGeom>
              <a:avLst/>
              <a:gdLst/>
              <a:ahLst/>
              <a:cxnLst/>
              <a:rect r="r" b="b" t="t" l="l"/>
              <a:pathLst>
                <a:path h="612757" w="1857643">
                  <a:moveTo>
                    <a:pt x="42161" y="0"/>
                  </a:moveTo>
                  <a:lnTo>
                    <a:pt x="1815482" y="0"/>
                  </a:lnTo>
                  <a:cubicBezTo>
                    <a:pt x="1838767" y="0"/>
                    <a:pt x="1857643" y="18876"/>
                    <a:pt x="1857643" y="42161"/>
                  </a:cubicBezTo>
                  <a:lnTo>
                    <a:pt x="1857643" y="570596"/>
                  </a:lnTo>
                  <a:cubicBezTo>
                    <a:pt x="1857643" y="581778"/>
                    <a:pt x="1853201" y="592502"/>
                    <a:pt x="1845295" y="600408"/>
                  </a:cubicBezTo>
                  <a:cubicBezTo>
                    <a:pt x="1837388" y="608315"/>
                    <a:pt x="1826664" y="612757"/>
                    <a:pt x="1815482" y="612757"/>
                  </a:cubicBezTo>
                  <a:lnTo>
                    <a:pt x="42161" y="612757"/>
                  </a:lnTo>
                  <a:cubicBezTo>
                    <a:pt x="30979" y="612757"/>
                    <a:pt x="20255" y="608315"/>
                    <a:pt x="12349" y="600408"/>
                  </a:cubicBezTo>
                  <a:cubicBezTo>
                    <a:pt x="4442" y="592502"/>
                    <a:pt x="0" y="581778"/>
                    <a:pt x="0" y="570596"/>
                  </a:cubicBezTo>
                  <a:lnTo>
                    <a:pt x="0" y="42161"/>
                  </a:lnTo>
                  <a:cubicBezTo>
                    <a:pt x="0" y="30979"/>
                    <a:pt x="4442" y="20255"/>
                    <a:pt x="12349" y="12349"/>
                  </a:cubicBezTo>
                  <a:cubicBezTo>
                    <a:pt x="20255" y="4442"/>
                    <a:pt x="30979" y="0"/>
                    <a:pt x="42161" y="0"/>
                  </a:cubicBezTo>
                  <a:close/>
                </a:path>
              </a:pathLst>
            </a:custGeom>
            <a:solidFill>
              <a:srgbClr val="FFFFFF"/>
            </a:solid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28" id="28"/>
            <p:cNvSpPr txBox="true"/>
            <p:nvPr/>
          </p:nvSpPr>
          <p:spPr>
            <a:xfrm>
              <a:off x="0" y="-47625"/>
              <a:ext cx="1857643" cy="660382"/>
            </a:xfrm>
            <a:prstGeom prst="rect">
              <a:avLst/>
            </a:prstGeom>
          </p:spPr>
          <p:txBody>
            <a:bodyPr anchor="ctr" rtlCol="false" tIns="50800" lIns="50800" bIns="50800" rIns="50800"/>
            <a:lstStyle/>
            <a:p>
              <a:pPr algn="ctr">
                <a:lnSpc>
                  <a:spcPts val="3359"/>
                </a:lnSpc>
              </a:pPr>
            </a:p>
          </p:txBody>
        </p:sp>
      </p:grpSp>
      <p:grpSp>
        <p:nvGrpSpPr>
          <p:cNvPr name="Group 29" id="29"/>
          <p:cNvGrpSpPr/>
          <p:nvPr/>
        </p:nvGrpSpPr>
        <p:grpSpPr>
          <a:xfrm rot="0">
            <a:off x="9817946" y="7293482"/>
            <a:ext cx="7345107" cy="2422837"/>
            <a:chOff x="0" y="0"/>
            <a:chExt cx="1857643" cy="612757"/>
          </a:xfrm>
        </p:grpSpPr>
        <p:sp>
          <p:nvSpPr>
            <p:cNvPr name="Freeform 30" id="30"/>
            <p:cNvSpPr/>
            <p:nvPr/>
          </p:nvSpPr>
          <p:spPr>
            <a:xfrm flipH="false" flipV="false" rot="0">
              <a:off x="0" y="0"/>
              <a:ext cx="1857643" cy="612757"/>
            </a:xfrm>
            <a:custGeom>
              <a:avLst/>
              <a:gdLst/>
              <a:ahLst/>
              <a:cxnLst/>
              <a:rect r="r" b="b" t="t" l="l"/>
              <a:pathLst>
                <a:path h="612757" w="1857643">
                  <a:moveTo>
                    <a:pt x="42161" y="0"/>
                  </a:moveTo>
                  <a:lnTo>
                    <a:pt x="1815482" y="0"/>
                  </a:lnTo>
                  <a:cubicBezTo>
                    <a:pt x="1838767" y="0"/>
                    <a:pt x="1857643" y="18876"/>
                    <a:pt x="1857643" y="42161"/>
                  </a:cubicBezTo>
                  <a:lnTo>
                    <a:pt x="1857643" y="570596"/>
                  </a:lnTo>
                  <a:cubicBezTo>
                    <a:pt x="1857643" y="581778"/>
                    <a:pt x="1853201" y="592502"/>
                    <a:pt x="1845295" y="600408"/>
                  </a:cubicBezTo>
                  <a:cubicBezTo>
                    <a:pt x="1837388" y="608315"/>
                    <a:pt x="1826664" y="612757"/>
                    <a:pt x="1815482" y="612757"/>
                  </a:cubicBezTo>
                  <a:lnTo>
                    <a:pt x="42161" y="612757"/>
                  </a:lnTo>
                  <a:cubicBezTo>
                    <a:pt x="30979" y="612757"/>
                    <a:pt x="20255" y="608315"/>
                    <a:pt x="12349" y="600408"/>
                  </a:cubicBezTo>
                  <a:cubicBezTo>
                    <a:pt x="4442" y="592502"/>
                    <a:pt x="0" y="581778"/>
                    <a:pt x="0" y="570596"/>
                  </a:cubicBezTo>
                  <a:lnTo>
                    <a:pt x="0" y="42161"/>
                  </a:lnTo>
                  <a:cubicBezTo>
                    <a:pt x="0" y="30979"/>
                    <a:pt x="4442" y="20255"/>
                    <a:pt x="12349" y="12349"/>
                  </a:cubicBezTo>
                  <a:cubicBezTo>
                    <a:pt x="20255" y="4442"/>
                    <a:pt x="30979" y="0"/>
                    <a:pt x="42161" y="0"/>
                  </a:cubicBezTo>
                  <a:close/>
                </a:path>
              </a:pathLst>
            </a:custGeom>
            <a:solidFill>
              <a:srgbClr val="FFFFFF"/>
            </a:solid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31" id="31"/>
            <p:cNvSpPr txBox="true"/>
            <p:nvPr/>
          </p:nvSpPr>
          <p:spPr>
            <a:xfrm>
              <a:off x="0" y="-47625"/>
              <a:ext cx="1857643" cy="660382"/>
            </a:xfrm>
            <a:prstGeom prst="rect">
              <a:avLst/>
            </a:prstGeom>
          </p:spPr>
          <p:txBody>
            <a:bodyPr anchor="ctr" rtlCol="false" tIns="50800" lIns="50800" bIns="50800" rIns="50800"/>
            <a:lstStyle/>
            <a:p>
              <a:pPr algn="ctr">
                <a:lnSpc>
                  <a:spcPts val="3359"/>
                </a:lnSpc>
              </a:pPr>
            </a:p>
          </p:txBody>
        </p:sp>
      </p:grpSp>
      <p:grpSp>
        <p:nvGrpSpPr>
          <p:cNvPr name="Group 32" id="32"/>
          <p:cNvGrpSpPr/>
          <p:nvPr/>
        </p:nvGrpSpPr>
        <p:grpSpPr>
          <a:xfrm rot="0">
            <a:off x="9817946" y="4387468"/>
            <a:ext cx="7345107" cy="2499328"/>
            <a:chOff x="0" y="0"/>
            <a:chExt cx="1857643" cy="632103"/>
          </a:xfrm>
        </p:grpSpPr>
        <p:sp>
          <p:nvSpPr>
            <p:cNvPr name="Freeform 33" id="33"/>
            <p:cNvSpPr/>
            <p:nvPr/>
          </p:nvSpPr>
          <p:spPr>
            <a:xfrm flipH="false" flipV="false" rot="0">
              <a:off x="0" y="0"/>
              <a:ext cx="1857643" cy="632103"/>
            </a:xfrm>
            <a:custGeom>
              <a:avLst/>
              <a:gdLst/>
              <a:ahLst/>
              <a:cxnLst/>
              <a:rect r="r" b="b" t="t" l="l"/>
              <a:pathLst>
                <a:path h="632103" w="1857643">
                  <a:moveTo>
                    <a:pt x="42161" y="0"/>
                  </a:moveTo>
                  <a:lnTo>
                    <a:pt x="1815482" y="0"/>
                  </a:lnTo>
                  <a:cubicBezTo>
                    <a:pt x="1838767" y="0"/>
                    <a:pt x="1857643" y="18876"/>
                    <a:pt x="1857643" y="42161"/>
                  </a:cubicBezTo>
                  <a:lnTo>
                    <a:pt x="1857643" y="589942"/>
                  </a:lnTo>
                  <a:cubicBezTo>
                    <a:pt x="1857643" y="601123"/>
                    <a:pt x="1853201" y="611847"/>
                    <a:pt x="1845295" y="619754"/>
                  </a:cubicBezTo>
                  <a:cubicBezTo>
                    <a:pt x="1837388" y="627661"/>
                    <a:pt x="1826664" y="632103"/>
                    <a:pt x="1815482" y="632103"/>
                  </a:cubicBezTo>
                  <a:lnTo>
                    <a:pt x="42161" y="632103"/>
                  </a:lnTo>
                  <a:cubicBezTo>
                    <a:pt x="30979" y="632103"/>
                    <a:pt x="20255" y="627661"/>
                    <a:pt x="12349" y="619754"/>
                  </a:cubicBezTo>
                  <a:cubicBezTo>
                    <a:pt x="4442" y="611847"/>
                    <a:pt x="0" y="601123"/>
                    <a:pt x="0" y="589942"/>
                  </a:cubicBezTo>
                  <a:lnTo>
                    <a:pt x="0" y="42161"/>
                  </a:lnTo>
                  <a:cubicBezTo>
                    <a:pt x="0" y="30979"/>
                    <a:pt x="4442" y="20255"/>
                    <a:pt x="12349" y="12349"/>
                  </a:cubicBezTo>
                  <a:cubicBezTo>
                    <a:pt x="20255" y="4442"/>
                    <a:pt x="30979" y="0"/>
                    <a:pt x="42161" y="0"/>
                  </a:cubicBezTo>
                  <a:close/>
                </a:path>
              </a:pathLst>
            </a:custGeom>
            <a:gradFill rotWithShape="true">
              <a:gsLst>
                <a:gs pos="0">
                  <a:srgbClr val="292929">
                    <a:alpha val="100000"/>
                  </a:srgbClr>
                </a:gs>
                <a:gs pos="100000">
                  <a:srgbClr val="3F4E52">
                    <a:alpha val="100000"/>
                  </a:srgbClr>
                </a:gs>
              </a:gsLst>
              <a:lin ang="0"/>
            </a:grad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34" id="34"/>
            <p:cNvSpPr txBox="true"/>
            <p:nvPr/>
          </p:nvSpPr>
          <p:spPr>
            <a:xfrm>
              <a:off x="0" y="-47625"/>
              <a:ext cx="1857643" cy="679728"/>
            </a:xfrm>
            <a:prstGeom prst="rect">
              <a:avLst/>
            </a:prstGeom>
          </p:spPr>
          <p:txBody>
            <a:bodyPr anchor="ctr" rtlCol="false" tIns="50800" lIns="50800" bIns="50800" rIns="50800"/>
            <a:lstStyle/>
            <a:p>
              <a:pPr algn="ctr">
                <a:lnSpc>
                  <a:spcPts val="3359"/>
                </a:lnSpc>
              </a:pPr>
            </a:p>
          </p:txBody>
        </p:sp>
      </p:grpSp>
      <p:sp>
        <p:nvSpPr>
          <p:cNvPr name="TextBox 35" id="35"/>
          <p:cNvSpPr txBox="true"/>
          <p:nvPr/>
        </p:nvSpPr>
        <p:spPr>
          <a:xfrm rot="0">
            <a:off x="10239240" y="2501417"/>
            <a:ext cx="6606061" cy="1275423"/>
          </a:xfrm>
          <a:prstGeom prst="rect">
            <a:avLst/>
          </a:prstGeom>
        </p:spPr>
        <p:txBody>
          <a:bodyPr anchor="t" rtlCol="false" tIns="0" lIns="0" bIns="0" rIns="0">
            <a:spAutoFit/>
          </a:bodyPr>
          <a:lstStyle/>
          <a:p>
            <a:pPr algn="l">
              <a:lnSpc>
                <a:spcPts val="2516"/>
              </a:lnSpc>
            </a:pPr>
            <a:r>
              <a:rPr lang="en-US" sz="1966" i="true" spc="-58">
                <a:solidFill>
                  <a:srgbClr val="4D4D4D"/>
                </a:solidFill>
                <a:latin typeface="Poppins Italics"/>
                <a:ea typeface="Poppins Italics"/>
                <a:cs typeface="Poppins Italics"/>
                <a:sym typeface="Poppins Italics"/>
              </a:rPr>
              <a:t>Mengidentifikasi dan mengekstrak skill yang dibutuhkan dari data lowongan pekerjaan menggunakan pendekatan Natural Language Processing (NLP).</a:t>
            </a:r>
          </a:p>
        </p:txBody>
      </p:sp>
      <p:sp>
        <p:nvSpPr>
          <p:cNvPr name="TextBox 36" id="36"/>
          <p:cNvSpPr txBox="true"/>
          <p:nvPr/>
        </p:nvSpPr>
        <p:spPr>
          <a:xfrm rot="0">
            <a:off x="10239240" y="8287124"/>
            <a:ext cx="6606061" cy="1275423"/>
          </a:xfrm>
          <a:prstGeom prst="rect">
            <a:avLst/>
          </a:prstGeom>
        </p:spPr>
        <p:txBody>
          <a:bodyPr anchor="t" rtlCol="false" tIns="0" lIns="0" bIns="0" rIns="0">
            <a:spAutoFit/>
          </a:bodyPr>
          <a:lstStyle/>
          <a:p>
            <a:pPr algn="l">
              <a:lnSpc>
                <a:spcPts val="2516"/>
              </a:lnSpc>
            </a:pPr>
            <a:r>
              <a:rPr lang="en-US" sz="1966" i="true" spc="-58">
                <a:solidFill>
                  <a:srgbClr val="4D4D4D"/>
                </a:solidFill>
                <a:latin typeface="Poppins Italics"/>
                <a:ea typeface="Poppins Italics"/>
                <a:cs typeface="Poppins Italics"/>
                <a:sym typeface="Poppins Italics"/>
              </a:rPr>
              <a:t>Memberikan penjelasan atas rekomendasi yang dihasilkan, seperti kompetensi yang memiliki kontribusi terhadap tingkat kecocokan, sehingga hasil rekomendasi lebih transparan dan mudah dipahami.</a:t>
            </a:r>
          </a:p>
        </p:txBody>
      </p:sp>
      <p:sp>
        <p:nvSpPr>
          <p:cNvPr name="TextBox 37" id="37"/>
          <p:cNvSpPr txBox="true"/>
          <p:nvPr/>
        </p:nvSpPr>
        <p:spPr>
          <a:xfrm rot="0">
            <a:off x="10317247" y="5448671"/>
            <a:ext cx="6528054" cy="1190714"/>
          </a:xfrm>
          <a:prstGeom prst="rect">
            <a:avLst/>
          </a:prstGeom>
        </p:spPr>
        <p:txBody>
          <a:bodyPr anchor="t" rtlCol="false" tIns="0" lIns="0" bIns="0" rIns="0">
            <a:spAutoFit/>
          </a:bodyPr>
          <a:lstStyle/>
          <a:p>
            <a:pPr algn="l">
              <a:lnSpc>
                <a:spcPts val="2388"/>
              </a:lnSpc>
            </a:pPr>
            <a:r>
              <a:rPr lang="en-US" sz="1866" i="true" spc="-55">
                <a:solidFill>
                  <a:srgbClr val="C6C6C6"/>
                </a:solidFill>
                <a:latin typeface="Poppins Italics"/>
                <a:ea typeface="Poppins Italics"/>
                <a:cs typeface="Poppins Italics"/>
                <a:sym typeface="Poppins Italics"/>
              </a:rPr>
              <a:t>Mencocokkan profil kompetensi mahasiswa dengan kebutuhan kompetensi pada lowongan pekerjaan menggunakan similarity, sehingga diperoleh pekerjaan yang paling relevan dengan profil mahasiswa.</a:t>
            </a:r>
          </a:p>
        </p:txBody>
      </p:sp>
      <p:sp>
        <p:nvSpPr>
          <p:cNvPr name="Freeform 38" id="38"/>
          <p:cNvSpPr/>
          <p:nvPr/>
        </p:nvSpPr>
        <p:spPr>
          <a:xfrm flipH="false" flipV="false" rot="0">
            <a:off x="10300299" y="1960336"/>
            <a:ext cx="360107" cy="360107"/>
          </a:xfrm>
          <a:custGeom>
            <a:avLst/>
            <a:gdLst/>
            <a:ahLst/>
            <a:cxnLst/>
            <a:rect r="r" b="b" t="t" l="l"/>
            <a:pathLst>
              <a:path h="360107" w="360107">
                <a:moveTo>
                  <a:pt x="0" y="0"/>
                </a:moveTo>
                <a:lnTo>
                  <a:pt x="360107" y="0"/>
                </a:lnTo>
                <a:lnTo>
                  <a:pt x="360107" y="360106"/>
                </a:lnTo>
                <a:lnTo>
                  <a:pt x="0" y="36010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9" id="39"/>
          <p:cNvSpPr/>
          <p:nvPr/>
        </p:nvSpPr>
        <p:spPr>
          <a:xfrm flipH="false" flipV="false" rot="0">
            <a:off x="10300299" y="7698479"/>
            <a:ext cx="360107" cy="360107"/>
          </a:xfrm>
          <a:custGeom>
            <a:avLst/>
            <a:gdLst/>
            <a:ahLst/>
            <a:cxnLst/>
            <a:rect r="r" b="b" t="t" l="l"/>
            <a:pathLst>
              <a:path h="360107" w="360107">
                <a:moveTo>
                  <a:pt x="0" y="0"/>
                </a:moveTo>
                <a:lnTo>
                  <a:pt x="360107" y="0"/>
                </a:lnTo>
                <a:lnTo>
                  <a:pt x="360107" y="360106"/>
                </a:lnTo>
                <a:lnTo>
                  <a:pt x="0" y="36010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40" id="40"/>
          <p:cNvSpPr/>
          <p:nvPr/>
        </p:nvSpPr>
        <p:spPr>
          <a:xfrm flipH="false" flipV="false" rot="0">
            <a:off x="10378306" y="4850501"/>
            <a:ext cx="360107" cy="360107"/>
          </a:xfrm>
          <a:custGeom>
            <a:avLst/>
            <a:gdLst/>
            <a:ahLst/>
            <a:cxnLst/>
            <a:rect r="r" b="b" t="t" l="l"/>
            <a:pathLst>
              <a:path h="360107" w="360107">
                <a:moveTo>
                  <a:pt x="0" y="0"/>
                </a:moveTo>
                <a:lnTo>
                  <a:pt x="360107" y="0"/>
                </a:lnTo>
                <a:lnTo>
                  <a:pt x="360107" y="360106"/>
                </a:lnTo>
                <a:lnTo>
                  <a:pt x="0" y="36010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AutoShape 41" id="41"/>
          <p:cNvSpPr/>
          <p:nvPr/>
        </p:nvSpPr>
        <p:spPr>
          <a:xfrm>
            <a:off x="6223588" y="-468675"/>
            <a:ext cx="0" cy="1635737"/>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777" r="0" b="-1777"/>
            </a:stretch>
          </a:blipFill>
        </p:spPr>
      </p:sp>
      <p:sp>
        <p:nvSpPr>
          <p:cNvPr name="AutoShape 3" id="3"/>
          <p:cNvSpPr/>
          <p:nvPr/>
        </p:nvSpPr>
        <p:spPr>
          <a:xfrm>
            <a:off x="10038640" y="-468675"/>
            <a:ext cx="0" cy="1635737"/>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
        <p:nvSpPr>
          <p:cNvPr name="AutoShape 4" id="4"/>
          <p:cNvSpPr/>
          <p:nvPr/>
        </p:nvSpPr>
        <p:spPr>
          <a:xfrm>
            <a:off x="477889" y="-448043"/>
            <a:ext cx="0" cy="11118486"/>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
        <p:nvSpPr>
          <p:cNvPr name="Freeform 5" id="5"/>
          <p:cNvSpPr/>
          <p:nvPr/>
        </p:nvSpPr>
        <p:spPr>
          <a:xfrm flipH="false" flipV="false" rot="0">
            <a:off x="783373" y="515779"/>
            <a:ext cx="443469" cy="305994"/>
          </a:xfrm>
          <a:custGeom>
            <a:avLst/>
            <a:gdLst/>
            <a:ahLst/>
            <a:cxnLst/>
            <a:rect r="r" b="b" t="t" l="l"/>
            <a:pathLst>
              <a:path h="305994" w="443469">
                <a:moveTo>
                  <a:pt x="0" y="0"/>
                </a:moveTo>
                <a:lnTo>
                  <a:pt x="443469" y="0"/>
                </a:lnTo>
                <a:lnTo>
                  <a:pt x="443469" y="305993"/>
                </a:lnTo>
                <a:lnTo>
                  <a:pt x="0" y="30599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16845300" y="391766"/>
            <a:ext cx="635507" cy="554019"/>
            <a:chOff x="0" y="0"/>
            <a:chExt cx="167376" cy="145915"/>
          </a:xfrm>
        </p:grpSpPr>
        <p:sp>
          <p:nvSpPr>
            <p:cNvPr name="Freeform 7" id="7"/>
            <p:cNvSpPr/>
            <p:nvPr/>
          </p:nvSpPr>
          <p:spPr>
            <a:xfrm flipH="false" flipV="false" rot="0">
              <a:off x="0" y="0"/>
              <a:ext cx="167376" cy="145915"/>
            </a:xfrm>
            <a:custGeom>
              <a:avLst/>
              <a:gdLst/>
              <a:ahLst/>
              <a:cxnLst/>
              <a:rect r="r" b="b" t="t" l="l"/>
              <a:pathLst>
                <a:path h="145915" w="167376">
                  <a:moveTo>
                    <a:pt x="72957" y="0"/>
                  </a:moveTo>
                  <a:lnTo>
                    <a:pt x="94419" y="0"/>
                  </a:lnTo>
                  <a:cubicBezTo>
                    <a:pt x="134712" y="0"/>
                    <a:pt x="167376" y="32664"/>
                    <a:pt x="167376" y="72957"/>
                  </a:cubicBezTo>
                  <a:lnTo>
                    <a:pt x="167376" y="72957"/>
                  </a:lnTo>
                  <a:cubicBezTo>
                    <a:pt x="167376" y="113250"/>
                    <a:pt x="134712" y="145915"/>
                    <a:pt x="94419" y="145915"/>
                  </a:cubicBezTo>
                  <a:lnTo>
                    <a:pt x="72957" y="145915"/>
                  </a:lnTo>
                  <a:cubicBezTo>
                    <a:pt x="32664" y="145915"/>
                    <a:pt x="0" y="113250"/>
                    <a:pt x="0" y="72957"/>
                  </a:cubicBezTo>
                  <a:lnTo>
                    <a:pt x="0" y="72957"/>
                  </a:lnTo>
                  <a:cubicBezTo>
                    <a:pt x="0" y="32664"/>
                    <a:pt x="32664" y="0"/>
                    <a:pt x="72957" y="0"/>
                  </a:cubicBezTo>
                  <a:close/>
                </a:path>
              </a:pathLst>
            </a:custGeom>
            <a:gradFill rotWithShape="true">
              <a:gsLst>
                <a:gs pos="0">
                  <a:srgbClr val="9B9B9B">
                    <a:alpha val="28000"/>
                  </a:srgbClr>
                </a:gs>
                <a:gs pos="25000">
                  <a:srgbClr val="FFFFFF">
                    <a:alpha val="29000"/>
                  </a:srgbClr>
                </a:gs>
                <a:gs pos="50000">
                  <a:srgbClr val="FFFFFF">
                    <a:alpha val="44500"/>
                  </a:srgbClr>
                </a:gs>
                <a:gs pos="75000">
                  <a:srgbClr val="FFFFFF">
                    <a:alpha val="29000"/>
                  </a:srgbClr>
                </a:gs>
                <a:gs pos="100000">
                  <a:srgbClr val="9B9B9B">
                    <a:alpha val="28000"/>
                  </a:srgbClr>
                </a:gs>
              </a:gsLst>
              <a:lin ang="2700000"/>
            </a:grad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8" id="8"/>
            <p:cNvSpPr txBox="true"/>
            <p:nvPr/>
          </p:nvSpPr>
          <p:spPr>
            <a:xfrm>
              <a:off x="0" y="-47625"/>
              <a:ext cx="167376" cy="193540"/>
            </a:xfrm>
            <a:prstGeom prst="rect">
              <a:avLst/>
            </a:prstGeom>
          </p:spPr>
          <p:txBody>
            <a:bodyPr anchor="ctr" rtlCol="false" tIns="50800" lIns="50800" bIns="50800" rIns="50800"/>
            <a:lstStyle/>
            <a:p>
              <a:pPr algn="ctr">
                <a:lnSpc>
                  <a:spcPts val="3359"/>
                </a:lnSpc>
              </a:pPr>
            </a:p>
          </p:txBody>
        </p:sp>
      </p:grpSp>
      <p:grpSp>
        <p:nvGrpSpPr>
          <p:cNvPr name="Group 9" id="9"/>
          <p:cNvGrpSpPr/>
          <p:nvPr/>
        </p:nvGrpSpPr>
        <p:grpSpPr>
          <a:xfrm rot="0">
            <a:off x="13913154" y="391766"/>
            <a:ext cx="2743897" cy="554019"/>
            <a:chOff x="0" y="0"/>
            <a:chExt cx="722672" cy="145915"/>
          </a:xfrm>
        </p:grpSpPr>
        <p:sp>
          <p:nvSpPr>
            <p:cNvPr name="Freeform 10" id="10"/>
            <p:cNvSpPr/>
            <p:nvPr/>
          </p:nvSpPr>
          <p:spPr>
            <a:xfrm flipH="false" flipV="false" rot="0">
              <a:off x="0" y="0"/>
              <a:ext cx="722672" cy="145915"/>
            </a:xfrm>
            <a:custGeom>
              <a:avLst/>
              <a:gdLst/>
              <a:ahLst/>
              <a:cxnLst/>
              <a:rect r="r" b="b" t="t" l="l"/>
              <a:pathLst>
                <a:path h="145915" w="722672">
                  <a:moveTo>
                    <a:pt x="72957" y="0"/>
                  </a:moveTo>
                  <a:lnTo>
                    <a:pt x="649715" y="0"/>
                  </a:lnTo>
                  <a:cubicBezTo>
                    <a:pt x="690008" y="0"/>
                    <a:pt x="722672" y="32664"/>
                    <a:pt x="722672" y="72957"/>
                  </a:cubicBezTo>
                  <a:lnTo>
                    <a:pt x="722672" y="72957"/>
                  </a:lnTo>
                  <a:cubicBezTo>
                    <a:pt x="722672" y="113250"/>
                    <a:pt x="690008" y="145915"/>
                    <a:pt x="649715" y="145915"/>
                  </a:cubicBezTo>
                  <a:lnTo>
                    <a:pt x="72957" y="145915"/>
                  </a:lnTo>
                  <a:cubicBezTo>
                    <a:pt x="32664" y="145915"/>
                    <a:pt x="0" y="113250"/>
                    <a:pt x="0" y="72957"/>
                  </a:cubicBezTo>
                  <a:lnTo>
                    <a:pt x="0" y="72957"/>
                  </a:lnTo>
                  <a:cubicBezTo>
                    <a:pt x="0" y="32664"/>
                    <a:pt x="32664" y="0"/>
                    <a:pt x="72957" y="0"/>
                  </a:cubicBezTo>
                  <a:close/>
                </a:path>
              </a:pathLst>
            </a:custGeom>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11" id="11"/>
            <p:cNvSpPr txBox="true"/>
            <p:nvPr/>
          </p:nvSpPr>
          <p:spPr>
            <a:xfrm>
              <a:off x="0" y="-47625"/>
              <a:ext cx="722672" cy="193540"/>
            </a:xfrm>
            <a:prstGeom prst="rect">
              <a:avLst/>
            </a:prstGeom>
          </p:spPr>
          <p:txBody>
            <a:bodyPr anchor="ctr" rtlCol="false" tIns="50800" lIns="50800" bIns="50800" rIns="50800"/>
            <a:lstStyle/>
            <a:p>
              <a:pPr algn="ctr">
                <a:lnSpc>
                  <a:spcPts val="3359"/>
                </a:lnSpc>
              </a:pPr>
            </a:p>
          </p:txBody>
        </p:sp>
      </p:grpSp>
      <p:sp>
        <p:nvSpPr>
          <p:cNvPr name="TextBox 12" id="12"/>
          <p:cNvSpPr txBox="true"/>
          <p:nvPr/>
        </p:nvSpPr>
        <p:spPr>
          <a:xfrm rot="0">
            <a:off x="1383454" y="471410"/>
            <a:ext cx="2385672" cy="382270"/>
          </a:xfrm>
          <a:prstGeom prst="rect">
            <a:avLst/>
          </a:prstGeom>
        </p:spPr>
        <p:txBody>
          <a:bodyPr anchor="t" rtlCol="false" tIns="0" lIns="0" bIns="0" rIns="0">
            <a:spAutoFit/>
          </a:bodyPr>
          <a:lstStyle/>
          <a:p>
            <a:pPr algn="l">
              <a:lnSpc>
                <a:spcPts val="3079"/>
              </a:lnSpc>
            </a:pPr>
            <a:r>
              <a:rPr lang="en-US" sz="2199" spc="-142">
                <a:solidFill>
                  <a:srgbClr val="FFFFFF"/>
                </a:solidFill>
                <a:latin typeface="TS Qamus"/>
                <a:ea typeface="TS Qamus"/>
                <a:cs typeface="TS Qamus"/>
                <a:sym typeface="TS Qamus"/>
              </a:rPr>
              <a:t>Salford &amp; Co.</a:t>
            </a:r>
          </a:p>
        </p:txBody>
      </p:sp>
      <p:sp>
        <p:nvSpPr>
          <p:cNvPr name="TextBox 13" id="13"/>
          <p:cNvSpPr txBox="true"/>
          <p:nvPr/>
        </p:nvSpPr>
        <p:spPr>
          <a:xfrm rot="0">
            <a:off x="14170902" y="477323"/>
            <a:ext cx="2228402" cy="325755"/>
          </a:xfrm>
          <a:prstGeom prst="rect">
            <a:avLst/>
          </a:prstGeom>
        </p:spPr>
        <p:txBody>
          <a:bodyPr anchor="t" rtlCol="false" tIns="0" lIns="0" bIns="0" rIns="0">
            <a:spAutoFit/>
          </a:bodyPr>
          <a:lstStyle/>
          <a:p>
            <a:pPr algn="ctr">
              <a:lnSpc>
                <a:spcPts val="2520"/>
              </a:lnSpc>
            </a:pPr>
            <a:r>
              <a:rPr lang="en-US" sz="1800" spc="-117">
                <a:solidFill>
                  <a:srgbClr val="FFFFFF"/>
                </a:solidFill>
                <a:latin typeface="Poppins"/>
                <a:ea typeface="Poppins"/>
                <a:cs typeface="Poppins"/>
                <a:sym typeface="Poppins"/>
              </a:rPr>
              <a:t>6 August, 2025</a:t>
            </a:r>
          </a:p>
        </p:txBody>
      </p:sp>
      <p:grpSp>
        <p:nvGrpSpPr>
          <p:cNvPr name="Group 14" id="14"/>
          <p:cNvGrpSpPr/>
          <p:nvPr/>
        </p:nvGrpSpPr>
        <p:grpSpPr>
          <a:xfrm rot="0">
            <a:off x="6476000" y="391766"/>
            <a:ext cx="3341946" cy="554019"/>
            <a:chOff x="0" y="0"/>
            <a:chExt cx="880183" cy="145915"/>
          </a:xfrm>
        </p:grpSpPr>
        <p:sp>
          <p:nvSpPr>
            <p:cNvPr name="Freeform 15" id="15"/>
            <p:cNvSpPr/>
            <p:nvPr/>
          </p:nvSpPr>
          <p:spPr>
            <a:xfrm flipH="false" flipV="false" rot="0">
              <a:off x="0" y="0"/>
              <a:ext cx="880183" cy="145915"/>
            </a:xfrm>
            <a:custGeom>
              <a:avLst/>
              <a:gdLst/>
              <a:ahLst/>
              <a:cxnLst/>
              <a:rect r="r" b="b" t="t" l="l"/>
              <a:pathLst>
                <a:path h="145915" w="880183">
                  <a:moveTo>
                    <a:pt x="72957" y="0"/>
                  </a:moveTo>
                  <a:lnTo>
                    <a:pt x="807226" y="0"/>
                  </a:lnTo>
                  <a:cubicBezTo>
                    <a:pt x="847519" y="0"/>
                    <a:pt x="880183" y="32664"/>
                    <a:pt x="880183" y="72957"/>
                  </a:cubicBezTo>
                  <a:lnTo>
                    <a:pt x="880183" y="72957"/>
                  </a:lnTo>
                  <a:cubicBezTo>
                    <a:pt x="880183" y="113250"/>
                    <a:pt x="847519" y="145915"/>
                    <a:pt x="807226" y="145915"/>
                  </a:cubicBezTo>
                  <a:lnTo>
                    <a:pt x="72957" y="145915"/>
                  </a:lnTo>
                  <a:cubicBezTo>
                    <a:pt x="32664" y="145915"/>
                    <a:pt x="0" y="113250"/>
                    <a:pt x="0" y="72957"/>
                  </a:cubicBezTo>
                  <a:lnTo>
                    <a:pt x="0" y="72957"/>
                  </a:lnTo>
                  <a:cubicBezTo>
                    <a:pt x="0" y="32664"/>
                    <a:pt x="32664" y="0"/>
                    <a:pt x="72957" y="0"/>
                  </a:cubicBezTo>
                  <a:close/>
                </a:path>
              </a:pathLst>
            </a:custGeom>
            <a:solidFill>
              <a:srgbClr val="FFFFFF"/>
            </a:solid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16" id="16"/>
            <p:cNvSpPr txBox="true"/>
            <p:nvPr/>
          </p:nvSpPr>
          <p:spPr>
            <a:xfrm>
              <a:off x="0" y="-47625"/>
              <a:ext cx="880183" cy="193540"/>
            </a:xfrm>
            <a:prstGeom prst="rect">
              <a:avLst/>
            </a:prstGeom>
          </p:spPr>
          <p:txBody>
            <a:bodyPr anchor="ctr" rtlCol="false" tIns="50800" lIns="50800" bIns="50800" rIns="50800"/>
            <a:lstStyle/>
            <a:p>
              <a:pPr algn="ctr">
                <a:lnSpc>
                  <a:spcPts val="3359"/>
                </a:lnSpc>
              </a:pPr>
            </a:p>
          </p:txBody>
        </p:sp>
      </p:grpSp>
      <p:sp>
        <p:nvSpPr>
          <p:cNvPr name="TextBox 17" id="17"/>
          <p:cNvSpPr txBox="true"/>
          <p:nvPr/>
        </p:nvSpPr>
        <p:spPr>
          <a:xfrm rot="0">
            <a:off x="6740220" y="477323"/>
            <a:ext cx="2820551" cy="325755"/>
          </a:xfrm>
          <a:prstGeom prst="rect">
            <a:avLst/>
          </a:prstGeom>
        </p:spPr>
        <p:txBody>
          <a:bodyPr anchor="t" rtlCol="false" tIns="0" lIns="0" bIns="0" rIns="0">
            <a:spAutoFit/>
          </a:bodyPr>
          <a:lstStyle/>
          <a:p>
            <a:pPr algn="ctr">
              <a:lnSpc>
                <a:spcPts val="2520"/>
              </a:lnSpc>
            </a:pPr>
            <a:r>
              <a:rPr lang="en-US" sz="1800" spc="-117">
                <a:solidFill>
                  <a:srgbClr val="000000"/>
                </a:solidFill>
                <a:latin typeface="Poppins"/>
                <a:ea typeface="Poppins"/>
                <a:cs typeface="Poppins"/>
                <a:sym typeface="Poppins"/>
              </a:rPr>
              <a:t>Social</a:t>
            </a:r>
            <a:r>
              <a:rPr lang="en-US" sz="1800" spc="-117">
                <a:solidFill>
                  <a:srgbClr val="000000"/>
                </a:solidFill>
                <a:latin typeface="Poppins"/>
                <a:ea typeface="Poppins"/>
                <a:cs typeface="Poppins"/>
                <a:sym typeface="Poppins"/>
              </a:rPr>
              <a:t> Media Proposal</a:t>
            </a:r>
          </a:p>
        </p:txBody>
      </p:sp>
      <p:sp>
        <p:nvSpPr>
          <p:cNvPr name="AutoShape 18" id="18"/>
          <p:cNvSpPr/>
          <p:nvPr/>
        </p:nvSpPr>
        <p:spPr>
          <a:xfrm>
            <a:off x="6223588" y="-468675"/>
            <a:ext cx="0" cy="1635737"/>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
        <p:nvSpPr>
          <p:cNvPr name="AutoShape 19" id="19"/>
          <p:cNvSpPr/>
          <p:nvPr/>
        </p:nvSpPr>
        <p:spPr>
          <a:xfrm>
            <a:off x="477889" y="7459104"/>
            <a:ext cx="18214268" cy="0"/>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
        <p:nvSpPr>
          <p:cNvPr name="TextBox 20" id="20"/>
          <p:cNvSpPr txBox="true"/>
          <p:nvPr/>
        </p:nvSpPr>
        <p:spPr>
          <a:xfrm rot="0">
            <a:off x="815264" y="7682941"/>
            <a:ext cx="10852903" cy="1717676"/>
          </a:xfrm>
          <a:prstGeom prst="rect">
            <a:avLst/>
          </a:prstGeom>
        </p:spPr>
        <p:txBody>
          <a:bodyPr anchor="t" rtlCol="false" tIns="0" lIns="0" bIns="0" rIns="0">
            <a:spAutoFit/>
          </a:bodyPr>
          <a:lstStyle/>
          <a:p>
            <a:pPr algn="l">
              <a:lnSpc>
                <a:spcPts val="13999"/>
              </a:lnSpc>
            </a:pPr>
            <a:r>
              <a:rPr lang="en-US" sz="9999" spc="-119" b="true">
                <a:solidFill>
                  <a:srgbClr val="FFFFFF"/>
                </a:solidFill>
                <a:latin typeface="Geometrica Sans Medium"/>
                <a:ea typeface="Geometrica Sans Medium"/>
                <a:cs typeface="Geometrica Sans Medium"/>
                <a:sym typeface="Geometrica Sans Medium"/>
              </a:rPr>
              <a:t>Data &amp; Sumber Data</a:t>
            </a:r>
          </a:p>
        </p:txBody>
      </p:sp>
      <p:sp>
        <p:nvSpPr>
          <p:cNvPr name="AutoShape 21" id="21"/>
          <p:cNvSpPr/>
          <p:nvPr/>
        </p:nvSpPr>
        <p:spPr>
          <a:xfrm>
            <a:off x="-417053" y="1167061"/>
            <a:ext cx="19109210" cy="0"/>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grpSp>
        <p:nvGrpSpPr>
          <p:cNvPr name="Group 22" id="22"/>
          <p:cNvGrpSpPr/>
          <p:nvPr/>
        </p:nvGrpSpPr>
        <p:grpSpPr>
          <a:xfrm rot="0">
            <a:off x="815264" y="1254751"/>
            <a:ext cx="5096913" cy="5172621"/>
            <a:chOff x="0" y="0"/>
            <a:chExt cx="1342397" cy="1362336"/>
          </a:xfrm>
        </p:grpSpPr>
        <p:sp>
          <p:nvSpPr>
            <p:cNvPr name="Freeform 23" id="23"/>
            <p:cNvSpPr/>
            <p:nvPr/>
          </p:nvSpPr>
          <p:spPr>
            <a:xfrm flipH="false" flipV="false" rot="0">
              <a:off x="0" y="0"/>
              <a:ext cx="1342397" cy="1362336"/>
            </a:xfrm>
            <a:custGeom>
              <a:avLst/>
              <a:gdLst/>
              <a:ahLst/>
              <a:cxnLst/>
              <a:rect r="r" b="b" t="t" l="l"/>
              <a:pathLst>
                <a:path h="1362336" w="1342397">
                  <a:moveTo>
                    <a:pt x="60758" y="0"/>
                  </a:moveTo>
                  <a:lnTo>
                    <a:pt x="1281639" y="0"/>
                  </a:lnTo>
                  <a:cubicBezTo>
                    <a:pt x="1297753" y="0"/>
                    <a:pt x="1313207" y="6401"/>
                    <a:pt x="1324601" y="17796"/>
                  </a:cubicBezTo>
                  <a:cubicBezTo>
                    <a:pt x="1335995" y="29190"/>
                    <a:pt x="1342397" y="44644"/>
                    <a:pt x="1342397" y="60758"/>
                  </a:cubicBezTo>
                  <a:lnTo>
                    <a:pt x="1342397" y="1301579"/>
                  </a:lnTo>
                  <a:cubicBezTo>
                    <a:pt x="1342397" y="1317693"/>
                    <a:pt x="1335995" y="1333147"/>
                    <a:pt x="1324601" y="1344541"/>
                  </a:cubicBezTo>
                  <a:cubicBezTo>
                    <a:pt x="1313207" y="1355935"/>
                    <a:pt x="1297753" y="1362336"/>
                    <a:pt x="1281639" y="1362336"/>
                  </a:cubicBezTo>
                  <a:lnTo>
                    <a:pt x="60758" y="1362336"/>
                  </a:lnTo>
                  <a:cubicBezTo>
                    <a:pt x="44644" y="1362336"/>
                    <a:pt x="29190" y="1355935"/>
                    <a:pt x="17796" y="1344541"/>
                  </a:cubicBezTo>
                  <a:cubicBezTo>
                    <a:pt x="6401" y="1333147"/>
                    <a:pt x="0" y="1317693"/>
                    <a:pt x="0" y="1301579"/>
                  </a:cubicBezTo>
                  <a:lnTo>
                    <a:pt x="0" y="60758"/>
                  </a:lnTo>
                  <a:cubicBezTo>
                    <a:pt x="0" y="44644"/>
                    <a:pt x="6401" y="29190"/>
                    <a:pt x="17796" y="17796"/>
                  </a:cubicBezTo>
                  <a:cubicBezTo>
                    <a:pt x="29190" y="6401"/>
                    <a:pt x="44644" y="0"/>
                    <a:pt x="60758" y="0"/>
                  </a:cubicBezTo>
                  <a:close/>
                </a:path>
              </a:pathLst>
            </a:custGeom>
            <a:solidFill>
              <a:srgbClr val="FFFFFF"/>
            </a:solid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24" id="24"/>
            <p:cNvSpPr txBox="true"/>
            <p:nvPr/>
          </p:nvSpPr>
          <p:spPr>
            <a:xfrm>
              <a:off x="0" y="-47625"/>
              <a:ext cx="1342397" cy="1409961"/>
            </a:xfrm>
            <a:prstGeom prst="rect">
              <a:avLst/>
            </a:prstGeom>
          </p:spPr>
          <p:txBody>
            <a:bodyPr anchor="ctr" rtlCol="false" tIns="50800" lIns="50800" bIns="50800" rIns="50800"/>
            <a:lstStyle/>
            <a:p>
              <a:pPr algn="ctr">
                <a:lnSpc>
                  <a:spcPts val="3359"/>
                </a:lnSpc>
              </a:pPr>
            </a:p>
          </p:txBody>
        </p:sp>
      </p:grpSp>
      <p:grpSp>
        <p:nvGrpSpPr>
          <p:cNvPr name="Group 25" id="25"/>
          <p:cNvGrpSpPr/>
          <p:nvPr/>
        </p:nvGrpSpPr>
        <p:grpSpPr>
          <a:xfrm rot="0">
            <a:off x="6571254" y="2238902"/>
            <a:ext cx="5096913" cy="5172621"/>
            <a:chOff x="0" y="0"/>
            <a:chExt cx="1342397" cy="1362336"/>
          </a:xfrm>
        </p:grpSpPr>
        <p:sp>
          <p:nvSpPr>
            <p:cNvPr name="Freeform 26" id="26"/>
            <p:cNvSpPr/>
            <p:nvPr/>
          </p:nvSpPr>
          <p:spPr>
            <a:xfrm flipH="false" flipV="false" rot="0">
              <a:off x="0" y="0"/>
              <a:ext cx="1342397" cy="1362336"/>
            </a:xfrm>
            <a:custGeom>
              <a:avLst/>
              <a:gdLst/>
              <a:ahLst/>
              <a:cxnLst/>
              <a:rect r="r" b="b" t="t" l="l"/>
              <a:pathLst>
                <a:path h="1362336" w="1342397">
                  <a:moveTo>
                    <a:pt x="60758" y="0"/>
                  </a:moveTo>
                  <a:lnTo>
                    <a:pt x="1281639" y="0"/>
                  </a:lnTo>
                  <a:cubicBezTo>
                    <a:pt x="1297753" y="0"/>
                    <a:pt x="1313207" y="6401"/>
                    <a:pt x="1324601" y="17796"/>
                  </a:cubicBezTo>
                  <a:cubicBezTo>
                    <a:pt x="1335995" y="29190"/>
                    <a:pt x="1342397" y="44644"/>
                    <a:pt x="1342397" y="60758"/>
                  </a:cubicBezTo>
                  <a:lnTo>
                    <a:pt x="1342397" y="1301579"/>
                  </a:lnTo>
                  <a:cubicBezTo>
                    <a:pt x="1342397" y="1317693"/>
                    <a:pt x="1335995" y="1333147"/>
                    <a:pt x="1324601" y="1344541"/>
                  </a:cubicBezTo>
                  <a:cubicBezTo>
                    <a:pt x="1313207" y="1355935"/>
                    <a:pt x="1297753" y="1362336"/>
                    <a:pt x="1281639" y="1362336"/>
                  </a:cubicBezTo>
                  <a:lnTo>
                    <a:pt x="60758" y="1362336"/>
                  </a:lnTo>
                  <a:cubicBezTo>
                    <a:pt x="44644" y="1362336"/>
                    <a:pt x="29190" y="1355935"/>
                    <a:pt x="17796" y="1344541"/>
                  </a:cubicBezTo>
                  <a:cubicBezTo>
                    <a:pt x="6401" y="1333147"/>
                    <a:pt x="0" y="1317693"/>
                    <a:pt x="0" y="1301579"/>
                  </a:cubicBezTo>
                  <a:lnTo>
                    <a:pt x="0" y="60758"/>
                  </a:lnTo>
                  <a:cubicBezTo>
                    <a:pt x="0" y="44644"/>
                    <a:pt x="6401" y="29190"/>
                    <a:pt x="17796" y="17796"/>
                  </a:cubicBezTo>
                  <a:cubicBezTo>
                    <a:pt x="29190" y="6401"/>
                    <a:pt x="44644" y="0"/>
                    <a:pt x="60758" y="0"/>
                  </a:cubicBezTo>
                  <a:close/>
                </a:path>
              </a:pathLst>
            </a:custGeom>
            <a:solidFill>
              <a:srgbClr val="FFFFFF"/>
            </a:solid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27" id="27"/>
            <p:cNvSpPr txBox="true"/>
            <p:nvPr/>
          </p:nvSpPr>
          <p:spPr>
            <a:xfrm>
              <a:off x="0" y="-47625"/>
              <a:ext cx="1342397" cy="1409961"/>
            </a:xfrm>
            <a:prstGeom prst="rect">
              <a:avLst/>
            </a:prstGeom>
          </p:spPr>
          <p:txBody>
            <a:bodyPr anchor="ctr" rtlCol="false" tIns="50800" lIns="50800" bIns="50800" rIns="50800"/>
            <a:lstStyle/>
            <a:p>
              <a:pPr algn="ctr">
                <a:lnSpc>
                  <a:spcPts val="3359"/>
                </a:lnSpc>
              </a:pPr>
            </a:p>
          </p:txBody>
        </p:sp>
      </p:grpSp>
      <p:sp>
        <p:nvSpPr>
          <p:cNvPr name="TextBox 28" id="28"/>
          <p:cNvSpPr txBox="true"/>
          <p:nvPr/>
        </p:nvSpPr>
        <p:spPr>
          <a:xfrm rot="0">
            <a:off x="1294242" y="2546021"/>
            <a:ext cx="4148547" cy="2354199"/>
          </a:xfrm>
          <a:prstGeom prst="rect">
            <a:avLst/>
          </a:prstGeom>
        </p:spPr>
        <p:txBody>
          <a:bodyPr anchor="t" rtlCol="false" tIns="0" lIns="0" bIns="0" rIns="0">
            <a:spAutoFit/>
          </a:bodyPr>
          <a:lstStyle/>
          <a:p>
            <a:pPr algn="l">
              <a:lnSpc>
                <a:spcPts val="4608"/>
              </a:lnSpc>
            </a:pPr>
            <a:r>
              <a:rPr lang="en-US" sz="3600" i="true" spc="-107">
                <a:solidFill>
                  <a:srgbClr val="4D4D4D"/>
                </a:solidFill>
                <a:latin typeface="Poppins Italics"/>
                <a:ea typeface="Poppins Italics"/>
                <a:cs typeface="Poppins Italics"/>
                <a:sym typeface="Poppins Italics"/>
              </a:rPr>
              <a:t>ITS_SI_BRIN (206 sub-CLO), Tel-U Surabaya (114 sub-CLO), Tel-U</a:t>
            </a:r>
          </a:p>
        </p:txBody>
      </p:sp>
      <p:sp>
        <p:nvSpPr>
          <p:cNvPr name="TextBox 29" id="29"/>
          <p:cNvSpPr txBox="true"/>
          <p:nvPr/>
        </p:nvSpPr>
        <p:spPr>
          <a:xfrm rot="0">
            <a:off x="7050232" y="3549221"/>
            <a:ext cx="4148547" cy="3417570"/>
          </a:xfrm>
          <a:prstGeom prst="rect">
            <a:avLst/>
          </a:prstGeom>
        </p:spPr>
        <p:txBody>
          <a:bodyPr anchor="t" rtlCol="false" tIns="0" lIns="0" bIns="0" rIns="0">
            <a:spAutoFit/>
          </a:bodyPr>
          <a:lstStyle/>
          <a:p>
            <a:pPr algn="l">
              <a:lnSpc>
                <a:spcPts val="3839"/>
              </a:lnSpc>
            </a:pPr>
            <a:r>
              <a:rPr lang="en-US" sz="2999" i="true" spc="-89">
                <a:solidFill>
                  <a:srgbClr val="4D4D4D"/>
                </a:solidFill>
                <a:latin typeface="Poppins Italics"/>
                <a:ea typeface="Poppins Italics"/>
                <a:cs typeface="Poppins Italics"/>
                <a:sym typeface="Poppins Italics"/>
              </a:rPr>
              <a:t>4.570 Lowongan Pekerjaan Terintegrasi: Hasil ekstraksi dan pembersihan dari platform LinkedIn &amp; Glassdoor di bidang IT/Data.</a:t>
            </a:r>
          </a:p>
        </p:txBody>
      </p:sp>
      <p:sp>
        <p:nvSpPr>
          <p:cNvPr name="AutoShape 30" id="30"/>
          <p:cNvSpPr/>
          <p:nvPr/>
        </p:nvSpPr>
        <p:spPr>
          <a:xfrm>
            <a:off x="477889" y="9780309"/>
            <a:ext cx="18214268" cy="0"/>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
        <p:nvSpPr>
          <p:cNvPr name="Freeform 31" id="31"/>
          <p:cNvSpPr/>
          <p:nvPr/>
        </p:nvSpPr>
        <p:spPr>
          <a:xfrm flipH="false" flipV="false" rot="0">
            <a:off x="1294242" y="1737551"/>
            <a:ext cx="345797" cy="345797"/>
          </a:xfrm>
          <a:custGeom>
            <a:avLst/>
            <a:gdLst/>
            <a:ahLst/>
            <a:cxnLst/>
            <a:rect r="r" b="b" t="t" l="l"/>
            <a:pathLst>
              <a:path h="345797" w="345797">
                <a:moveTo>
                  <a:pt x="0" y="0"/>
                </a:moveTo>
                <a:lnTo>
                  <a:pt x="345797" y="0"/>
                </a:lnTo>
                <a:lnTo>
                  <a:pt x="345797" y="345797"/>
                </a:lnTo>
                <a:lnTo>
                  <a:pt x="0" y="34579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32" id="32"/>
          <p:cNvSpPr/>
          <p:nvPr/>
        </p:nvSpPr>
        <p:spPr>
          <a:xfrm flipH="false" flipV="false" rot="0">
            <a:off x="7050232" y="2721702"/>
            <a:ext cx="345797" cy="345797"/>
          </a:xfrm>
          <a:custGeom>
            <a:avLst/>
            <a:gdLst/>
            <a:ahLst/>
            <a:cxnLst/>
            <a:rect r="r" b="b" t="t" l="l"/>
            <a:pathLst>
              <a:path h="345797" w="345797">
                <a:moveTo>
                  <a:pt x="0" y="0"/>
                </a:moveTo>
                <a:lnTo>
                  <a:pt x="345797" y="0"/>
                </a:lnTo>
                <a:lnTo>
                  <a:pt x="345797" y="345797"/>
                </a:lnTo>
                <a:lnTo>
                  <a:pt x="0" y="34579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33" id="33"/>
          <p:cNvSpPr txBox="true"/>
          <p:nvPr/>
        </p:nvSpPr>
        <p:spPr>
          <a:xfrm rot="0">
            <a:off x="1987498" y="1532625"/>
            <a:ext cx="2691448" cy="679450"/>
          </a:xfrm>
          <a:prstGeom prst="rect">
            <a:avLst/>
          </a:prstGeom>
        </p:spPr>
        <p:txBody>
          <a:bodyPr anchor="t" rtlCol="false" tIns="0" lIns="0" bIns="0" rIns="0">
            <a:spAutoFit/>
          </a:bodyPr>
          <a:lstStyle/>
          <a:p>
            <a:pPr algn="l">
              <a:lnSpc>
                <a:spcPts val="5599"/>
              </a:lnSpc>
            </a:pPr>
            <a:r>
              <a:rPr lang="en-US" sz="3999" spc="-259">
                <a:solidFill>
                  <a:srgbClr val="000000"/>
                </a:solidFill>
                <a:latin typeface="TS Qamus"/>
                <a:ea typeface="TS Qamus"/>
                <a:cs typeface="TS Qamus"/>
                <a:sym typeface="TS Qamus"/>
              </a:rPr>
              <a:t>RPS/CLO</a:t>
            </a:r>
          </a:p>
        </p:txBody>
      </p:sp>
      <p:sp>
        <p:nvSpPr>
          <p:cNvPr name="TextBox 34" id="34"/>
          <p:cNvSpPr txBox="true"/>
          <p:nvPr/>
        </p:nvSpPr>
        <p:spPr>
          <a:xfrm rot="0">
            <a:off x="7743488" y="2516775"/>
            <a:ext cx="3066800" cy="679450"/>
          </a:xfrm>
          <a:prstGeom prst="rect">
            <a:avLst/>
          </a:prstGeom>
        </p:spPr>
        <p:txBody>
          <a:bodyPr anchor="t" rtlCol="false" tIns="0" lIns="0" bIns="0" rIns="0">
            <a:spAutoFit/>
          </a:bodyPr>
          <a:lstStyle/>
          <a:p>
            <a:pPr algn="l">
              <a:lnSpc>
                <a:spcPts val="5599"/>
              </a:lnSpc>
            </a:pPr>
            <a:r>
              <a:rPr lang="en-US" sz="3999" spc="-259">
                <a:solidFill>
                  <a:srgbClr val="000000"/>
                </a:solidFill>
                <a:latin typeface="TS Qamus"/>
                <a:ea typeface="TS Qamus"/>
                <a:cs typeface="TS Qamus"/>
                <a:sym typeface="TS Qamus"/>
              </a:rPr>
              <a:t>Job postings</a:t>
            </a:r>
          </a:p>
        </p:txBody>
      </p:sp>
      <p:grpSp>
        <p:nvGrpSpPr>
          <p:cNvPr name="Group 35" id="35"/>
          <p:cNvGrpSpPr/>
          <p:nvPr/>
        </p:nvGrpSpPr>
        <p:grpSpPr>
          <a:xfrm rot="0">
            <a:off x="12327244" y="3882315"/>
            <a:ext cx="5096913" cy="5172621"/>
            <a:chOff x="0" y="0"/>
            <a:chExt cx="1342397" cy="1362336"/>
          </a:xfrm>
        </p:grpSpPr>
        <p:sp>
          <p:nvSpPr>
            <p:cNvPr name="Freeform 36" id="36"/>
            <p:cNvSpPr/>
            <p:nvPr/>
          </p:nvSpPr>
          <p:spPr>
            <a:xfrm flipH="false" flipV="false" rot="0">
              <a:off x="0" y="0"/>
              <a:ext cx="1342397" cy="1362336"/>
            </a:xfrm>
            <a:custGeom>
              <a:avLst/>
              <a:gdLst/>
              <a:ahLst/>
              <a:cxnLst/>
              <a:rect r="r" b="b" t="t" l="l"/>
              <a:pathLst>
                <a:path h="1362336" w="1342397">
                  <a:moveTo>
                    <a:pt x="60758" y="0"/>
                  </a:moveTo>
                  <a:lnTo>
                    <a:pt x="1281639" y="0"/>
                  </a:lnTo>
                  <a:cubicBezTo>
                    <a:pt x="1297753" y="0"/>
                    <a:pt x="1313207" y="6401"/>
                    <a:pt x="1324601" y="17796"/>
                  </a:cubicBezTo>
                  <a:cubicBezTo>
                    <a:pt x="1335995" y="29190"/>
                    <a:pt x="1342397" y="44644"/>
                    <a:pt x="1342397" y="60758"/>
                  </a:cubicBezTo>
                  <a:lnTo>
                    <a:pt x="1342397" y="1301579"/>
                  </a:lnTo>
                  <a:cubicBezTo>
                    <a:pt x="1342397" y="1317693"/>
                    <a:pt x="1335995" y="1333147"/>
                    <a:pt x="1324601" y="1344541"/>
                  </a:cubicBezTo>
                  <a:cubicBezTo>
                    <a:pt x="1313207" y="1355935"/>
                    <a:pt x="1297753" y="1362336"/>
                    <a:pt x="1281639" y="1362336"/>
                  </a:cubicBezTo>
                  <a:lnTo>
                    <a:pt x="60758" y="1362336"/>
                  </a:lnTo>
                  <a:cubicBezTo>
                    <a:pt x="44644" y="1362336"/>
                    <a:pt x="29190" y="1355935"/>
                    <a:pt x="17796" y="1344541"/>
                  </a:cubicBezTo>
                  <a:cubicBezTo>
                    <a:pt x="6401" y="1333147"/>
                    <a:pt x="0" y="1317693"/>
                    <a:pt x="0" y="1301579"/>
                  </a:cubicBezTo>
                  <a:lnTo>
                    <a:pt x="0" y="60758"/>
                  </a:lnTo>
                  <a:cubicBezTo>
                    <a:pt x="0" y="44644"/>
                    <a:pt x="6401" y="29190"/>
                    <a:pt x="17796" y="17796"/>
                  </a:cubicBezTo>
                  <a:cubicBezTo>
                    <a:pt x="29190" y="6401"/>
                    <a:pt x="44644" y="0"/>
                    <a:pt x="60758" y="0"/>
                  </a:cubicBezTo>
                  <a:close/>
                </a:path>
              </a:pathLst>
            </a:custGeom>
            <a:gradFill rotWithShape="true">
              <a:gsLst>
                <a:gs pos="0">
                  <a:srgbClr val="292929">
                    <a:alpha val="100000"/>
                  </a:srgbClr>
                </a:gs>
                <a:gs pos="100000">
                  <a:srgbClr val="3F4E52">
                    <a:alpha val="100000"/>
                  </a:srgbClr>
                </a:gs>
              </a:gsLst>
              <a:lin ang="0"/>
            </a:grad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37" id="37"/>
            <p:cNvSpPr txBox="true"/>
            <p:nvPr/>
          </p:nvSpPr>
          <p:spPr>
            <a:xfrm>
              <a:off x="0" y="-47625"/>
              <a:ext cx="1342397" cy="1409961"/>
            </a:xfrm>
            <a:prstGeom prst="rect">
              <a:avLst/>
            </a:prstGeom>
          </p:spPr>
          <p:txBody>
            <a:bodyPr anchor="ctr" rtlCol="false" tIns="50800" lIns="50800" bIns="50800" rIns="50800"/>
            <a:lstStyle/>
            <a:p>
              <a:pPr algn="ctr" marL="0" indent="0" lvl="0">
                <a:lnSpc>
                  <a:spcPts val="3359"/>
                </a:lnSpc>
                <a:spcBef>
                  <a:spcPct val="0"/>
                </a:spcBef>
              </a:pPr>
            </a:p>
          </p:txBody>
        </p:sp>
      </p:grpSp>
      <p:sp>
        <p:nvSpPr>
          <p:cNvPr name="TextBox 38" id="38"/>
          <p:cNvSpPr txBox="true"/>
          <p:nvPr/>
        </p:nvSpPr>
        <p:spPr>
          <a:xfrm rot="0">
            <a:off x="12806222" y="5173584"/>
            <a:ext cx="4148547" cy="2935224"/>
          </a:xfrm>
          <a:prstGeom prst="rect">
            <a:avLst/>
          </a:prstGeom>
        </p:spPr>
        <p:txBody>
          <a:bodyPr anchor="t" rtlCol="false" tIns="0" lIns="0" bIns="0" rIns="0">
            <a:spAutoFit/>
          </a:bodyPr>
          <a:lstStyle/>
          <a:p>
            <a:pPr algn="l">
              <a:lnSpc>
                <a:spcPts val="4608"/>
              </a:lnSpc>
            </a:pPr>
            <a:r>
              <a:rPr lang="en-US" sz="3600" i="true" spc="-107">
                <a:solidFill>
                  <a:srgbClr val="C6C6C6"/>
                </a:solidFill>
                <a:latin typeface="Poppins Italics"/>
                <a:ea typeface="Poppins Italics"/>
                <a:cs typeface="Poppins Italics"/>
                <a:sym typeface="Poppins Italics"/>
              </a:rPr>
              <a:t>format markdown terstruktur (generator dummy) + real transcript</a:t>
            </a:r>
          </a:p>
        </p:txBody>
      </p:sp>
      <p:sp>
        <p:nvSpPr>
          <p:cNvPr name="Freeform 39" id="39"/>
          <p:cNvSpPr/>
          <p:nvPr/>
        </p:nvSpPr>
        <p:spPr>
          <a:xfrm flipH="false" flipV="false" rot="0">
            <a:off x="12806222" y="4365114"/>
            <a:ext cx="345797" cy="345797"/>
          </a:xfrm>
          <a:custGeom>
            <a:avLst/>
            <a:gdLst/>
            <a:ahLst/>
            <a:cxnLst/>
            <a:rect r="r" b="b" t="t" l="l"/>
            <a:pathLst>
              <a:path h="345797" w="345797">
                <a:moveTo>
                  <a:pt x="0" y="0"/>
                </a:moveTo>
                <a:lnTo>
                  <a:pt x="345798" y="0"/>
                </a:lnTo>
                <a:lnTo>
                  <a:pt x="345798" y="345798"/>
                </a:lnTo>
                <a:lnTo>
                  <a:pt x="0" y="34579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40" id="40"/>
          <p:cNvSpPr txBox="true"/>
          <p:nvPr/>
        </p:nvSpPr>
        <p:spPr>
          <a:xfrm rot="0">
            <a:off x="13499479" y="4160188"/>
            <a:ext cx="3759821" cy="679450"/>
          </a:xfrm>
          <a:prstGeom prst="rect">
            <a:avLst/>
          </a:prstGeom>
        </p:spPr>
        <p:txBody>
          <a:bodyPr anchor="t" rtlCol="false" tIns="0" lIns="0" bIns="0" rIns="0">
            <a:spAutoFit/>
          </a:bodyPr>
          <a:lstStyle/>
          <a:p>
            <a:pPr algn="l">
              <a:lnSpc>
                <a:spcPts val="5599"/>
              </a:lnSpc>
            </a:pPr>
            <a:r>
              <a:rPr lang="en-US" sz="3999" spc="-259">
                <a:solidFill>
                  <a:srgbClr val="FFFFFF"/>
                </a:solidFill>
                <a:latin typeface="TS Qamus"/>
                <a:ea typeface="TS Qamus"/>
                <a:cs typeface="TS Qamus"/>
                <a:sym typeface="TS Qamus"/>
              </a:rPr>
              <a:t>KHS &amp; Sertifikat</a:t>
            </a:r>
          </a:p>
        </p:txBody>
      </p:sp>
      <p:sp>
        <p:nvSpPr>
          <p:cNvPr name="TextBox 41" id="41"/>
          <p:cNvSpPr txBox="true"/>
          <p:nvPr/>
        </p:nvSpPr>
        <p:spPr>
          <a:xfrm rot="0">
            <a:off x="12736179" y="1533774"/>
            <a:ext cx="4523121" cy="1298194"/>
          </a:xfrm>
          <a:prstGeom prst="rect">
            <a:avLst/>
          </a:prstGeom>
        </p:spPr>
        <p:txBody>
          <a:bodyPr anchor="t" rtlCol="false" tIns="0" lIns="0" bIns="0" rIns="0">
            <a:spAutoFit/>
          </a:bodyPr>
          <a:lstStyle/>
          <a:p>
            <a:pPr algn="l">
              <a:lnSpc>
                <a:spcPts val="2047"/>
              </a:lnSpc>
            </a:pPr>
            <a:r>
              <a:rPr lang="en-US" sz="1599" i="true" spc="-47">
                <a:solidFill>
                  <a:srgbClr val="C6C6C6"/>
                </a:solidFill>
                <a:latin typeface="Poppins Italics"/>
                <a:ea typeface="Poppins Italics"/>
                <a:cs typeface="Poppins Italics"/>
                <a:sym typeface="Poppins Italics"/>
              </a:rPr>
              <a:t>Lorem ipsum dolor sit amet, consectetur adipiscing elit. Quisque molestie nisl eu sem tristique, sit amet convallis ex aliquam. Maecenas varius lectus hendrerit augue blandit.</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777" r="0" b="-1777"/>
            </a:stretch>
          </a:blipFill>
        </p:spPr>
      </p:sp>
      <p:sp>
        <p:nvSpPr>
          <p:cNvPr name="AutoShape 3" id="3"/>
          <p:cNvSpPr/>
          <p:nvPr/>
        </p:nvSpPr>
        <p:spPr>
          <a:xfrm>
            <a:off x="10038640" y="-468675"/>
            <a:ext cx="0" cy="11118486"/>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
        <p:nvSpPr>
          <p:cNvPr name="AutoShape 4" id="4"/>
          <p:cNvSpPr/>
          <p:nvPr/>
        </p:nvSpPr>
        <p:spPr>
          <a:xfrm>
            <a:off x="477889" y="-448043"/>
            <a:ext cx="0" cy="11118486"/>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
        <p:nvSpPr>
          <p:cNvPr name="Freeform 5" id="5"/>
          <p:cNvSpPr/>
          <p:nvPr/>
        </p:nvSpPr>
        <p:spPr>
          <a:xfrm flipH="false" flipV="false" rot="0">
            <a:off x="783373" y="515779"/>
            <a:ext cx="443469" cy="305994"/>
          </a:xfrm>
          <a:custGeom>
            <a:avLst/>
            <a:gdLst/>
            <a:ahLst/>
            <a:cxnLst/>
            <a:rect r="r" b="b" t="t" l="l"/>
            <a:pathLst>
              <a:path h="305994" w="443469">
                <a:moveTo>
                  <a:pt x="0" y="0"/>
                </a:moveTo>
                <a:lnTo>
                  <a:pt x="443469" y="0"/>
                </a:lnTo>
                <a:lnTo>
                  <a:pt x="443469" y="305993"/>
                </a:lnTo>
                <a:lnTo>
                  <a:pt x="0" y="30599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16845300" y="391766"/>
            <a:ext cx="635507" cy="554019"/>
            <a:chOff x="0" y="0"/>
            <a:chExt cx="167376" cy="145915"/>
          </a:xfrm>
        </p:grpSpPr>
        <p:sp>
          <p:nvSpPr>
            <p:cNvPr name="Freeform 7" id="7"/>
            <p:cNvSpPr/>
            <p:nvPr/>
          </p:nvSpPr>
          <p:spPr>
            <a:xfrm flipH="false" flipV="false" rot="0">
              <a:off x="0" y="0"/>
              <a:ext cx="167376" cy="145915"/>
            </a:xfrm>
            <a:custGeom>
              <a:avLst/>
              <a:gdLst/>
              <a:ahLst/>
              <a:cxnLst/>
              <a:rect r="r" b="b" t="t" l="l"/>
              <a:pathLst>
                <a:path h="145915" w="167376">
                  <a:moveTo>
                    <a:pt x="72957" y="0"/>
                  </a:moveTo>
                  <a:lnTo>
                    <a:pt x="94419" y="0"/>
                  </a:lnTo>
                  <a:cubicBezTo>
                    <a:pt x="134712" y="0"/>
                    <a:pt x="167376" y="32664"/>
                    <a:pt x="167376" y="72957"/>
                  </a:cubicBezTo>
                  <a:lnTo>
                    <a:pt x="167376" y="72957"/>
                  </a:lnTo>
                  <a:cubicBezTo>
                    <a:pt x="167376" y="113250"/>
                    <a:pt x="134712" y="145915"/>
                    <a:pt x="94419" y="145915"/>
                  </a:cubicBezTo>
                  <a:lnTo>
                    <a:pt x="72957" y="145915"/>
                  </a:lnTo>
                  <a:cubicBezTo>
                    <a:pt x="32664" y="145915"/>
                    <a:pt x="0" y="113250"/>
                    <a:pt x="0" y="72957"/>
                  </a:cubicBezTo>
                  <a:lnTo>
                    <a:pt x="0" y="72957"/>
                  </a:lnTo>
                  <a:cubicBezTo>
                    <a:pt x="0" y="32664"/>
                    <a:pt x="32664" y="0"/>
                    <a:pt x="72957" y="0"/>
                  </a:cubicBezTo>
                  <a:close/>
                </a:path>
              </a:pathLst>
            </a:custGeom>
            <a:gradFill rotWithShape="true">
              <a:gsLst>
                <a:gs pos="0">
                  <a:srgbClr val="9B9B9B">
                    <a:alpha val="28000"/>
                  </a:srgbClr>
                </a:gs>
                <a:gs pos="25000">
                  <a:srgbClr val="FFFFFF">
                    <a:alpha val="29000"/>
                  </a:srgbClr>
                </a:gs>
                <a:gs pos="50000">
                  <a:srgbClr val="FFFFFF">
                    <a:alpha val="44500"/>
                  </a:srgbClr>
                </a:gs>
                <a:gs pos="75000">
                  <a:srgbClr val="FFFFFF">
                    <a:alpha val="29000"/>
                  </a:srgbClr>
                </a:gs>
                <a:gs pos="100000">
                  <a:srgbClr val="9B9B9B">
                    <a:alpha val="28000"/>
                  </a:srgbClr>
                </a:gs>
              </a:gsLst>
              <a:lin ang="2700000"/>
            </a:grad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8" id="8"/>
            <p:cNvSpPr txBox="true"/>
            <p:nvPr/>
          </p:nvSpPr>
          <p:spPr>
            <a:xfrm>
              <a:off x="0" y="-47625"/>
              <a:ext cx="167376" cy="193540"/>
            </a:xfrm>
            <a:prstGeom prst="rect">
              <a:avLst/>
            </a:prstGeom>
          </p:spPr>
          <p:txBody>
            <a:bodyPr anchor="ctr" rtlCol="false" tIns="50800" lIns="50800" bIns="50800" rIns="50800"/>
            <a:lstStyle/>
            <a:p>
              <a:pPr algn="ctr">
                <a:lnSpc>
                  <a:spcPts val="3359"/>
                </a:lnSpc>
              </a:pPr>
            </a:p>
          </p:txBody>
        </p:sp>
      </p:grpSp>
      <p:grpSp>
        <p:nvGrpSpPr>
          <p:cNvPr name="Group 9" id="9"/>
          <p:cNvGrpSpPr/>
          <p:nvPr/>
        </p:nvGrpSpPr>
        <p:grpSpPr>
          <a:xfrm rot="0">
            <a:off x="13913154" y="391766"/>
            <a:ext cx="2743897" cy="554019"/>
            <a:chOff x="0" y="0"/>
            <a:chExt cx="722672" cy="145915"/>
          </a:xfrm>
        </p:grpSpPr>
        <p:sp>
          <p:nvSpPr>
            <p:cNvPr name="Freeform 10" id="10"/>
            <p:cNvSpPr/>
            <p:nvPr/>
          </p:nvSpPr>
          <p:spPr>
            <a:xfrm flipH="false" flipV="false" rot="0">
              <a:off x="0" y="0"/>
              <a:ext cx="722672" cy="145915"/>
            </a:xfrm>
            <a:custGeom>
              <a:avLst/>
              <a:gdLst/>
              <a:ahLst/>
              <a:cxnLst/>
              <a:rect r="r" b="b" t="t" l="l"/>
              <a:pathLst>
                <a:path h="145915" w="722672">
                  <a:moveTo>
                    <a:pt x="72957" y="0"/>
                  </a:moveTo>
                  <a:lnTo>
                    <a:pt x="649715" y="0"/>
                  </a:lnTo>
                  <a:cubicBezTo>
                    <a:pt x="690008" y="0"/>
                    <a:pt x="722672" y="32664"/>
                    <a:pt x="722672" y="72957"/>
                  </a:cubicBezTo>
                  <a:lnTo>
                    <a:pt x="722672" y="72957"/>
                  </a:lnTo>
                  <a:cubicBezTo>
                    <a:pt x="722672" y="113250"/>
                    <a:pt x="690008" y="145915"/>
                    <a:pt x="649715" y="145915"/>
                  </a:cubicBezTo>
                  <a:lnTo>
                    <a:pt x="72957" y="145915"/>
                  </a:lnTo>
                  <a:cubicBezTo>
                    <a:pt x="32664" y="145915"/>
                    <a:pt x="0" y="113250"/>
                    <a:pt x="0" y="72957"/>
                  </a:cubicBezTo>
                  <a:lnTo>
                    <a:pt x="0" y="72957"/>
                  </a:lnTo>
                  <a:cubicBezTo>
                    <a:pt x="0" y="32664"/>
                    <a:pt x="32664" y="0"/>
                    <a:pt x="72957" y="0"/>
                  </a:cubicBezTo>
                  <a:close/>
                </a:path>
              </a:pathLst>
            </a:custGeom>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11" id="11"/>
            <p:cNvSpPr txBox="true"/>
            <p:nvPr/>
          </p:nvSpPr>
          <p:spPr>
            <a:xfrm>
              <a:off x="0" y="-47625"/>
              <a:ext cx="722672" cy="193540"/>
            </a:xfrm>
            <a:prstGeom prst="rect">
              <a:avLst/>
            </a:prstGeom>
          </p:spPr>
          <p:txBody>
            <a:bodyPr anchor="ctr" rtlCol="false" tIns="50800" lIns="50800" bIns="50800" rIns="50800"/>
            <a:lstStyle/>
            <a:p>
              <a:pPr algn="ctr">
                <a:lnSpc>
                  <a:spcPts val="3359"/>
                </a:lnSpc>
              </a:pPr>
            </a:p>
          </p:txBody>
        </p:sp>
      </p:grpSp>
      <p:grpSp>
        <p:nvGrpSpPr>
          <p:cNvPr name="Group 12" id="12"/>
          <p:cNvGrpSpPr/>
          <p:nvPr/>
        </p:nvGrpSpPr>
        <p:grpSpPr>
          <a:xfrm rot="0">
            <a:off x="6476000" y="391766"/>
            <a:ext cx="3341946" cy="554019"/>
            <a:chOff x="0" y="0"/>
            <a:chExt cx="880183" cy="145915"/>
          </a:xfrm>
        </p:grpSpPr>
        <p:sp>
          <p:nvSpPr>
            <p:cNvPr name="Freeform 13" id="13"/>
            <p:cNvSpPr/>
            <p:nvPr/>
          </p:nvSpPr>
          <p:spPr>
            <a:xfrm flipH="false" flipV="false" rot="0">
              <a:off x="0" y="0"/>
              <a:ext cx="880183" cy="145915"/>
            </a:xfrm>
            <a:custGeom>
              <a:avLst/>
              <a:gdLst/>
              <a:ahLst/>
              <a:cxnLst/>
              <a:rect r="r" b="b" t="t" l="l"/>
              <a:pathLst>
                <a:path h="145915" w="880183">
                  <a:moveTo>
                    <a:pt x="72957" y="0"/>
                  </a:moveTo>
                  <a:lnTo>
                    <a:pt x="807226" y="0"/>
                  </a:lnTo>
                  <a:cubicBezTo>
                    <a:pt x="847519" y="0"/>
                    <a:pt x="880183" y="32664"/>
                    <a:pt x="880183" y="72957"/>
                  </a:cubicBezTo>
                  <a:lnTo>
                    <a:pt x="880183" y="72957"/>
                  </a:lnTo>
                  <a:cubicBezTo>
                    <a:pt x="880183" y="113250"/>
                    <a:pt x="847519" y="145915"/>
                    <a:pt x="807226" y="145915"/>
                  </a:cubicBezTo>
                  <a:lnTo>
                    <a:pt x="72957" y="145915"/>
                  </a:lnTo>
                  <a:cubicBezTo>
                    <a:pt x="32664" y="145915"/>
                    <a:pt x="0" y="113250"/>
                    <a:pt x="0" y="72957"/>
                  </a:cubicBezTo>
                  <a:lnTo>
                    <a:pt x="0" y="72957"/>
                  </a:lnTo>
                  <a:cubicBezTo>
                    <a:pt x="0" y="32664"/>
                    <a:pt x="32664" y="0"/>
                    <a:pt x="72957" y="0"/>
                  </a:cubicBezTo>
                  <a:close/>
                </a:path>
              </a:pathLst>
            </a:custGeom>
            <a:solidFill>
              <a:srgbClr val="FFFFFF"/>
            </a:solid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14" id="14"/>
            <p:cNvSpPr txBox="true"/>
            <p:nvPr/>
          </p:nvSpPr>
          <p:spPr>
            <a:xfrm>
              <a:off x="0" y="-47625"/>
              <a:ext cx="880183" cy="193540"/>
            </a:xfrm>
            <a:prstGeom prst="rect">
              <a:avLst/>
            </a:prstGeom>
          </p:spPr>
          <p:txBody>
            <a:bodyPr anchor="ctr" rtlCol="false" tIns="50800" lIns="50800" bIns="50800" rIns="50800"/>
            <a:lstStyle/>
            <a:p>
              <a:pPr algn="ctr">
                <a:lnSpc>
                  <a:spcPts val="3359"/>
                </a:lnSpc>
              </a:pPr>
            </a:p>
          </p:txBody>
        </p:sp>
      </p:grpSp>
      <p:sp>
        <p:nvSpPr>
          <p:cNvPr name="AutoShape 15" id="15"/>
          <p:cNvSpPr/>
          <p:nvPr/>
        </p:nvSpPr>
        <p:spPr>
          <a:xfrm>
            <a:off x="477889" y="3841062"/>
            <a:ext cx="9560751" cy="0"/>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
        <p:nvSpPr>
          <p:cNvPr name="AutoShape 16" id="16"/>
          <p:cNvSpPr/>
          <p:nvPr/>
        </p:nvSpPr>
        <p:spPr>
          <a:xfrm>
            <a:off x="477889" y="6083801"/>
            <a:ext cx="9560751" cy="0"/>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
        <p:nvSpPr>
          <p:cNvPr name="AutoShape 17" id="17"/>
          <p:cNvSpPr/>
          <p:nvPr/>
        </p:nvSpPr>
        <p:spPr>
          <a:xfrm>
            <a:off x="-417053" y="1167061"/>
            <a:ext cx="19109210" cy="0"/>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
        <p:nvSpPr>
          <p:cNvPr name="AutoShape 18" id="18"/>
          <p:cNvSpPr/>
          <p:nvPr/>
        </p:nvSpPr>
        <p:spPr>
          <a:xfrm flipV="true">
            <a:off x="10038640" y="9780309"/>
            <a:ext cx="8653516" cy="0"/>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
        <p:nvSpPr>
          <p:cNvPr name="TextBox 19" id="19"/>
          <p:cNvSpPr txBox="true"/>
          <p:nvPr/>
        </p:nvSpPr>
        <p:spPr>
          <a:xfrm rot="0">
            <a:off x="1383454" y="471410"/>
            <a:ext cx="2385672" cy="382270"/>
          </a:xfrm>
          <a:prstGeom prst="rect">
            <a:avLst/>
          </a:prstGeom>
        </p:spPr>
        <p:txBody>
          <a:bodyPr anchor="t" rtlCol="false" tIns="0" lIns="0" bIns="0" rIns="0">
            <a:spAutoFit/>
          </a:bodyPr>
          <a:lstStyle/>
          <a:p>
            <a:pPr algn="l">
              <a:lnSpc>
                <a:spcPts val="3079"/>
              </a:lnSpc>
            </a:pPr>
            <a:r>
              <a:rPr lang="en-US" sz="2199" spc="-142">
                <a:solidFill>
                  <a:srgbClr val="FFFFFF"/>
                </a:solidFill>
                <a:latin typeface="TS Qamus"/>
                <a:ea typeface="TS Qamus"/>
                <a:cs typeface="TS Qamus"/>
                <a:sym typeface="TS Qamus"/>
              </a:rPr>
              <a:t>Salford &amp; Co.</a:t>
            </a:r>
          </a:p>
        </p:txBody>
      </p:sp>
      <p:sp>
        <p:nvSpPr>
          <p:cNvPr name="TextBox 20" id="20"/>
          <p:cNvSpPr txBox="true"/>
          <p:nvPr/>
        </p:nvSpPr>
        <p:spPr>
          <a:xfrm rot="0">
            <a:off x="14170902" y="477323"/>
            <a:ext cx="2228402" cy="325755"/>
          </a:xfrm>
          <a:prstGeom prst="rect">
            <a:avLst/>
          </a:prstGeom>
        </p:spPr>
        <p:txBody>
          <a:bodyPr anchor="t" rtlCol="false" tIns="0" lIns="0" bIns="0" rIns="0">
            <a:spAutoFit/>
          </a:bodyPr>
          <a:lstStyle/>
          <a:p>
            <a:pPr algn="ctr">
              <a:lnSpc>
                <a:spcPts val="2520"/>
              </a:lnSpc>
            </a:pPr>
            <a:r>
              <a:rPr lang="en-US" sz="1800" spc="-117">
                <a:solidFill>
                  <a:srgbClr val="FFFFFF"/>
                </a:solidFill>
                <a:latin typeface="Poppins"/>
                <a:ea typeface="Poppins"/>
                <a:cs typeface="Poppins"/>
                <a:sym typeface="Poppins"/>
              </a:rPr>
              <a:t>6 August, 2025</a:t>
            </a:r>
          </a:p>
        </p:txBody>
      </p:sp>
      <p:sp>
        <p:nvSpPr>
          <p:cNvPr name="TextBox 21" id="21"/>
          <p:cNvSpPr txBox="true"/>
          <p:nvPr/>
        </p:nvSpPr>
        <p:spPr>
          <a:xfrm rot="0">
            <a:off x="6740220" y="477323"/>
            <a:ext cx="2820551" cy="325755"/>
          </a:xfrm>
          <a:prstGeom prst="rect">
            <a:avLst/>
          </a:prstGeom>
        </p:spPr>
        <p:txBody>
          <a:bodyPr anchor="t" rtlCol="false" tIns="0" lIns="0" bIns="0" rIns="0">
            <a:spAutoFit/>
          </a:bodyPr>
          <a:lstStyle/>
          <a:p>
            <a:pPr algn="ctr">
              <a:lnSpc>
                <a:spcPts val="2520"/>
              </a:lnSpc>
            </a:pPr>
            <a:r>
              <a:rPr lang="en-US" sz="1800" spc="-117">
                <a:solidFill>
                  <a:srgbClr val="000000"/>
                </a:solidFill>
                <a:latin typeface="Poppins"/>
                <a:ea typeface="Poppins"/>
                <a:cs typeface="Poppins"/>
                <a:sym typeface="Poppins"/>
              </a:rPr>
              <a:t>Social</a:t>
            </a:r>
            <a:r>
              <a:rPr lang="en-US" sz="1800" spc="-117">
                <a:solidFill>
                  <a:srgbClr val="000000"/>
                </a:solidFill>
                <a:latin typeface="Poppins"/>
                <a:ea typeface="Poppins"/>
                <a:cs typeface="Poppins"/>
                <a:sym typeface="Poppins"/>
              </a:rPr>
              <a:t> Media Proposal</a:t>
            </a:r>
          </a:p>
        </p:txBody>
      </p:sp>
      <p:sp>
        <p:nvSpPr>
          <p:cNvPr name="TextBox 22" id="22"/>
          <p:cNvSpPr txBox="true"/>
          <p:nvPr/>
        </p:nvSpPr>
        <p:spPr>
          <a:xfrm rot="0">
            <a:off x="815264" y="1824376"/>
            <a:ext cx="8555075" cy="2508376"/>
          </a:xfrm>
          <a:prstGeom prst="rect">
            <a:avLst/>
          </a:prstGeom>
        </p:spPr>
        <p:txBody>
          <a:bodyPr anchor="t" rtlCol="false" tIns="0" lIns="0" bIns="0" rIns="0">
            <a:spAutoFit/>
          </a:bodyPr>
          <a:lstStyle/>
          <a:p>
            <a:pPr algn="l">
              <a:lnSpc>
                <a:spcPts val="6318"/>
              </a:lnSpc>
            </a:pPr>
            <a:r>
              <a:rPr lang="en-US" sz="7099" spc="-85" b="true">
                <a:solidFill>
                  <a:srgbClr val="FFFFFF"/>
                </a:solidFill>
                <a:latin typeface="Geometrica Sans Medium"/>
                <a:ea typeface="Geometrica Sans Medium"/>
                <a:cs typeface="Geometrica Sans Medium"/>
                <a:sym typeface="Geometrica Sans Medium"/>
              </a:rPr>
              <a:t>Skema Pembobotan Portofolio &amp; Kredibilitas Sertifikat</a:t>
            </a:r>
          </a:p>
        </p:txBody>
      </p:sp>
      <p:grpSp>
        <p:nvGrpSpPr>
          <p:cNvPr name="Group 23" id="23"/>
          <p:cNvGrpSpPr/>
          <p:nvPr/>
        </p:nvGrpSpPr>
        <p:grpSpPr>
          <a:xfrm rot="0">
            <a:off x="815264" y="6469563"/>
            <a:ext cx="8925680" cy="4616071"/>
            <a:chOff x="0" y="0"/>
            <a:chExt cx="1382821" cy="715150"/>
          </a:xfrm>
        </p:grpSpPr>
        <p:sp>
          <p:nvSpPr>
            <p:cNvPr name="Freeform 24" id="24"/>
            <p:cNvSpPr/>
            <p:nvPr/>
          </p:nvSpPr>
          <p:spPr>
            <a:xfrm flipH="false" flipV="false" rot="0">
              <a:off x="0" y="0"/>
              <a:ext cx="1382821" cy="715150"/>
            </a:xfrm>
            <a:custGeom>
              <a:avLst/>
              <a:gdLst/>
              <a:ahLst/>
              <a:cxnLst/>
              <a:rect r="r" b="b" t="t" l="l"/>
              <a:pathLst>
                <a:path h="715150" w="1382821">
                  <a:moveTo>
                    <a:pt x="34695" y="0"/>
                  </a:moveTo>
                  <a:lnTo>
                    <a:pt x="1348126" y="0"/>
                  </a:lnTo>
                  <a:cubicBezTo>
                    <a:pt x="1357328" y="0"/>
                    <a:pt x="1366153" y="3655"/>
                    <a:pt x="1372659" y="10162"/>
                  </a:cubicBezTo>
                  <a:cubicBezTo>
                    <a:pt x="1379166" y="16669"/>
                    <a:pt x="1382821" y="25493"/>
                    <a:pt x="1382821" y="34695"/>
                  </a:cubicBezTo>
                  <a:lnTo>
                    <a:pt x="1382821" y="680455"/>
                  </a:lnTo>
                  <a:cubicBezTo>
                    <a:pt x="1382821" y="699617"/>
                    <a:pt x="1367288" y="715150"/>
                    <a:pt x="1348126" y="715150"/>
                  </a:cubicBezTo>
                  <a:lnTo>
                    <a:pt x="34695" y="715150"/>
                  </a:lnTo>
                  <a:cubicBezTo>
                    <a:pt x="25493" y="715150"/>
                    <a:pt x="16669" y="711495"/>
                    <a:pt x="10162" y="704988"/>
                  </a:cubicBezTo>
                  <a:cubicBezTo>
                    <a:pt x="3655" y="698482"/>
                    <a:pt x="0" y="689657"/>
                    <a:pt x="0" y="680455"/>
                  </a:cubicBezTo>
                  <a:lnTo>
                    <a:pt x="0" y="34695"/>
                  </a:lnTo>
                  <a:cubicBezTo>
                    <a:pt x="0" y="15533"/>
                    <a:pt x="15533" y="0"/>
                    <a:pt x="34695" y="0"/>
                  </a:cubicBezTo>
                  <a:close/>
                </a:path>
              </a:pathLst>
            </a:custGeom>
            <a:blipFill>
              <a:blip r:embed="rId5"/>
              <a:stretch>
                <a:fillRect l="0" t="-14413" r="0" b="-14413"/>
              </a:stretch>
            </a:blipFill>
            <a:ln w="19050"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grpSp>
        <p:nvGrpSpPr>
          <p:cNvPr name="Group 25" id="25"/>
          <p:cNvGrpSpPr/>
          <p:nvPr/>
        </p:nvGrpSpPr>
        <p:grpSpPr>
          <a:xfrm rot="0">
            <a:off x="10427567" y="1557854"/>
            <a:ext cx="7053240" cy="3759189"/>
            <a:chOff x="0" y="0"/>
            <a:chExt cx="1857643" cy="990074"/>
          </a:xfrm>
        </p:grpSpPr>
        <p:sp>
          <p:nvSpPr>
            <p:cNvPr name="Freeform 26" id="26"/>
            <p:cNvSpPr/>
            <p:nvPr/>
          </p:nvSpPr>
          <p:spPr>
            <a:xfrm flipH="false" flipV="false" rot="0">
              <a:off x="0" y="0"/>
              <a:ext cx="1857643" cy="990074"/>
            </a:xfrm>
            <a:custGeom>
              <a:avLst/>
              <a:gdLst/>
              <a:ahLst/>
              <a:cxnLst/>
              <a:rect r="r" b="b" t="t" l="l"/>
              <a:pathLst>
                <a:path h="990074" w="1857643">
                  <a:moveTo>
                    <a:pt x="43906" y="0"/>
                  </a:moveTo>
                  <a:lnTo>
                    <a:pt x="1813738" y="0"/>
                  </a:lnTo>
                  <a:cubicBezTo>
                    <a:pt x="1837986" y="0"/>
                    <a:pt x="1857643" y="19657"/>
                    <a:pt x="1857643" y="43906"/>
                  </a:cubicBezTo>
                  <a:lnTo>
                    <a:pt x="1857643" y="946169"/>
                  </a:lnTo>
                  <a:cubicBezTo>
                    <a:pt x="1857643" y="970417"/>
                    <a:pt x="1837986" y="990074"/>
                    <a:pt x="1813738" y="990074"/>
                  </a:cubicBezTo>
                  <a:lnTo>
                    <a:pt x="43906" y="990074"/>
                  </a:lnTo>
                  <a:cubicBezTo>
                    <a:pt x="19657" y="990074"/>
                    <a:pt x="0" y="970417"/>
                    <a:pt x="0" y="946169"/>
                  </a:cubicBezTo>
                  <a:lnTo>
                    <a:pt x="0" y="43906"/>
                  </a:lnTo>
                  <a:cubicBezTo>
                    <a:pt x="0" y="19657"/>
                    <a:pt x="19657" y="0"/>
                    <a:pt x="43906" y="0"/>
                  </a:cubicBezTo>
                  <a:close/>
                </a:path>
              </a:pathLst>
            </a:custGeom>
            <a:solidFill>
              <a:srgbClr val="FFFFFF"/>
            </a:solid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27" id="27"/>
            <p:cNvSpPr txBox="true"/>
            <p:nvPr/>
          </p:nvSpPr>
          <p:spPr>
            <a:xfrm>
              <a:off x="0" y="-47625"/>
              <a:ext cx="1857643" cy="1037699"/>
            </a:xfrm>
            <a:prstGeom prst="rect">
              <a:avLst/>
            </a:prstGeom>
          </p:spPr>
          <p:txBody>
            <a:bodyPr anchor="ctr" rtlCol="false" tIns="50800" lIns="50800" bIns="50800" rIns="50800"/>
            <a:lstStyle/>
            <a:p>
              <a:pPr algn="ctr">
                <a:lnSpc>
                  <a:spcPts val="3359"/>
                </a:lnSpc>
              </a:pPr>
            </a:p>
          </p:txBody>
        </p:sp>
      </p:grpSp>
      <p:grpSp>
        <p:nvGrpSpPr>
          <p:cNvPr name="Group 28" id="28"/>
          <p:cNvGrpSpPr/>
          <p:nvPr/>
        </p:nvGrpSpPr>
        <p:grpSpPr>
          <a:xfrm rot="0">
            <a:off x="10427567" y="5707568"/>
            <a:ext cx="7053240" cy="3117785"/>
            <a:chOff x="0" y="0"/>
            <a:chExt cx="1857643" cy="821145"/>
          </a:xfrm>
        </p:grpSpPr>
        <p:sp>
          <p:nvSpPr>
            <p:cNvPr name="Freeform 29" id="29"/>
            <p:cNvSpPr/>
            <p:nvPr/>
          </p:nvSpPr>
          <p:spPr>
            <a:xfrm flipH="false" flipV="false" rot="0">
              <a:off x="0" y="0"/>
              <a:ext cx="1857643" cy="821145"/>
            </a:xfrm>
            <a:custGeom>
              <a:avLst/>
              <a:gdLst/>
              <a:ahLst/>
              <a:cxnLst/>
              <a:rect r="r" b="b" t="t" l="l"/>
              <a:pathLst>
                <a:path h="821145" w="1857643">
                  <a:moveTo>
                    <a:pt x="43906" y="0"/>
                  </a:moveTo>
                  <a:lnTo>
                    <a:pt x="1813738" y="0"/>
                  </a:lnTo>
                  <a:cubicBezTo>
                    <a:pt x="1837986" y="0"/>
                    <a:pt x="1857643" y="19657"/>
                    <a:pt x="1857643" y="43906"/>
                  </a:cubicBezTo>
                  <a:lnTo>
                    <a:pt x="1857643" y="777240"/>
                  </a:lnTo>
                  <a:cubicBezTo>
                    <a:pt x="1857643" y="801488"/>
                    <a:pt x="1837986" y="821145"/>
                    <a:pt x="1813738" y="821145"/>
                  </a:cubicBezTo>
                  <a:lnTo>
                    <a:pt x="43906" y="821145"/>
                  </a:lnTo>
                  <a:cubicBezTo>
                    <a:pt x="32261" y="821145"/>
                    <a:pt x="21094" y="816519"/>
                    <a:pt x="12860" y="808285"/>
                  </a:cubicBezTo>
                  <a:cubicBezTo>
                    <a:pt x="4626" y="800052"/>
                    <a:pt x="0" y="788884"/>
                    <a:pt x="0" y="777240"/>
                  </a:cubicBezTo>
                  <a:lnTo>
                    <a:pt x="0" y="43906"/>
                  </a:lnTo>
                  <a:cubicBezTo>
                    <a:pt x="0" y="19657"/>
                    <a:pt x="19657" y="0"/>
                    <a:pt x="43906" y="0"/>
                  </a:cubicBezTo>
                  <a:close/>
                </a:path>
              </a:pathLst>
            </a:custGeom>
            <a:gradFill rotWithShape="true">
              <a:gsLst>
                <a:gs pos="0">
                  <a:srgbClr val="292929">
                    <a:alpha val="100000"/>
                  </a:srgbClr>
                </a:gs>
                <a:gs pos="100000">
                  <a:srgbClr val="3F4E52">
                    <a:alpha val="100000"/>
                  </a:srgbClr>
                </a:gs>
              </a:gsLst>
              <a:lin ang="0"/>
            </a:grad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30" id="30"/>
            <p:cNvSpPr txBox="true"/>
            <p:nvPr/>
          </p:nvSpPr>
          <p:spPr>
            <a:xfrm>
              <a:off x="0" y="-47625"/>
              <a:ext cx="1857643" cy="868770"/>
            </a:xfrm>
            <a:prstGeom prst="rect">
              <a:avLst/>
            </a:prstGeom>
          </p:spPr>
          <p:txBody>
            <a:bodyPr anchor="ctr" rtlCol="false" tIns="50800" lIns="50800" bIns="50800" rIns="50800"/>
            <a:lstStyle/>
            <a:p>
              <a:pPr algn="ctr">
                <a:lnSpc>
                  <a:spcPts val="3359"/>
                </a:lnSpc>
              </a:pPr>
            </a:p>
          </p:txBody>
        </p:sp>
      </p:grpSp>
      <p:sp>
        <p:nvSpPr>
          <p:cNvPr name="TextBox 31" id="31"/>
          <p:cNvSpPr txBox="true"/>
          <p:nvPr/>
        </p:nvSpPr>
        <p:spPr>
          <a:xfrm rot="0">
            <a:off x="10819493" y="2696607"/>
            <a:ext cx="6343560" cy="2072513"/>
          </a:xfrm>
          <a:prstGeom prst="rect">
            <a:avLst/>
          </a:prstGeom>
        </p:spPr>
        <p:txBody>
          <a:bodyPr anchor="t" rtlCol="false" tIns="0" lIns="0" bIns="0" rIns="0">
            <a:spAutoFit/>
          </a:bodyPr>
          <a:lstStyle/>
          <a:p>
            <a:pPr algn="l">
              <a:lnSpc>
                <a:spcPts val="4096"/>
              </a:lnSpc>
            </a:pPr>
            <a:r>
              <a:rPr lang="en-US" sz="3200" i="true" spc="-96">
                <a:solidFill>
                  <a:srgbClr val="4D4D4D"/>
                </a:solidFill>
                <a:latin typeface="Poppins Italics"/>
                <a:ea typeface="Poppins Italics"/>
                <a:cs typeface="Poppins Italics"/>
                <a:sym typeface="Poppins Italics"/>
              </a:rPr>
              <a:t>Lembaga teknologi global &amp; penyedia sertifikasi resmi (Google, AWS, Microsoft, Meta, IBM, Cisco, DeepLearning.AI).</a:t>
            </a:r>
          </a:p>
        </p:txBody>
      </p:sp>
      <p:sp>
        <p:nvSpPr>
          <p:cNvPr name="TextBox 32" id="32"/>
          <p:cNvSpPr txBox="true"/>
          <p:nvPr/>
        </p:nvSpPr>
        <p:spPr>
          <a:xfrm rot="0">
            <a:off x="10935433" y="6996618"/>
            <a:ext cx="6268653" cy="1558163"/>
          </a:xfrm>
          <a:prstGeom prst="rect">
            <a:avLst/>
          </a:prstGeom>
        </p:spPr>
        <p:txBody>
          <a:bodyPr anchor="t" rtlCol="false" tIns="0" lIns="0" bIns="0" rIns="0">
            <a:spAutoFit/>
          </a:bodyPr>
          <a:lstStyle/>
          <a:p>
            <a:pPr algn="l">
              <a:lnSpc>
                <a:spcPts val="4096"/>
              </a:lnSpc>
            </a:pPr>
            <a:r>
              <a:rPr lang="en-US" sz="3200" i="true" spc="-96">
                <a:solidFill>
                  <a:srgbClr val="C6C6C6"/>
                </a:solidFill>
                <a:latin typeface="Poppins Italics"/>
                <a:ea typeface="Poppins Italics"/>
                <a:cs typeface="Poppins Italics"/>
                <a:sym typeface="Poppins Italics"/>
              </a:rPr>
              <a:t>Pelatihan nasional/institusi lokal terakreditasi dan platform kursus umum.</a:t>
            </a:r>
          </a:p>
        </p:txBody>
      </p:sp>
      <p:sp>
        <p:nvSpPr>
          <p:cNvPr name="Freeform 33" id="33"/>
          <p:cNvSpPr/>
          <p:nvPr/>
        </p:nvSpPr>
        <p:spPr>
          <a:xfrm flipH="false" flipV="false" rot="0">
            <a:off x="10890753" y="1946758"/>
            <a:ext cx="345797" cy="345797"/>
          </a:xfrm>
          <a:custGeom>
            <a:avLst/>
            <a:gdLst/>
            <a:ahLst/>
            <a:cxnLst/>
            <a:rect r="r" b="b" t="t" l="l"/>
            <a:pathLst>
              <a:path h="345797" w="345797">
                <a:moveTo>
                  <a:pt x="0" y="0"/>
                </a:moveTo>
                <a:lnTo>
                  <a:pt x="345797" y="0"/>
                </a:lnTo>
                <a:lnTo>
                  <a:pt x="345797" y="345797"/>
                </a:lnTo>
                <a:lnTo>
                  <a:pt x="0" y="34579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4" id="34"/>
          <p:cNvSpPr/>
          <p:nvPr/>
        </p:nvSpPr>
        <p:spPr>
          <a:xfrm flipH="false" flipV="false" rot="0">
            <a:off x="11062723" y="6207769"/>
            <a:ext cx="345797" cy="345797"/>
          </a:xfrm>
          <a:custGeom>
            <a:avLst/>
            <a:gdLst/>
            <a:ahLst/>
            <a:cxnLst/>
            <a:rect r="r" b="b" t="t" l="l"/>
            <a:pathLst>
              <a:path h="345797" w="345797">
                <a:moveTo>
                  <a:pt x="0" y="0"/>
                </a:moveTo>
                <a:lnTo>
                  <a:pt x="345798" y="0"/>
                </a:lnTo>
                <a:lnTo>
                  <a:pt x="345798" y="345797"/>
                </a:lnTo>
                <a:lnTo>
                  <a:pt x="0" y="34579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35" id="35"/>
          <p:cNvSpPr txBox="true"/>
          <p:nvPr/>
        </p:nvSpPr>
        <p:spPr>
          <a:xfrm rot="0">
            <a:off x="11569925" y="1741831"/>
            <a:ext cx="5541974" cy="679451"/>
          </a:xfrm>
          <a:prstGeom prst="rect">
            <a:avLst/>
          </a:prstGeom>
        </p:spPr>
        <p:txBody>
          <a:bodyPr anchor="t" rtlCol="false" tIns="0" lIns="0" bIns="0" rIns="0">
            <a:spAutoFit/>
          </a:bodyPr>
          <a:lstStyle/>
          <a:p>
            <a:pPr algn="l">
              <a:lnSpc>
                <a:spcPts val="5599"/>
              </a:lnSpc>
            </a:pPr>
            <a:r>
              <a:rPr lang="en-US" sz="3999" spc="-259">
                <a:solidFill>
                  <a:srgbClr val="000000"/>
                </a:solidFill>
                <a:latin typeface="TS Qamus"/>
                <a:ea typeface="TS Qamus"/>
                <a:cs typeface="TS Qamus"/>
                <a:sym typeface="TS Qamus"/>
              </a:rPr>
              <a:t>Tier A (Bobot Maksimal)</a:t>
            </a:r>
          </a:p>
        </p:txBody>
      </p:sp>
      <p:sp>
        <p:nvSpPr>
          <p:cNvPr name="TextBox 36" id="36"/>
          <p:cNvSpPr txBox="true"/>
          <p:nvPr/>
        </p:nvSpPr>
        <p:spPr>
          <a:xfrm rot="0">
            <a:off x="11755979" y="6002843"/>
            <a:ext cx="5245910" cy="679450"/>
          </a:xfrm>
          <a:prstGeom prst="rect">
            <a:avLst/>
          </a:prstGeom>
        </p:spPr>
        <p:txBody>
          <a:bodyPr anchor="t" rtlCol="false" tIns="0" lIns="0" bIns="0" rIns="0">
            <a:spAutoFit/>
          </a:bodyPr>
          <a:lstStyle/>
          <a:p>
            <a:pPr algn="l">
              <a:lnSpc>
                <a:spcPts val="5599"/>
              </a:lnSpc>
            </a:pPr>
            <a:r>
              <a:rPr lang="en-US" sz="3999" spc="-259">
                <a:solidFill>
                  <a:srgbClr val="FFFFFF"/>
                </a:solidFill>
                <a:latin typeface="TS Qamus"/>
                <a:ea typeface="TS Qamus"/>
                <a:cs typeface="TS Qamus"/>
                <a:sym typeface="TS Qamus"/>
              </a:rPr>
              <a:t>Tier B (Bobot Standar)</a:t>
            </a:r>
          </a:p>
        </p:txBody>
      </p:sp>
      <p:sp>
        <p:nvSpPr>
          <p:cNvPr name="AutoShape 37" id="37"/>
          <p:cNvSpPr/>
          <p:nvPr/>
        </p:nvSpPr>
        <p:spPr>
          <a:xfrm>
            <a:off x="6223588" y="-468675"/>
            <a:ext cx="0" cy="1635737"/>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
        <p:nvSpPr>
          <p:cNvPr name="TextBox 38" id="38"/>
          <p:cNvSpPr txBox="true"/>
          <p:nvPr/>
        </p:nvSpPr>
        <p:spPr>
          <a:xfrm rot="0">
            <a:off x="815264" y="4666127"/>
            <a:ext cx="8942389" cy="1809877"/>
          </a:xfrm>
          <a:prstGeom prst="rect">
            <a:avLst/>
          </a:prstGeom>
        </p:spPr>
        <p:txBody>
          <a:bodyPr anchor="t" rtlCol="false" tIns="0" lIns="0" bIns="0" rIns="0">
            <a:spAutoFit/>
          </a:bodyPr>
          <a:lstStyle/>
          <a:p>
            <a:pPr algn="l">
              <a:lnSpc>
                <a:spcPts val="3583"/>
              </a:lnSpc>
            </a:pPr>
            <a:r>
              <a:rPr lang="en-US" sz="2799" i="true" spc="-83">
                <a:solidFill>
                  <a:srgbClr val="C6C6C6"/>
                </a:solidFill>
                <a:latin typeface="Poppins Italics"/>
                <a:ea typeface="Poppins Italics"/>
                <a:cs typeface="Poppins Italics"/>
                <a:sym typeface="Poppins Italics"/>
              </a:rPr>
              <a:t>Mengapa Perlu Pembobotan? Tidak semua sertifikat memiliki tingkat kesulitan dan reputasi yang sama di mata industri.</a:t>
            </a:r>
          </a:p>
          <a:p>
            <a:pPr algn="l">
              <a:lnSpc>
                <a:spcPts val="3583"/>
              </a:lnSpc>
            </a:pPr>
          </a:p>
        </p:txBody>
      </p:sp>
      <p:grpSp>
        <p:nvGrpSpPr>
          <p:cNvPr name="Group 39" id="39"/>
          <p:cNvGrpSpPr/>
          <p:nvPr/>
        </p:nvGrpSpPr>
        <p:grpSpPr>
          <a:xfrm rot="0">
            <a:off x="10427567" y="9044428"/>
            <a:ext cx="7053240" cy="1016600"/>
            <a:chOff x="0" y="0"/>
            <a:chExt cx="1857643" cy="267746"/>
          </a:xfrm>
        </p:grpSpPr>
        <p:sp>
          <p:nvSpPr>
            <p:cNvPr name="Freeform 40" id="40"/>
            <p:cNvSpPr/>
            <p:nvPr/>
          </p:nvSpPr>
          <p:spPr>
            <a:xfrm flipH="false" flipV="false" rot="0">
              <a:off x="0" y="0"/>
              <a:ext cx="1857643" cy="267746"/>
            </a:xfrm>
            <a:custGeom>
              <a:avLst/>
              <a:gdLst/>
              <a:ahLst/>
              <a:cxnLst/>
              <a:rect r="r" b="b" t="t" l="l"/>
              <a:pathLst>
                <a:path h="267746" w="1857643">
                  <a:moveTo>
                    <a:pt x="18660" y="0"/>
                  </a:moveTo>
                  <a:lnTo>
                    <a:pt x="1838983" y="0"/>
                  </a:lnTo>
                  <a:cubicBezTo>
                    <a:pt x="1849289" y="0"/>
                    <a:pt x="1857643" y="8354"/>
                    <a:pt x="1857643" y="18660"/>
                  </a:cubicBezTo>
                  <a:lnTo>
                    <a:pt x="1857643" y="249087"/>
                  </a:lnTo>
                  <a:cubicBezTo>
                    <a:pt x="1857643" y="259392"/>
                    <a:pt x="1849289" y="267746"/>
                    <a:pt x="1838983" y="267746"/>
                  </a:cubicBezTo>
                  <a:lnTo>
                    <a:pt x="18660" y="267746"/>
                  </a:lnTo>
                  <a:cubicBezTo>
                    <a:pt x="8354" y="267746"/>
                    <a:pt x="0" y="259392"/>
                    <a:pt x="0" y="249087"/>
                  </a:cubicBezTo>
                  <a:lnTo>
                    <a:pt x="0" y="18660"/>
                  </a:lnTo>
                  <a:cubicBezTo>
                    <a:pt x="0" y="8354"/>
                    <a:pt x="8354" y="0"/>
                    <a:pt x="18660" y="0"/>
                  </a:cubicBezTo>
                  <a:close/>
                </a:path>
              </a:pathLst>
            </a:custGeom>
            <a:gradFill rotWithShape="true">
              <a:gsLst>
                <a:gs pos="0">
                  <a:srgbClr val="D6A3A3">
                    <a:alpha val="100000"/>
                  </a:srgbClr>
                </a:gs>
                <a:gs pos="100000">
                  <a:srgbClr val="3F4E52">
                    <a:alpha val="100000"/>
                  </a:srgbClr>
                </a:gs>
              </a:gsLst>
              <a:lin ang="0"/>
            </a:gradFill>
            <a:ln w="9525" cap="sq">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miter/>
            </a:ln>
          </p:spPr>
        </p:sp>
        <p:sp>
          <p:nvSpPr>
            <p:cNvPr name="TextBox 41" id="41"/>
            <p:cNvSpPr txBox="true"/>
            <p:nvPr/>
          </p:nvSpPr>
          <p:spPr>
            <a:xfrm>
              <a:off x="0" y="-47625"/>
              <a:ext cx="1857643" cy="315371"/>
            </a:xfrm>
            <a:prstGeom prst="rect">
              <a:avLst/>
            </a:prstGeom>
          </p:spPr>
          <p:txBody>
            <a:bodyPr anchor="ctr" rtlCol="false" tIns="50800" lIns="50800" bIns="50800" rIns="50800"/>
            <a:lstStyle/>
            <a:p>
              <a:pPr algn="ctr">
                <a:lnSpc>
                  <a:spcPts val="3359"/>
                </a:lnSpc>
              </a:pPr>
            </a:p>
          </p:txBody>
        </p:sp>
      </p:grpSp>
      <p:sp>
        <p:nvSpPr>
          <p:cNvPr name="TextBox 42" id="42"/>
          <p:cNvSpPr txBox="true"/>
          <p:nvPr/>
        </p:nvSpPr>
        <p:spPr>
          <a:xfrm rot="0">
            <a:off x="10733236" y="9101578"/>
            <a:ext cx="6268653" cy="822325"/>
          </a:xfrm>
          <a:prstGeom prst="rect">
            <a:avLst/>
          </a:prstGeom>
        </p:spPr>
        <p:txBody>
          <a:bodyPr anchor="t" rtlCol="false" tIns="0" lIns="0" bIns="0" rIns="0">
            <a:spAutoFit/>
          </a:bodyPr>
          <a:lstStyle/>
          <a:p>
            <a:pPr algn="l">
              <a:lnSpc>
                <a:spcPts val="3200"/>
              </a:lnSpc>
            </a:pPr>
            <a:r>
              <a:rPr lang="en-US" sz="2500" i="true" spc="-75">
                <a:solidFill>
                  <a:srgbClr val="FFFFFF"/>
                </a:solidFill>
                <a:latin typeface="Poppins Italics"/>
                <a:ea typeface="Poppins Italics"/>
                <a:cs typeface="Poppins Italics"/>
                <a:sym typeface="Poppins Italics"/>
              </a:rPr>
              <a:t>Integrasi Skor Akademik: Nilai mata kuliah (A, AB, B, dst.)</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777" r="0" b="-1777"/>
            </a:stretch>
          </a:blipFill>
        </p:spPr>
      </p:sp>
      <p:sp>
        <p:nvSpPr>
          <p:cNvPr name="AutoShape 3" id="3"/>
          <p:cNvSpPr/>
          <p:nvPr/>
        </p:nvSpPr>
        <p:spPr>
          <a:xfrm>
            <a:off x="10038640" y="-468675"/>
            <a:ext cx="0" cy="11995723"/>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
        <p:nvSpPr>
          <p:cNvPr name="AutoShape 4" id="4"/>
          <p:cNvSpPr/>
          <p:nvPr/>
        </p:nvSpPr>
        <p:spPr>
          <a:xfrm>
            <a:off x="477889" y="-448043"/>
            <a:ext cx="0" cy="11118486"/>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
        <p:nvSpPr>
          <p:cNvPr name="Freeform 5" id="5"/>
          <p:cNvSpPr/>
          <p:nvPr/>
        </p:nvSpPr>
        <p:spPr>
          <a:xfrm flipH="false" flipV="false" rot="0">
            <a:off x="783373" y="515779"/>
            <a:ext cx="443469" cy="305994"/>
          </a:xfrm>
          <a:custGeom>
            <a:avLst/>
            <a:gdLst/>
            <a:ahLst/>
            <a:cxnLst/>
            <a:rect r="r" b="b" t="t" l="l"/>
            <a:pathLst>
              <a:path h="305994" w="443469">
                <a:moveTo>
                  <a:pt x="0" y="0"/>
                </a:moveTo>
                <a:lnTo>
                  <a:pt x="443469" y="0"/>
                </a:lnTo>
                <a:lnTo>
                  <a:pt x="443469" y="305993"/>
                </a:lnTo>
                <a:lnTo>
                  <a:pt x="0" y="30599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16845300" y="391766"/>
            <a:ext cx="635507" cy="554019"/>
            <a:chOff x="0" y="0"/>
            <a:chExt cx="167376" cy="145915"/>
          </a:xfrm>
        </p:grpSpPr>
        <p:sp>
          <p:nvSpPr>
            <p:cNvPr name="Freeform 7" id="7"/>
            <p:cNvSpPr/>
            <p:nvPr/>
          </p:nvSpPr>
          <p:spPr>
            <a:xfrm flipH="false" flipV="false" rot="0">
              <a:off x="0" y="0"/>
              <a:ext cx="167376" cy="145915"/>
            </a:xfrm>
            <a:custGeom>
              <a:avLst/>
              <a:gdLst/>
              <a:ahLst/>
              <a:cxnLst/>
              <a:rect r="r" b="b" t="t" l="l"/>
              <a:pathLst>
                <a:path h="145915" w="167376">
                  <a:moveTo>
                    <a:pt x="72957" y="0"/>
                  </a:moveTo>
                  <a:lnTo>
                    <a:pt x="94419" y="0"/>
                  </a:lnTo>
                  <a:cubicBezTo>
                    <a:pt x="134712" y="0"/>
                    <a:pt x="167376" y="32664"/>
                    <a:pt x="167376" y="72957"/>
                  </a:cubicBezTo>
                  <a:lnTo>
                    <a:pt x="167376" y="72957"/>
                  </a:lnTo>
                  <a:cubicBezTo>
                    <a:pt x="167376" y="113250"/>
                    <a:pt x="134712" y="145915"/>
                    <a:pt x="94419" y="145915"/>
                  </a:cubicBezTo>
                  <a:lnTo>
                    <a:pt x="72957" y="145915"/>
                  </a:lnTo>
                  <a:cubicBezTo>
                    <a:pt x="32664" y="145915"/>
                    <a:pt x="0" y="113250"/>
                    <a:pt x="0" y="72957"/>
                  </a:cubicBezTo>
                  <a:lnTo>
                    <a:pt x="0" y="72957"/>
                  </a:lnTo>
                  <a:cubicBezTo>
                    <a:pt x="0" y="32664"/>
                    <a:pt x="32664" y="0"/>
                    <a:pt x="72957" y="0"/>
                  </a:cubicBezTo>
                  <a:close/>
                </a:path>
              </a:pathLst>
            </a:custGeom>
            <a:gradFill rotWithShape="true">
              <a:gsLst>
                <a:gs pos="0">
                  <a:srgbClr val="9B9B9B">
                    <a:alpha val="28000"/>
                  </a:srgbClr>
                </a:gs>
                <a:gs pos="25000">
                  <a:srgbClr val="FFFFFF">
                    <a:alpha val="29000"/>
                  </a:srgbClr>
                </a:gs>
                <a:gs pos="50000">
                  <a:srgbClr val="FFFFFF">
                    <a:alpha val="44500"/>
                  </a:srgbClr>
                </a:gs>
                <a:gs pos="75000">
                  <a:srgbClr val="FFFFFF">
                    <a:alpha val="29000"/>
                  </a:srgbClr>
                </a:gs>
                <a:gs pos="100000">
                  <a:srgbClr val="9B9B9B">
                    <a:alpha val="28000"/>
                  </a:srgbClr>
                </a:gs>
              </a:gsLst>
              <a:lin ang="2700000"/>
            </a:grad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8" id="8"/>
            <p:cNvSpPr txBox="true"/>
            <p:nvPr/>
          </p:nvSpPr>
          <p:spPr>
            <a:xfrm>
              <a:off x="0" y="-47625"/>
              <a:ext cx="167376" cy="193540"/>
            </a:xfrm>
            <a:prstGeom prst="rect">
              <a:avLst/>
            </a:prstGeom>
          </p:spPr>
          <p:txBody>
            <a:bodyPr anchor="ctr" rtlCol="false" tIns="50800" lIns="50800" bIns="50800" rIns="50800"/>
            <a:lstStyle/>
            <a:p>
              <a:pPr algn="ctr">
                <a:lnSpc>
                  <a:spcPts val="3359"/>
                </a:lnSpc>
              </a:pPr>
            </a:p>
          </p:txBody>
        </p:sp>
      </p:grpSp>
      <p:grpSp>
        <p:nvGrpSpPr>
          <p:cNvPr name="Group 9" id="9"/>
          <p:cNvGrpSpPr/>
          <p:nvPr/>
        </p:nvGrpSpPr>
        <p:grpSpPr>
          <a:xfrm rot="0">
            <a:off x="13913154" y="391766"/>
            <a:ext cx="2743897" cy="554019"/>
            <a:chOff x="0" y="0"/>
            <a:chExt cx="722672" cy="145915"/>
          </a:xfrm>
        </p:grpSpPr>
        <p:sp>
          <p:nvSpPr>
            <p:cNvPr name="Freeform 10" id="10"/>
            <p:cNvSpPr/>
            <p:nvPr/>
          </p:nvSpPr>
          <p:spPr>
            <a:xfrm flipH="false" flipV="false" rot="0">
              <a:off x="0" y="0"/>
              <a:ext cx="722672" cy="145915"/>
            </a:xfrm>
            <a:custGeom>
              <a:avLst/>
              <a:gdLst/>
              <a:ahLst/>
              <a:cxnLst/>
              <a:rect r="r" b="b" t="t" l="l"/>
              <a:pathLst>
                <a:path h="145915" w="722672">
                  <a:moveTo>
                    <a:pt x="72957" y="0"/>
                  </a:moveTo>
                  <a:lnTo>
                    <a:pt x="649715" y="0"/>
                  </a:lnTo>
                  <a:cubicBezTo>
                    <a:pt x="690008" y="0"/>
                    <a:pt x="722672" y="32664"/>
                    <a:pt x="722672" y="72957"/>
                  </a:cubicBezTo>
                  <a:lnTo>
                    <a:pt x="722672" y="72957"/>
                  </a:lnTo>
                  <a:cubicBezTo>
                    <a:pt x="722672" y="113250"/>
                    <a:pt x="690008" y="145915"/>
                    <a:pt x="649715" y="145915"/>
                  </a:cubicBezTo>
                  <a:lnTo>
                    <a:pt x="72957" y="145915"/>
                  </a:lnTo>
                  <a:cubicBezTo>
                    <a:pt x="32664" y="145915"/>
                    <a:pt x="0" y="113250"/>
                    <a:pt x="0" y="72957"/>
                  </a:cubicBezTo>
                  <a:lnTo>
                    <a:pt x="0" y="72957"/>
                  </a:lnTo>
                  <a:cubicBezTo>
                    <a:pt x="0" y="32664"/>
                    <a:pt x="32664" y="0"/>
                    <a:pt x="72957" y="0"/>
                  </a:cubicBezTo>
                  <a:close/>
                </a:path>
              </a:pathLst>
            </a:custGeom>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11" id="11"/>
            <p:cNvSpPr txBox="true"/>
            <p:nvPr/>
          </p:nvSpPr>
          <p:spPr>
            <a:xfrm>
              <a:off x="0" y="-47625"/>
              <a:ext cx="722672" cy="193540"/>
            </a:xfrm>
            <a:prstGeom prst="rect">
              <a:avLst/>
            </a:prstGeom>
          </p:spPr>
          <p:txBody>
            <a:bodyPr anchor="ctr" rtlCol="false" tIns="50800" lIns="50800" bIns="50800" rIns="50800"/>
            <a:lstStyle/>
            <a:p>
              <a:pPr algn="ctr">
                <a:lnSpc>
                  <a:spcPts val="3359"/>
                </a:lnSpc>
              </a:pPr>
            </a:p>
          </p:txBody>
        </p:sp>
      </p:grpSp>
      <p:grpSp>
        <p:nvGrpSpPr>
          <p:cNvPr name="Group 12" id="12"/>
          <p:cNvGrpSpPr/>
          <p:nvPr/>
        </p:nvGrpSpPr>
        <p:grpSpPr>
          <a:xfrm rot="0">
            <a:off x="6476000" y="391766"/>
            <a:ext cx="3341946" cy="554019"/>
            <a:chOff x="0" y="0"/>
            <a:chExt cx="880183" cy="145915"/>
          </a:xfrm>
        </p:grpSpPr>
        <p:sp>
          <p:nvSpPr>
            <p:cNvPr name="Freeform 13" id="13"/>
            <p:cNvSpPr/>
            <p:nvPr/>
          </p:nvSpPr>
          <p:spPr>
            <a:xfrm flipH="false" flipV="false" rot="0">
              <a:off x="0" y="0"/>
              <a:ext cx="880183" cy="145915"/>
            </a:xfrm>
            <a:custGeom>
              <a:avLst/>
              <a:gdLst/>
              <a:ahLst/>
              <a:cxnLst/>
              <a:rect r="r" b="b" t="t" l="l"/>
              <a:pathLst>
                <a:path h="145915" w="880183">
                  <a:moveTo>
                    <a:pt x="72957" y="0"/>
                  </a:moveTo>
                  <a:lnTo>
                    <a:pt x="807226" y="0"/>
                  </a:lnTo>
                  <a:cubicBezTo>
                    <a:pt x="847519" y="0"/>
                    <a:pt x="880183" y="32664"/>
                    <a:pt x="880183" y="72957"/>
                  </a:cubicBezTo>
                  <a:lnTo>
                    <a:pt x="880183" y="72957"/>
                  </a:lnTo>
                  <a:cubicBezTo>
                    <a:pt x="880183" y="113250"/>
                    <a:pt x="847519" y="145915"/>
                    <a:pt x="807226" y="145915"/>
                  </a:cubicBezTo>
                  <a:lnTo>
                    <a:pt x="72957" y="145915"/>
                  </a:lnTo>
                  <a:cubicBezTo>
                    <a:pt x="32664" y="145915"/>
                    <a:pt x="0" y="113250"/>
                    <a:pt x="0" y="72957"/>
                  </a:cubicBezTo>
                  <a:lnTo>
                    <a:pt x="0" y="72957"/>
                  </a:lnTo>
                  <a:cubicBezTo>
                    <a:pt x="0" y="32664"/>
                    <a:pt x="32664" y="0"/>
                    <a:pt x="72957" y="0"/>
                  </a:cubicBezTo>
                  <a:close/>
                </a:path>
              </a:pathLst>
            </a:custGeom>
            <a:solidFill>
              <a:srgbClr val="FFFFFF"/>
            </a:solid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14" id="14"/>
            <p:cNvSpPr txBox="true"/>
            <p:nvPr/>
          </p:nvSpPr>
          <p:spPr>
            <a:xfrm>
              <a:off x="0" y="-47625"/>
              <a:ext cx="880183" cy="193540"/>
            </a:xfrm>
            <a:prstGeom prst="rect">
              <a:avLst/>
            </a:prstGeom>
          </p:spPr>
          <p:txBody>
            <a:bodyPr anchor="ctr" rtlCol="false" tIns="50800" lIns="50800" bIns="50800" rIns="50800"/>
            <a:lstStyle/>
            <a:p>
              <a:pPr algn="ctr">
                <a:lnSpc>
                  <a:spcPts val="3359"/>
                </a:lnSpc>
              </a:pPr>
            </a:p>
          </p:txBody>
        </p:sp>
      </p:grpSp>
      <p:sp>
        <p:nvSpPr>
          <p:cNvPr name="AutoShape 15" id="15"/>
          <p:cNvSpPr/>
          <p:nvPr/>
        </p:nvSpPr>
        <p:spPr>
          <a:xfrm>
            <a:off x="-417053" y="1167061"/>
            <a:ext cx="19109210" cy="0"/>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
        <p:nvSpPr>
          <p:cNvPr name="TextBox 16" id="16"/>
          <p:cNvSpPr txBox="true"/>
          <p:nvPr/>
        </p:nvSpPr>
        <p:spPr>
          <a:xfrm rot="0">
            <a:off x="1383454" y="471410"/>
            <a:ext cx="2385672" cy="382270"/>
          </a:xfrm>
          <a:prstGeom prst="rect">
            <a:avLst/>
          </a:prstGeom>
        </p:spPr>
        <p:txBody>
          <a:bodyPr anchor="t" rtlCol="false" tIns="0" lIns="0" bIns="0" rIns="0">
            <a:spAutoFit/>
          </a:bodyPr>
          <a:lstStyle/>
          <a:p>
            <a:pPr algn="l">
              <a:lnSpc>
                <a:spcPts val="3079"/>
              </a:lnSpc>
            </a:pPr>
            <a:r>
              <a:rPr lang="en-US" sz="2199" spc="-142">
                <a:solidFill>
                  <a:srgbClr val="FFFFFF"/>
                </a:solidFill>
                <a:latin typeface="TS Qamus"/>
                <a:ea typeface="TS Qamus"/>
                <a:cs typeface="TS Qamus"/>
                <a:sym typeface="TS Qamus"/>
              </a:rPr>
              <a:t>Salford &amp; Co.</a:t>
            </a:r>
          </a:p>
        </p:txBody>
      </p:sp>
      <p:sp>
        <p:nvSpPr>
          <p:cNvPr name="TextBox 17" id="17"/>
          <p:cNvSpPr txBox="true"/>
          <p:nvPr/>
        </p:nvSpPr>
        <p:spPr>
          <a:xfrm rot="0">
            <a:off x="14170902" y="477323"/>
            <a:ext cx="2228402" cy="325755"/>
          </a:xfrm>
          <a:prstGeom prst="rect">
            <a:avLst/>
          </a:prstGeom>
        </p:spPr>
        <p:txBody>
          <a:bodyPr anchor="t" rtlCol="false" tIns="0" lIns="0" bIns="0" rIns="0">
            <a:spAutoFit/>
          </a:bodyPr>
          <a:lstStyle/>
          <a:p>
            <a:pPr algn="ctr">
              <a:lnSpc>
                <a:spcPts val="2520"/>
              </a:lnSpc>
            </a:pPr>
            <a:r>
              <a:rPr lang="en-US" sz="1800" spc="-117">
                <a:solidFill>
                  <a:srgbClr val="FFFFFF"/>
                </a:solidFill>
                <a:latin typeface="Poppins"/>
                <a:ea typeface="Poppins"/>
                <a:cs typeface="Poppins"/>
                <a:sym typeface="Poppins"/>
              </a:rPr>
              <a:t>6 August, 2025</a:t>
            </a:r>
          </a:p>
        </p:txBody>
      </p:sp>
      <p:sp>
        <p:nvSpPr>
          <p:cNvPr name="TextBox 18" id="18"/>
          <p:cNvSpPr txBox="true"/>
          <p:nvPr/>
        </p:nvSpPr>
        <p:spPr>
          <a:xfrm rot="0">
            <a:off x="6740220" y="477323"/>
            <a:ext cx="2820551" cy="325755"/>
          </a:xfrm>
          <a:prstGeom prst="rect">
            <a:avLst/>
          </a:prstGeom>
        </p:spPr>
        <p:txBody>
          <a:bodyPr anchor="t" rtlCol="false" tIns="0" lIns="0" bIns="0" rIns="0">
            <a:spAutoFit/>
          </a:bodyPr>
          <a:lstStyle/>
          <a:p>
            <a:pPr algn="ctr">
              <a:lnSpc>
                <a:spcPts val="2520"/>
              </a:lnSpc>
            </a:pPr>
            <a:r>
              <a:rPr lang="en-US" sz="1800" spc="-117">
                <a:solidFill>
                  <a:srgbClr val="000000"/>
                </a:solidFill>
                <a:latin typeface="Poppins"/>
                <a:ea typeface="Poppins"/>
                <a:cs typeface="Poppins"/>
                <a:sym typeface="Poppins"/>
              </a:rPr>
              <a:t>Social</a:t>
            </a:r>
            <a:r>
              <a:rPr lang="en-US" sz="1800" spc="-117">
                <a:solidFill>
                  <a:srgbClr val="000000"/>
                </a:solidFill>
                <a:latin typeface="Poppins"/>
                <a:ea typeface="Poppins"/>
                <a:cs typeface="Poppins"/>
                <a:sym typeface="Poppins"/>
              </a:rPr>
              <a:t> Media Proposal</a:t>
            </a:r>
          </a:p>
        </p:txBody>
      </p:sp>
      <p:sp>
        <p:nvSpPr>
          <p:cNvPr name="TextBox 19" id="19"/>
          <p:cNvSpPr txBox="true"/>
          <p:nvPr/>
        </p:nvSpPr>
        <p:spPr>
          <a:xfrm rot="0">
            <a:off x="815264" y="1781424"/>
            <a:ext cx="11325590" cy="2282952"/>
          </a:xfrm>
          <a:prstGeom prst="rect">
            <a:avLst/>
          </a:prstGeom>
        </p:spPr>
        <p:txBody>
          <a:bodyPr anchor="t" rtlCol="false" tIns="0" lIns="0" bIns="0" rIns="0">
            <a:spAutoFit/>
          </a:bodyPr>
          <a:lstStyle/>
          <a:p>
            <a:pPr algn="l">
              <a:lnSpc>
                <a:spcPts val="8544"/>
              </a:lnSpc>
            </a:pPr>
            <a:r>
              <a:rPr lang="en-US" sz="9600" spc="-115" b="true">
                <a:solidFill>
                  <a:srgbClr val="FFFFFF"/>
                </a:solidFill>
                <a:latin typeface="Geometrica Sans Medium"/>
                <a:ea typeface="Geometrica Sans Medium"/>
                <a:cs typeface="Geometrica Sans Medium"/>
                <a:sym typeface="Geometrica Sans Medium"/>
              </a:rPr>
              <a:t>Explainable AI </a:t>
            </a:r>
          </a:p>
          <a:p>
            <a:pPr algn="l">
              <a:lnSpc>
                <a:spcPts val="8544"/>
              </a:lnSpc>
            </a:pPr>
            <a:r>
              <a:rPr lang="en-US" sz="9600" spc="-115" b="true">
                <a:solidFill>
                  <a:srgbClr val="FFFFFF"/>
                </a:solidFill>
                <a:latin typeface="Geometrica Sans Medium"/>
                <a:ea typeface="Geometrica Sans Medium"/>
                <a:cs typeface="Geometrica Sans Medium"/>
                <a:sym typeface="Geometrica Sans Medium"/>
              </a:rPr>
              <a:t>(XAI: SHAP &amp; DiCE)</a:t>
            </a:r>
          </a:p>
        </p:txBody>
      </p:sp>
      <p:sp>
        <p:nvSpPr>
          <p:cNvPr name="AutoShape 20" id="20"/>
          <p:cNvSpPr/>
          <p:nvPr/>
        </p:nvSpPr>
        <p:spPr>
          <a:xfrm flipV="true">
            <a:off x="477889" y="3436804"/>
            <a:ext cx="18693133" cy="0"/>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grpSp>
        <p:nvGrpSpPr>
          <p:cNvPr name="Group 21" id="21"/>
          <p:cNvGrpSpPr/>
          <p:nvPr/>
        </p:nvGrpSpPr>
        <p:grpSpPr>
          <a:xfrm rot="0">
            <a:off x="10376778" y="1505199"/>
            <a:ext cx="8794244" cy="4433984"/>
            <a:chOff x="0" y="0"/>
            <a:chExt cx="1362459" cy="686940"/>
          </a:xfrm>
        </p:grpSpPr>
        <p:sp>
          <p:nvSpPr>
            <p:cNvPr name="Freeform 22" id="22"/>
            <p:cNvSpPr/>
            <p:nvPr/>
          </p:nvSpPr>
          <p:spPr>
            <a:xfrm flipH="false" flipV="false" rot="0">
              <a:off x="0" y="0"/>
              <a:ext cx="1362459" cy="686940"/>
            </a:xfrm>
            <a:custGeom>
              <a:avLst/>
              <a:gdLst/>
              <a:ahLst/>
              <a:cxnLst/>
              <a:rect r="r" b="b" t="t" l="l"/>
              <a:pathLst>
                <a:path h="686940" w="1362459">
                  <a:moveTo>
                    <a:pt x="35214" y="0"/>
                  </a:moveTo>
                  <a:lnTo>
                    <a:pt x="1327245" y="0"/>
                  </a:lnTo>
                  <a:cubicBezTo>
                    <a:pt x="1336584" y="0"/>
                    <a:pt x="1345541" y="3710"/>
                    <a:pt x="1352145" y="10314"/>
                  </a:cubicBezTo>
                  <a:cubicBezTo>
                    <a:pt x="1358749" y="16918"/>
                    <a:pt x="1362459" y="25874"/>
                    <a:pt x="1362459" y="35214"/>
                  </a:cubicBezTo>
                  <a:lnTo>
                    <a:pt x="1362459" y="651726"/>
                  </a:lnTo>
                  <a:cubicBezTo>
                    <a:pt x="1362459" y="661066"/>
                    <a:pt x="1358749" y="670022"/>
                    <a:pt x="1352145" y="676626"/>
                  </a:cubicBezTo>
                  <a:cubicBezTo>
                    <a:pt x="1345541" y="683230"/>
                    <a:pt x="1336584" y="686940"/>
                    <a:pt x="1327245" y="686940"/>
                  </a:cubicBezTo>
                  <a:lnTo>
                    <a:pt x="35214" y="686940"/>
                  </a:lnTo>
                  <a:cubicBezTo>
                    <a:pt x="25874" y="686940"/>
                    <a:pt x="16918" y="683230"/>
                    <a:pt x="10314" y="676626"/>
                  </a:cubicBezTo>
                  <a:cubicBezTo>
                    <a:pt x="3710" y="670022"/>
                    <a:pt x="0" y="661066"/>
                    <a:pt x="0" y="651726"/>
                  </a:cubicBezTo>
                  <a:lnTo>
                    <a:pt x="0" y="35214"/>
                  </a:lnTo>
                  <a:cubicBezTo>
                    <a:pt x="0" y="25874"/>
                    <a:pt x="3710" y="16918"/>
                    <a:pt x="10314" y="10314"/>
                  </a:cubicBezTo>
                  <a:cubicBezTo>
                    <a:pt x="16918" y="3710"/>
                    <a:pt x="25874" y="0"/>
                    <a:pt x="35214" y="0"/>
                  </a:cubicBezTo>
                  <a:close/>
                </a:path>
              </a:pathLst>
            </a:custGeom>
            <a:blipFill>
              <a:blip r:embed="rId5"/>
              <a:stretch>
                <a:fillRect l="0" t="-16172" r="0" b="-16172"/>
              </a:stretch>
            </a:blipFill>
            <a:ln w="19050"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grpSp>
        <p:nvGrpSpPr>
          <p:cNvPr name="Group 23" id="23"/>
          <p:cNvGrpSpPr/>
          <p:nvPr/>
        </p:nvGrpSpPr>
        <p:grpSpPr>
          <a:xfrm rot="0">
            <a:off x="1643271" y="5060088"/>
            <a:ext cx="7500729" cy="4114800"/>
            <a:chOff x="0" y="0"/>
            <a:chExt cx="1975501" cy="1083733"/>
          </a:xfrm>
        </p:grpSpPr>
        <p:sp>
          <p:nvSpPr>
            <p:cNvPr name="Freeform 24" id="24"/>
            <p:cNvSpPr/>
            <p:nvPr/>
          </p:nvSpPr>
          <p:spPr>
            <a:xfrm flipH="false" flipV="false" rot="0">
              <a:off x="0" y="0"/>
              <a:ext cx="1975501" cy="1083733"/>
            </a:xfrm>
            <a:custGeom>
              <a:avLst/>
              <a:gdLst/>
              <a:ahLst/>
              <a:cxnLst/>
              <a:rect r="r" b="b" t="t" l="l"/>
              <a:pathLst>
                <a:path h="1083733" w="1975501">
                  <a:moveTo>
                    <a:pt x="41286" y="0"/>
                  </a:moveTo>
                  <a:lnTo>
                    <a:pt x="1934214" y="0"/>
                  </a:lnTo>
                  <a:cubicBezTo>
                    <a:pt x="1957016" y="0"/>
                    <a:pt x="1975501" y="18484"/>
                    <a:pt x="1975501" y="41286"/>
                  </a:cubicBezTo>
                  <a:lnTo>
                    <a:pt x="1975501" y="1042447"/>
                  </a:lnTo>
                  <a:cubicBezTo>
                    <a:pt x="1975501" y="1053397"/>
                    <a:pt x="1971151" y="1063898"/>
                    <a:pt x="1963408" y="1071641"/>
                  </a:cubicBezTo>
                  <a:cubicBezTo>
                    <a:pt x="1955666" y="1079384"/>
                    <a:pt x="1945164" y="1083733"/>
                    <a:pt x="1934214" y="1083733"/>
                  </a:cubicBezTo>
                  <a:lnTo>
                    <a:pt x="41286" y="1083733"/>
                  </a:lnTo>
                  <a:cubicBezTo>
                    <a:pt x="30336" y="1083733"/>
                    <a:pt x="19835" y="1079384"/>
                    <a:pt x="12092" y="1071641"/>
                  </a:cubicBezTo>
                  <a:cubicBezTo>
                    <a:pt x="4350" y="1063898"/>
                    <a:pt x="0" y="1053397"/>
                    <a:pt x="0" y="1042447"/>
                  </a:cubicBezTo>
                  <a:lnTo>
                    <a:pt x="0" y="41286"/>
                  </a:lnTo>
                  <a:cubicBezTo>
                    <a:pt x="0" y="30336"/>
                    <a:pt x="4350" y="19835"/>
                    <a:pt x="12092" y="12092"/>
                  </a:cubicBezTo>
                  <a:cubicBezTo>
                    <a:pt x="19835" y="4350"/>
                    <a:pt x="30336" y="0"/>
                    <a:pt x="41286" y="0"/>
                  </a:cubicBezTo>
                  <a:close/>
                </a:path>
              </a:pathLst>
            </a:custGeom>
            <a:solidFill>
              <a:srgbClr val="FFFFFF"/>
            </a:solid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25" id="25"/>
            <p:cNvSpPr txBox="true"/>
            <p:nvPr/>
          </p:nvSpPr>
          <p:spPr>
            <a:xfrm>
              <a:off x="0" y="-47625"/>
              <a:ext cx="1975501" cy="1131358"/>
            </a:xfrm>
            <a:prstGeom prst="rect">
              <a:avLst/>
            </a:prstGeom>
          </p:spPr>
          <p:txBody>
            <a:bodyPr anchor="ctr" rtlCol="false" tIns="50800" lIns="50800" bIns="50800" rIns="50800"/>
            <a:lstStyle/>
            <a:p>
              <a:pPr algn="ctr">
                <a:lnSpc>
                  <a:spcPts val="3359"/>
                </a:lnSpc>
              </a:pPr>
            </a:p>
          </p:txBody>
        </p:sp>
      </p:grpSp>
      <p:grpSp>
        <p:nvGrpSpPr>
          <p:cNvPr name="Group 26" id="26"/>
          <p:cNvGrpSpPr/>
          <p:nvPr/>
        </p:nvGrpSpPr>
        <p:grpSpPr>
          <a:xfrm rot="0">
            <a:off x="10038640" y="5143500"/>
            <a:ext cx="7545691" cy="4114800"/>
            <a:chOff x="0" y="0"/>
            <a:chExt cx="1987343" cy="1083733"/>
          </a:xfrm>
        </p:grpSpPr>
        <p:sp>
          <p:nvSpPr>
            <p:cNvPr name="Freeform 27" id="27"/>
            <p:cNvSpPr/>
            <p:nvPr/>
          </p:nvSpPr>
          <p:spPr>
            <a:xfrm flipH="false" flipV="false" rot="0">
              <a:off x="0" y="0"/>
              <a:ext cx="1987342" cy="1083733"/>
            </a:xfrm>
            <a:custGeom>
              <a:avLst/>
              <a:gdLst/>
              <a:ahLst/>
              <a:cxnLst/>
              <a:rect r="r" b="b" t="t" l="l"/>
              <a:pathLst>
                <a:path h="1083733" w="1987342">
                  <a:moveTo>
                    <a:pt x="41040" y="0"/>
                  </a:moveTo>
                  <a:lnTo>
                    <a:pt x="1946302" y="0"/>
                  </a:lnTo>
                  <a:cubicBezTo>
                    <a:pt x="1957187" y="0"/>
                    <a:pt x="1967625" y="4324"/>
                    <a:pt x="1975322" y="12020"/>
                  </a:cubicBezTo>
                  <a:cubicBezTo>
                    <a:pt x="1983018" y="19717"/>
                    <a:pt x="1987342" y="30156"/>
                    <a:pt x="1987342" y="41040"/>
                  </a:cubicBezTo>
                  <a:lnTo>
                    <a:pt x="1987342" y="1042693"/>
                  </a:lnTo>
                  <a:cubicBezTo>
                    <a:pt x="1987342" y="1053578"/>
                    <a:pt x="1983018" y="1064016"/>
                    <a:pt x="1975322" y="1071713"/>
                  </a:cubicBezTo>
                  <a:cubicBezTo>
                    <a:pt x="1967625" y="1079410"/>
                    <a:pt x="1957187" y="1083733"/>
                    <a:pt x="1946302" y="1083733"/>
                  </a:cubicBezTo>
                  <a:lnTo>
                    <a:pt x="41040" y="1083733"/>
                  </a:lnTo>
                  <a:cubicBezTo>
                    <a:pt x="18374" y="1083733"/>
                    <a:pt x="0" y="1065359"/>
                    <a:pt x="0" y="1042693"/>
                  </a:cubicBezTo>
                  <a:lnTo>
                    <a:pt x="0" y="41040"/>
                  </a:lnTo>
                  <a:cubicBezTo>
                    <a:pt x="0" y="30156"/>
                    <a:pt x="4324" y="19717"/>
                    <a:pt x="12020" y="12020"/>
                  </a:cubicBezTo>
                  <a:cubicBezTo>
                    <a:pt x="19717" y="4324"/>
                    <a:pt x="30156" y="0"/>
                    <a:pt x="41040" y="0"/>
                  </a:cubicBezTo>
                  <a:close/>
                </a:path>
              </a:pathLst>
            </a:custGeom>
            <a:gradFill rotWithShape="true">
              <a:gsLst>
                <a:gs pos="0">
                  <a:srgbClr val="292929">
                    <a:alpha val="100000"/>
                  </a:srgbClr>
                </a:gs>
                <a:gs pos="100000">
                  <a:srgbClr val="3F4E52">
                    <a:alpha val="100000"/>
                  </a:srgbClr>
                </a:gs>
              </a:gsLst>
              <a:lin ang="0"/>
            </a:grad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28" id="28"/>
            <p:cNvSpPr txBox="true"/>
            <p:nvPr/>
          </p:nvSpPr>
          <p:spPr>
            <a:xfrm>
              <a:off x="0" y="-47625"/>
              <a:ext cx="1987343" cy="1131358"/>
            </a:xfrm>
            <a:prstGeom prst="rect">
              <a:avLst/>
            </a:prstGeom>
          </p:spPr>
          <p:txBody>
            <a:bodyPr anchor="ctr" rtlCol="false" tIns="50800" lIns="50800" bIns="50800" rIns="50800"/>
            <a:lstStyle/>
            <a:p>
              <a:pPr algn="ctr">
                <a:lnSpc>
                  <a:spcPts val="3359"/>
                </a:lnSpc>
              </a:pPr>
            </a:p>
          </p:txBody>
        </p:sp>
      </p:grpSp>
      <p:sp>
        <p:nvSpPr>
          <p:cNvPr name="AutoShape 29" id="29"/>
          <p:cNvSpPr/>
          <p:nvPr/>
        </p:nvSpPr>
        <p:spPr>
          <a:xfrm>
            <a:off x="6223588" y="-468675"/>
            <a:ext cx="0" cy="1635737"/>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
        <p:nvSpPr>
          <p:cNvPr name="TextBox 30" id="30"/>
          <p:cNvSpPr txBox="true"/>
          <p:nvPr/>
        </p:nvSpPr>
        <p:spPr>
          <a:xfrm rot="0">
            <a:off x="2056545" y="5370262"/>
            <a:ext cx="6793480" cy="1261110"/>
          </a:xfrm>
          <a:prstGeom prst="rect">
            <a:avLst/>
          </a:prstGeom>
        </p:spPr>
        <p:txBody>
          <a:bodyPr anchor="t" rtlCol="false" tIns="0" lIns="0" bIns="0" rIns="0">
            <a:spAutoFit/>
          </a:bodyPr>
          <a:lstStyle/>
          <a:p>
            <a:pPr algn="l">
              <a:lnSpc>
                <a:spcPts val="5039"/>
              </a:lnSpc>
            </a:pPr>
            <a:r>
              <a:rPr lang="en-US" sz="3599" spc="-233">
                <a:solidFill>
                  <a:srgbClr val="000000"/>
                </a:solidFill>
                <a:latin typeface="TS Qamus"/>
                <a:ea typeface="TS Qamus"/>
                <a:cs typeface="TS Qamus"/>
                <a:sym typeface="TS Qamus"/>
              </a:rPr>
              <a:t>SHAP </a:t>
            </a:r>
          </a:p>
          <a:p>
            <a:pPr algn="l">
              <a:lnSpc>
                <a:spcPts val="5039"/>
              </a:lnSpc>
            </a:pPr>
            <a:r>
              <a:rPr lang="en-US" sz="3599" spc="-233">
                <a:solidFill>
                  <a:srgbClr val="000000"/>
                </a:solidFill>
                <a:latin typeface="TS Qamus"/>
                <a:ea typeface="TS Qamus"/>
                <a:cs typeface="TS Qamus"/>
                <a:sym typeface="TS Qamus"/>
              </a:rPr>
              <a:t>(Shapley Additive exPlanations)</a:t>
            </a:r>
          </a:p>
        </p:txBody>
      </p:sp>
      <p:sp>
        <p:nvSpPr>
          <p:cNvPr name="TextBox 31" id="31"/>
          <p:cNvSpPr txBox="true"/>
          <p:nvPr/>
        </p:nvSpPr>
        <p:spPr>
          <a:xfrm rot="0">
            <a:off x="10753442" y="5370262"/>
            <a:ext cx="6340672" cy="1261110"/>
          </a:xfrm>
          <a:prstGeom prst="rect">
            <a:avLst/>
          </a:prstGeom>
        </p:spPr>
        <p:txBody>
          <a:bodyPr anchor="t" rtlCol="false" tIns="0" lIns="0" bIns="0" rIns="0">
            <a:spAutoFit/>
          </a:bodyPr>
          <a:lstStyle/>
          <a:p>
            <a:pPr algn="l">
              <a:lnSpc>
                <a:spcPts val="5039"/>
              </a:lnSpc>
            </a:pPr>
            <a:r>
              <a:rPr lang="en-US" sz="3599" spc="-233">
                <a:solidFill>
                  <a:srgbClr val="FFFFFF"/>
                </a:solidFill>
                <a:latin typeface="TS Qamus"/>
                <a:ea typeface="TS Qamus"/>
                <a:cs typeface="TS Qamus"/>
                <a:sym typeface="TS Qamus"/>
              </a:rPr>
              <a:t>DiCE (Diverse Counterfactual Explanations)</a:t>
            </a:r>
          </a:p>
        </p:txBody>
      </p:sp>
      <p:sp>
        <p:nvSpPr>
          <p:cNvPr name="TextBox 32" id="32"/>
          <p:cNvSpPr txBox="true"/>
          <p:nvPr/>
        </p:nvSpPr>
        <p:spPr>
          <a:xfrm rot="0">
            <a:off x="2056545" y="6888547"/>
            <a:ext cx="6588337" cy="1885061"/>
          </a:xfrm>
          <a:prstGeom prst="rect">
            <a:avLst/>
          </a:prstGeom>
        </p:spPr>
        <p:txBody>
          <a:bodyPr anchor="t" rtlCol="false" tIns="0" lIns="0" bIns="0" rIns="0">
            <a:spAutoFit/>
          </a:bodyPr>
          <a:lstStyle/>
          <a:p>
            <a:pPr algn="just">
              <a:lnSpc>
                <a:spcPts val="3711"/>
              </a:lnSpc>
            </a:pPr>
            <a:r>
              <a:rPr lang="en-US" sz="2899" i="true" spc="-86">
                <a:solidFill>
                  <a:srgbClr val="4D4D4D"/>
                </a:solidFill>
                <a:latin typeface="Poppins Italics"/>
                <a:ea typeface="Poppins Italics"/>
                <a:cs typeface="Poppins Italics"/>
                <a:sym typeface="Poppins Italics"/>
              </a:rPr>
              <a:t>Menghitung nilai kontribusi marginal (positif/negatif) dari setiap mata kuliah dan sertifikat terhadap skor kecocokan.</a:t>
            </a:r>
          </a:p>
        </p:txBody>
      </p:sp>
      <p:sp>
        <p:nvSpPr>
          <p:cNvPr name="TextBox 33" id="33"/>
          <p:cNvSpPr txBox="true"/>
          <p:nvPr/>
        </p:nvSpPr>
        <p:spPr>
          <a:xfrm rot="0">
            <a:off x="10816001" y="6591048"/>
            <a:ext cx="6091858" cy="2818511"/>
          </a:xfrm>
          <a:prstGeom prst="rect">
            <a:avLst/>
          </a:prstGeom>
        </p:spPr>
        <p:txBody>
          <a:bodyPr anchor="t" rtlCol="false" tIns="0" lIns="0" bIns="0" rIns="0">
            <a:spAutoFit/>
          </a:bodyPr>
          <a:lstStyle/>
          <a:p>
            <a:pPr algn="just">
              <a:lnSpc>
                <a:spcPts val="3712"/>
              </a:lnSpc>
            </a:pPr>
            <a:r>
              <a:rPr lang="en-US" sz="2900" i="true" spc="-87">
                <a:solidFill>
                  <a:srgbClr val="C6C6C6"/>
                </a:solidFill>
                <a:latin typeface="Poppins Italics"/>
                <a:ea typeface="Poppins Italics"/>
                <a:cs typeface="Poppins Italics"/>
                <a:sym typeface="Poppins Italics"/>
              </a:rPr>
              <a:t>Menghasilkan skenario alternatif: "Perubahan minimal apa pada portofolio mahasiswa yang diperlukan agar lolos kualifikasi pekerjaan impian?"</a:t>
            </a:r>
          </a:p>
          <a:p>
            <a:pPr algn="just">
              <a:lnSpc>
                <a:spcPts val="3712"/>
              </a:lnSpc>
            </a:pPr>
          </a:p>
        </p:txBody>
      </p:sp>
      <p:sp>
        <p:nvSpPr>
          <p:cNvPr name="AutoShape 34" id="34"/>
          <p:cNvSpPr/>
          <p:nvPr/>
        </p:nvSpPr>
        <p:spPr>
          <a:xfrm>
            <a:off x="490484" y="9780309"/>
            <a:ext cx="18539715" cy="0"/>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1777" r="0" b="-1777"/>
            </a:stretch>
          </a:blipFill>
        </p:spPr>
      </p:sp>
      <p:sp>
        <p:nvSpPr>
          <p:cNvPr name="AutoShape 3" id="3"/>
          <p:cNvSpPr/>
          <p:nvPr/>
        </p:nvSpPr>
        <p:spPr>
          <a:xfrm>
            <a:off x="10038640" y="-468675"/>
            <a:ext cx="0" cy="11118486"/>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
        <p:nvSpPr>
          <p:cNvPr name="AutoShape 4" id="4"/>
          <p:cNvSpPr/>
          <p:nvPr/>
        </p:nvSpPr>
        <p:spPr>
          <a:xfrm>
            <a:off x="477889" y="-448043"/>
            <a:ext cx="0" cy="11118486"/>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grpSp>
        <p:nvGrpSpPr>
          <p:cNvPr name="Group 5" id="5"/>
          <p:cNvGrpSpPr/>
          <p:nvPr/>
        </p:nvGrpSpPr>
        <p:grpSpPr>
          <a:xfrm rot="0">
            <a:off x="16845300" y="391766"/>
            <a:ext cx="635507" cy="554019"/>
            <a:chOff x="0" y="0"/>
            <a:chExt cx="167376" cy="145915"/>
          </a:xfrm>
        </p:grpSpPr>
        <p:sp>
          <p:nvSpPr>
            <p:cNvPr name="Freeform 6" id="6"/>
            <p:cNvSpPr/>
            <p:nvPr/>
          </p:nvSpPr>
          <p:spPr>
            <a:xfrm flipH="false" flipV="false" rot="0">
              <a:off x="0" y="0"/>
              <a:ext cx="167376" cy="145915"/>
            </a:xfrm>
            <a:custGeom>
              <a:avLst/>
              <a:gdLst/>
              <a:ahLst/>
              <a:cxnLst/>
              <a:rect r="r" b="b" t="t" l="l"/>
              <a:pathLst>
                <a:path h="145915" w="167376">
                  <a:moveTo>
                    <a:pt x="72957" y="0"/>
                  </a:moveTo>
                  <a:lnTo>
                    <a:pt x="94419" y="0"/>
                  </a:lnTo>
                  <a:cubicBezTo>
                    <a:pt x="134712" y="0"/>
                    <a:pt x="167376" y="32664"/>
                    <a:pt x="167376" y="72957"/>
                  </a:cubicBezTo>
                  <a:lnTo>
                    <a:pt x="167376" y="72957"/>
                  </a:lnTo>
                  <a:cubicBezTo>
                    <a:pt x="167376" y="113250"/>
                    <a:pt x="134712" y="145915"/>
                    <a:pt x="94419" y="145915"/>
                  </a:cubicBezTo>
                  <a:lnTo>
                    <a:pt x="72957" y="145915"/>
                  </a:lnTo>
                  <a:cubicBezTo>
                    <a:pt x="32664" y="145915"/>
                    <a:pt x="0" y="113250"/>
                    <a:pt x="0" y="72957"/>
                  </a:cubicBezTo>
                  <a:lnTo>
                    <a:pt x="0" y="72957"/>
                  </a:lnTo>
                  <a:cubicBezTo>
                    <a:pt x="0" y="32664"/>
                    <a:pt x="32664" y="0"/>
                    <a:pt x="72957" y="0"/>
                  </a:cubicBezTo>
                  <a:close/>
                </a:path>
              </a:pathLst>
            </a:custGeom>
            <a:gradFill rotWithShape="true">
              <a:gsLst>
                <a:gs pos="0">
                  <a:srgbClr val="9B9B9B">
                    <a:alpha val="28000"/>
                  </a:srgbClr>
                </a:gs>
                <a:gs pos="25000">
                  <a:srgbClr val="FFFFFF">
                    <a:alpha val="29000"/>
                  </a:srgbClr>
                </a:gs>
                <a:gs pos="50000">
                  <a:srgbClr val="FFFFFF">
                    <a:alpha val="44500"/>
                  </a:srgbClr>
                </a:gs>
                <a:gs pos="75000">
                  <a:srgbClr val="FFFFFF">
                    <a:alpha val="29000"/>
                  </a:srgbClr>
                </a:gs>
                <a:gs pos="100000">
                  <a:srgbClr val="9B9B9B">
                    <a:alpha val="28000"/>
                  </a:srgbClr>
                </a:gs>
              </a:gsLst>
              <a:lin ang="2700000"/>
            </a:grad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7" id="7"/>
            <p:cNvSpPr txBox="true"/>
            <p:nvPr/>
          </p:nvSpPr>
          <p:spPr>
            <a:xfrm>
              <a:off x="0" y="-47625"/>
              <a:ext cx="167376" cy="193540"/>
            </a:xfrm>
            <a:prstGeom prst="rect">
              <a:avLst/>
            </a:prstGeom>
          </p:spPr>
          <p:txBody>
            <a:bodyPr anchor="ctr" rtlCol="false" tIns="50800" lIns="50800" bIns="50800" rIns="50800"/>
            <a:lstStyle/>
            <a:p>
              <a:pPr algn="ctr">
                <a:lnSpc>
                  <a:spcPts val="3359"/>
                </a:lnSpc>
              </a:pPr>
            </a:p>
          </p:txBody>
        </p:sp>
      </p:grpSp>
      <p:grpSp>
        <p:nvGrpSpPr>
          <p:cNvPr name="Group 8" id="8"/>
          <p:cNvGrpSpPr/>
          <p:nvPr/>
        </p:nvGrpSpPr>
        <p:grpSpPr>
          <a:xfrm rot="0">
            <a:off x="13913154" y="391766"/>
            <a:ext cx="2743897" cy="554019"/>
            <a:chOff x="0" y="0"/>
            <a:chExt cx="722672" cy="145915"/>
          </a:xfrm>
        </p:grpSpPr>
        <p:sp>
          <p:nvSpPr>
            <p:cNvPr name="Freeform 9" id="9"/>
            <p:cNvSpPr/>
            <p:nvPr/>
          </p:nvSpPr>
          <p:spPr>
            <a:xfrm flipH="false" flipV="false" rot="0">
              <a:off x="0" y="0"/>
              <a:ext cx="722672" cy="145915"/>
            </a:xfrm>
            <a:custGeom>
              <a:avLst/>
              <a:gdLst/>
              <a:ahLst/>
              <a:cxnLst/>
              <a:rect r="r" b="b" t="t" l="l"/>
              <a:pathLst>
                <a:path h="145915" w="722672">
                  <a:moveTo>
                    <a:pt x="72957" y="0"/>
                  </a:moveTo>
                  <a:lnTo>
                    <a:pt x="649715" y="0"/>
                  </a:lnTo>
                  <a:cubicBezTo>
                    <a:pt x="690008" y="0"/>
                    <a:pt x="722672" y="32664"/>
                    <a:pt x="722672" y="72957"/>
                  </a:cubicBezTo>
                  <a:lnTo>
                    <a:pt x="722672" y="72957"/>
                  </a:lnTo>
                  <a:cubicBezTo>
                    <a:pt x="722672" y="113250"/>
                    <a:pt x="690008" y="145915"/>
                    <a:pt x="649715" y="145915"/>
                  </a:cubicBezTo>
                  <a:lnTo>
                    <a:pt x="72957" y="145915"/>
                  </a:lnTo>
                  <a:cubicBezTo>
                    <a:pt x="32664" y="145915"/>
                    <a:pt x="0" y="113250"/>
                    <a:pt x="0" y="72957"/>
                  </a:cubicBezTo>
                  <a:lnTo>
                    <a:pt x="0" y="72957"/>
                  </a:lnTo>
                  <a:cubicBezTo>
                    <a:pt x="0" y="32664"/>
                    <a:pt x="32664" y="0"/>
                    <a:pt x="72957" y="0"/>
                  </a:cubicBezTo>
                  <a:close/>
                </a:path>
              </a:pathLst>
            </a:custGeom>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10" id="10"/>
            <p:cNvSpPr txBox="true"/>
            <p:nvPr/>
          </p:nvSpPr>
          <p:spPr>
            <a:xfrm>
              <a:off x="0" y="-47625"/>
              <a:ext cx="722672" cy="193540"/>
            </a:xfrm>
            <a:prstGeom prst="rect">
              <a:avLst/>
            </a:prstGeom>
          </p:spPr>
          <p:txBody>
            <a:bodyPr anchor="ctr" rtlCol="false" tIns="50800" lIns="50800" bIns="50800" rIns="50800"/>
            <a:lstStyle/>
            <a:p>
              <a:pPr algn="ctr">
                <a:lnSpc>
                  <a:spcPts val="3359"/>
                </a:lnSpc>
              </a:pPr>
            </a:p>
          </p:txBody>
        </p:sp>
      </p:grpSp>
      <p:sp>
        <p:nvSpPr>
          <p:cNvPr name="AutoShape 11" id="11"/>
          <p:cNvSpPr/>
          <p:nvPr/>
        </p:nvSpPr>
        <p:spPr>
          <a:xfrm>
            <a:off x="477889" y="3841062"/>
            <a:ext cx="18214268" cy="0"/>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
        <p:nvSpPr>
          <p:cNvPr name="AutoShape 12" id="12"/>
          <p:cNvSpPr/>
          <p:nvPr/>
        </p:nvSpPr>
        <p:spPr>
          <a:xfrm>
            <a:off x="-417053" y="1167061"/>
            <a:ext cx="19109210" cy="0"/>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
        <p:nvSpPr>
          <p:cNvPr name="TextBox 13" id="13"/>
          <p:cNvSpPr txBox="true"/>
          <p:nvPr/>
        </p:nvSpPr>
        <p:spPr>
          <a:xfrm rot="0">
            <a:off x="14170902" y="477323"/>
            <a:ext cx="2228402" cy="325755"/>
          </a:xfrm>
          <a:prstGeom prst="rect">
            <a:avLst/>
          </a:prstGeom>
        </p:spPr>
        <p:txBody>
          <a:bodyPr anchor="t" rtlCol="false" tIns="0" lIns="0" bIns="0" rIns="0">
            <a:spAutoFit/>
          </a:bodyPr>
          <a:lstStyle/>
          <a:p>
            <a:pPr algn="ctr">
              <a:lnSpc>
                <a:spcPts val="2520"/>
              </a:lnSpc>
            </a:pPr>
            <a:r>
              <a:rPr lang="en-US" sz="1800" spc="-117">
                <a:solidFill>
                  <a:srgbClr val="FFFFFF"/>
                </a:solidFill>
                <a:latin typeface="Poppins"/>
                <a:ea typeface="Poppins"/>
                <a:cs typeface="Poppins"/>
                <a:sym typeface="Poppins"/>
              </a:rPr>
              <a:t>6 August, 2025</a:t>
            </a:r>
          </a:p>
        </p:txBody>
      </p:sp>
      <p:sp>
        <p:nvSpPr>
          <p:cNvPr name="TextBox 14" id="14"/>
          <p:cNvSpPr txBox="true"/>
          <p:nvPr/>
        </p:nvSpPr>
        <p:spPr>
          <a:xfrm rot="0">
            <a:off x="477889" y="995611"/>
            <a:ext cx="13834084" cy="1387474"/>
          </a:xfrm>
          <a:prstGeom prst="rect">
            <a:avLst/>
          </a:prstGeom>
        </p:spPr>
        <p:txBody>
          <a:bodyPr anchor="t" rtlCol="false" tIns="0" lIns="0" bIns="0" rIns="0">
            <a:spAutoFit/>
          </a:bodyPr>
          <a:lstStyle/>
          <a:p>
            <a:pPr algn="l">
              <a:lnSpc>
                <a:spcPts val="11200"/>
              </a:lnSpc>
            </a:pPr>
            <a:r>
              <a:rPr lang="en-US" sz="8000" spc="-96" b="true">
                <a:solidFill>
                  <a:srgbClr val="FFFFFF"/>
                </a:solidFill>
                <a:latin typeface="Geometrica Sans Medium"/>
                <a:ea typeface="Geometrica Sans Medium"/>
                <a:cs typeface="Geometrica Sans Medium"/>
                <a:sym typeface="Geometrica Sans Medium"/>
              </a:rPr>
              <a:t>Tahapan</a:t>
            </a:r>
          </a:p>
        </p:txBody>
      </p:sp>
      <p:sp>
        <p:nvSpPr>
          <p:cNvPr name="AutoShape 15" id="15"/>
          <p:cNvSpPr/>
          <p:nvPr/>
        </p:nvSpPr>
        <p:spPr>
          <a:xfrm>
            <a:off x="6223588" y="-468675"/>
            <a:ext cx="0" cy="1635737"/>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grpSp>
        <p:nvGrpSpPr>
          <p:cNvPr name="Group 16" id="16"/>
          <p:cNvGrpSpPr/>
          <p:nvPr/>
        </p:nvGrpSpPr>
        <p:grpSpPr>
          <a:xfrm rot="0">
            <a:off x="4138372" y="2631226"/>
            <a:ext cx="3227224" cy="1064523"/>
            <a:chOff x="0" y="0"/>
            <a:chExt cx="1857643" cy="612757"/>
          </a:xfrm>
        </p:grpSpPr>
        <p:sp>
          <p:nvSpPr>
            <p:cNvPr name="Freeform 17" id="17"/>
            <p:cNvSpPr/>
            <p:nvPr/>
          </p:nvSpPr>
          <p:spPr>
            <a:xfrm flipH="false" flipV="false" rot="0">
              <a:off x="0" y="0"/>
              <a:ext cx="1857643" cy="612757"/>
            </a:xfrm>
            <a:custGeom>
              <a:avLst/>
              <a:gdLst/>
              <a:ahLst/>
              <a:cxnLst/>
              <a:rect r="r" b="b" t="t" l="l"/>
              <a:pathLst>
                <a:path h="612757" w="1857643">
                  <a:moveTo>
                    <a:pt x="67170" y="0"/>
                  </a:moveTo>
                  <a:lnTo>
                    <a:pt x="1790473" y="0"/>
                  </a:lnTo>
                  <a:cubicBezTo>
                    <a:pt x="1827570" y="0"/>
                    <a:pt x="1857643" y="30073"/>
                    <a:pt x="1857643" y="67170"/>
                  </a:cubicBezTo>
                  <a:lnTo>
                    <a:pt x="1857643" y="545587"/>
                  </a:lnTo>
                  <a:cubicBezTo>
                    <a:pt x="1857643" y="582684"/>
                    <a:pt x="1827570" y="612757"/>
                    <a:pt x="1790473" y="612757"/>
                  </a:cubicBezTo>
                  <a:lnTo>
                    <a:pt x="67170" y="612757"/>
                  </a:lnTo>
                  <a:cubicBezTo>
                    <a:pt x="30073" y="612757"/>
                    <a:pt x="0" y="582684"/>
                    <a:pt x="0" y="545587"/>
                  </a:cubicBezTo>
                  <a:lnTo>
                    <a:pt x="0" y="67170"/>
                  </a:lnTo>
                  <a:cubicBezTo>
                    <a:pt x="0" y="30073"/>
                    <a:pt x="30073" y="0"/>
                    <a:pt x="67170" y="0"/>
                  </a:cubicBezTo>
                  <a:close/>
                </a:path>
              </a:pathLst>
            </a:custGeom>
            <a:solidFill>
              <a:srgbClr val="FFFFFF"/>
            </a:solid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18" id="18"/>
            <p:cNvSpPr txBox="true"/>
            <p:nvPr/>
          </p:nvSpPr>
          <p:spPr>
            <a:xfrm>
              <a:off x="0" y="-47625"/>
              <a:ext cx="1857643" cy="660382"/>
            </a:xfrm>
            <a:prstGeom prst="rect">
              <a:avLst/>
            </a:prstGeom>
          </p:spPr>
          <p:txBody>
            <a:bodyPr anchor="ctr" rtlCol="false" tIns="35736" lIns="35736" bIns="35736" rIns="35736"/>
            <a:lstStyle/>
            <a:p>
              <a:pPr algn="ctr">
                <a:lnSpc>
                  <a:spcPts val="2363"/>
                </a:lnSpc>
              </a:pPr>
            </a:p>
          </p:txBody>
        </p:sp>
      </p:grpSp>
      <p:grpSp>
        <p:nvGrpSpPr>
          <p:cNvPr name="Group 19" id="19"/>
          <p:cNvGrpSpPr/>
          <p:nvPr/>
        </p:nvGrpSpPr>
        <p:grpSpPr>
          <a:xfrm rot="0">
            <a:off x="559390" y="2628680"/>
            <a:ext cx="3227224" cy="1098131"/>
            <a:chOff x="0" y="0"/>
            <a:chExt cx="1857643" cy="632103"/>
          </a:xfrm>
        </p:grpSpPr>
        <p:sp>
          <p:nvSpPr>
            <p:cNvPr name="Freeform 20" id="20"/>
            <p:cNvSpPr/>
            <p:nvPr/>
          </p:nvSpPr>
          <p:spPr>
            <a:xfrm flipH="false" flipV="false" rot="0">
              <a:off x="0" y="0"/>
              <a:ext cx="1857643" cy="632103"/>
            </a:xfrm>
            <a:custGeom>
              <a:avLst/>
              <a:gdLst/>
              <a:ahLst/>
              <a:cxnLst/>
              <a:rect r="r" b="b" t="t" l="l"/>
              <a:pathLst>
                <a:path h="632103" w="1857643">
                  <a:moveTo>
                    <a:pt x="67170" y="0"/>
                  </a:moveTo>
                  <a:lnTo>
                    <a:pt x="1790473" y="0"/>
                  </a:lnTo>
                  <a:cubicBezTo>
                    <a:pt x="1827570" y="0"/>
                    <a:pt x="1857643" y="30073"/>
                    <a:pt x="1857643" y="67170"/>
                  </a:cubicBezTo>
                  <a:lnTo>
                    <a:pt x="1857643" y="564932"/>
                  </a:lnTo>
                  <a:cubicBezTo>
                    <a:pt x="1857643" y="602029"/>
                    <a:pt x="1827570" y="632103"/>
                    <a:pt x="1790473" y="632103"/>
                  </a:cubicBezTo>
                  <a:lnTo>
                    <a:pt x="67170" y="632103"/>
                  </a:lnTo>
                  <a:cubicBezTo>
                    <a:pt x="30073" y="632103"/>
                    <a:pt x="0" y="602029"/>
                    <a:pt x="0" y="564932"/>
                  </a:cubicBezTo>
                  <a:lnTo>
                    <a:pt x="0" y="67170"/>
                  </a:lnTo>
                  <a:cubicBezTo>
                    <a:pt x="0" y="30073"/>
                    <a:pt x="30073" y="0"/>
                    <a:pt x="67170" y="0"/>
                  </a:cubicBezTo>
                  <a:close/>
                </a:path>
              </a:pathLst>
            </a:custGeom>
            <a:gradFill rotWithShape="true">
              <a:gsLst>
                <a:gs pos="0">
                  <a:srgbClr val="292929">
                    <a:alpha val="100000"/>
                  </a:srgbClr>
                </a:gs>
                <a:gs pos="100000">
                  <a:srgbClr val="3F4E52">
                    <a:alpha val="100000"/>
                  </a:srgbClr>
                </a:gs>
              </a:gsLst>
              <a:lin ang="0"/>
            </a:grad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21" id="21"/>
            <p:cNvSpPr txBox="true"/>
            <p:nvPr/>
          </p:nvSpPr>
          <p:spPr>
            <a:xfrm>
              <a:off x="0" y="-47625"/>
              <a:ext cx="1857643" cy="679728"/>
            </a:xfrm>
            <a:prstGeom prst="rect">
              <a:avLst/>
            </a:prstGeom>
          </p:spPr>
          <p:txBody>
            <a:bodyPr anchor="ctr" rtlCol="false" tIns="35736" lIns="35736" bIns="35736" rIns="35736"/>
            <a:lstStyle/>
            <a:p>
              <a:pPr algn="ctr">
                <a:lnSpc>
                  <a:spcPts val="2363"/>
                </a:lnSpc>
              </a:pPr>
            </a:p>
          </p:txBody>
        </p:sp>
      </p:grpSp>
      <p:sp>
        <p:nvSpPr>
          <p:cNvPr name="TextBox 22" id="22"/>
          <p:cNvSpPr txBox="true"/>
          <p:nvPr/>
        </p:nvSpPr>
        <p:spPr>
          <a:xfrm rot="0">
            <a:off x="1505758" y="2948965"/>
            <a:ext cx="1334489" cy="409935"/>
          </a:xfrm>
          <a:prstGeom prst="rect">
            <a:avLst/>
          </a:prstGeom>
        </p:spPr>
        <p:txBody>
          <a:bodyPr anchor="t" rtlCol="false" tIns="0" lIns="0" bIns="0" rIns="0">
            <a:spAutoFit/>
          </a:bodyPr>
          <a:lstStyle/>
          <a:p>
            <a:pPr algn="ctr">
              <a:lnSpc>
                <a:spcPts val="3330"/>
              </a:lnSpc>
            </a:pPr>
            <a:r>
              <a:rPr lang="en-US" b="true" sz="2379">
                <a:solidFill>
                  <a:srgbClr val="FFFFFF"/>
                </a:solidFill>
                <a:latin typeface="Open Sans Bold"/>
                <a:ea typeface="Open Sans Bold"/>
                <a:cs typeface="Open Sans Bold"/>
                <a:sym typeface="Open Sans Bold"/>
              </a:rPr>
              <a:t>KHS</a:t>
            </a:r>
            <a:r>
              <a:rPr lang="en-US" b="true" sz="2379">
                <a:solidFill>
                  <a:srgbClr val="FFFFFF"/>
                </a:solidFill>
                <a:latin typeface="Open Sans Bold"/>
                <a:ea typeface="Open Sans Bold"/>
                <a:cs typeface="Open Sans Bold"/>
                <a:sym typeface="Open Sans Bold"/>
              </a:rPr>
              <a:t> PDF </a:t>
            </a:r>
          </a:p>
        </p:txBody>
      </p:sp>
      <p:sp>
        <p:nvSpPr>
          <p:cNvPr name="TextBox 23" id="23"/>
          <p:cNvSpPr txBox="true"/>
          <p:nvPr/>
        </p:nvSpPr>
        <p:spPr>
          <a:xfrm rot="0">
            <a:off x="4337202" y="2848743"/>
            <a:ext cx="2829564" cy="600914"/>
          </a:xfrm>
          <a:prstGeom prst="rect">
            <a:avLst/>
          </a:prstGeom>
        </p:spPr>
        <p:txBody>
          <a:bodyPr anchor="t" rtlCol="false" tIns="0" lIns="0" bIns="0" rIns="0">
            <a:spAutoFit/>
          </a:bodyPr>
          <a:lstStyle/>
          <a:p>
            <a:pPr algn="ctr">
              <a:lnSpc>
                <a:spcPts val="2428"/>
              </a:lnSpc>
            </a:pPr>
            <a:r>
              <a:rPr lang="en-US" b="true" sz="1734">
                <a:solidFill>
                  <a:srgbClr val="0F042D"/>
                </a:solidFill>
                <a:latin typeface="Open Sans Bold"/>
                <a:ea typeface="Open Sans Bold"/>
                <a:cs typeface="Open Sans Bold"/>
                <a:sym typeface="Open Sans Bold"/>
              </a:rPr>
              <a:t>Sertifikat:</a:t>
            </a:r>
            <a:r>
              <a:rPr lang="en-US" b="true" sz="1734">
                <a:solidFill>
                  <a:srgbClr val="0F042D"/>
                </a:solidFill>
                <a:latin typeface="Open Sans Bold"/>
                <a:ea typeface="Open Sans Bold"/>
                <a:cs typeface="Open Sans Bold"/>
                <a:sym typeface="Open Sans Bold"/>
              </a:rPr>
              <a:t> ekstraksi title, issuer, tanggal</a:t>
            </a:r>
          </a:p>
        </p:txBody>
      </p:sp>
      <p:grpSp>
        <p:nvGrpSpPr>
          <p:cNvPr name="Group 24" id="24"/>
          <p:cNvGrpSpPr/>
          <p:nvPr/>
        </p:nvGrpSpPr>
        <p:grpSpPr>
          <a:xfrm rot="0">
            <a:off x="2576738" y="4429487"/>
            <a:ext cx="3000154" cy="1397630"/>
            <a:chOff x="0" y="0"/>
            <a:chExt cx="2579130" cy="1201495"/>
          </a:xfrm>
        </p:grpSpPr>
        <p:sp>
          <p:nvSpPr>
            <p:cNvPr name="Freeform 25" id="25"/>
            <p:cNvSpPr/>
            <p:nvPr/>
          </p:nvSpPr>
          <p:spPr>
            <a:xfrm flipH="false" flipV="false" rot="0">
              <a:off x="0" y="0"/>
              <a:ext cx="2579130" cy="1201495"/>
            </a:xfrm>
            <a:custGeom>
              <a:avLst/>
              <a:gdLst/>
              <a:ahLst/>
              <a:cxnLst/>
              <a:rect r="r" b="b" t="t" l="l"/>
              <a:pathLst>
                <a:path h="1201495" w="2579130">
                  <a:moveTo>
                    <a:pt x="72254" y="0"/>
                  </a:moveTo>
                  <a:lnTo>
                    <a:pt x="2506876" y="0"/>
                  </a:lnTo>
                  <a:cubicBezTo>
                    <a:pt x="2546781" y="0"/>
                    <a:pt x="2579130" y="32349"/>
                    <a:pt x="2579130" y="72254"/>
                  </a:cubicBezTo>
                  <a:lnTo>
                    <a:pt x="2579130" y="1129241"/>
                  </a:lnTo>
                  <a:cubicBezTo>
                    <a:pt x="2579130" y="1169145"/>
                    <a:pt x="2546781" y="1201495"/>
                    <a:pt x="2506876" y="1201495"/>
                  </a:cubicBezTo>
                  <a:lnTo>
                    <a:pt x="72254" y="1201495"/>
                  </a:lnTo>
                  <a:cubicBezTo>
                    <a:pt x="32349" y="1201495"/>
                    <a:pt x="0" y="1169145"/>
                    <a:pt x="0" y="1129241"/>
                  </a:cubicBezTo>
                  <a:lnTo>
                    <a:pt x="0" y="72254"/>
                  </a:lnTo>
                  <a:cubicBezTo>
                    <a:pt x="0" y="32349"/>
                    <a:pt x="32349" y="0"/>
                    <a:pt x="72254" y="0"/>
                  </a:cubicBezTo>
                  <a:close/>
                </a:path>
              </a:pathLst>
            </a:custGeom>
            <a:gradFill rotWithShape="true">
              <a:gsLst>
                <a:gs pos="0">
                  <a:srgbClr val="9D9D9D">
                    <a:alpha val="100000"/>
                  </a:srgbClr>
                </a:gs>
                <a:gs pos="100000">
                  <a:srgbClr val="3F4E52">
                    <a:alpha val="100000"/>
                  </a:srgbClr>
                </a:gs>
              </a:gsLst>
              <a:lin ang="0"/>
            </a:grad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26" id="26"/>
            <p:cNvSpPr txBox="true"/>
            <p:nvPr/>
          </p:nvSpPr>
          <p:spPr>
            <a:xfrm>
              <a:off x="0" y="-47625"/>
              <a:ext cx="2579130" cy="1249120"/>
            </a:xfrm>
            <a:prstGeom prst="rect">
              <a:avLst/>
            </a:prstGeom>
          </p:spPr>
          <p:txBody>
            <a:bodyPr anchor="ctr" rtlCol="false" tIns="23928" lIns="23928" bIns="23928" rIns="23928"/>
            <a:lstStyle/>
            <a:p>
              <a:pPr algn="ctr">
                <a:lnSpc>
                  <a:spcPts val="2363"/>
                </a:lnSpc>
              </a:pPr>
            </a:p>
          </p:txBody>
        </p:sp>
      </p:grpSp>
      <p:sp>
        <p:nvSpPr>
          <p:cNvPr name="TextBox 27" id="27"/>
          <p:cNvSpPr txBox="true"/>
          <p:nvPr/>
        </p:nvSpPr>
        <p:spPr>
          <a:xfrm rot="0">
            <a:off x="2711904" y="4635445"/>
            <a:ext cx="2778833" cy="847064"/>
          </a:xfrm>
          <a:prstGeom prst="rect">
            <a:avLst/>
          </a:prstGeom>
        </p:spPr>
        <p:txBody>
          <a:bodyPr anchor="t" rtlCol="false" tIns="0" lIns="0" bIns="0" rIns="0">
            <a:spAutoFit/>
          </a:bodyPr>
          <a:lstStyle/>
          <a:p>
            <a:pPr algn="ctr">
              <a:lnSpc>
                <a:spcPts val="3454"/>
              </a:lnSpc>
            </a:pPr>
            <a:r>
              <a:rPr lang="en-US" sz="2467" b="true">
                <a:solidFill>
                  <a:srgbClr val="FFFFFF"/>
                </a:solidFill>
                <a:latin typeface="Open Sans Bold"/>
                <a:ea typeface="Open Sans Bold"/>
                <a:cs typeface="Open Sans Bold"/>
                <a:sym typeface="Open Sans Bold"/>
              </a:rPr>
              <a:t>multilingual-e5-large</a:t>
            </a:r>
          </a:p>
        </p:txBody>
      </p:sp>
      <p:sp>
        <p:nvSpPr>
          <p:cNvPr name="Freeform 28" id="28"/>
          <p:cNvSpPr/>
          <p:nvPr/>
        </p:nvSpPr>
        <p:spPr>
          <a:xfrm>
            <a:off x="2173002" y="3726811"/>
            <a:ext cx="1903812" cy="702676"/>
          </a:xfrm>
          <a:custGeom>
            <a:avLst/>
            <a:gdLst/>
            <a:ahLst/>
            <a:cxnLst/>
            <a:rect r="r" b="b" t="t" l="l"/>
            <a:pathLst>
              <a:path h="702676" w="1903812">
                <a:moveTo>
                  <a:pt x="0" y="0"/>
                </a:moveTo>
                <a:lnTo>
                  <a:pt x="847131" y="0"/>
                </a:lnTo>
                <a:cubicBezTo>
                  <a:pt x="904997" y="0"/>
                  <a:pt x="951906" y="46909"/>
                  <a:pt x="951906" y="104775"/>
                </a:cubicBezTo>
                <a:lnTo>
                  <a:pt x="951906" y="597901"/>
                </a:lnTo>
                <a:cubicBezTo>
                  <a:pt x="951906" y="625690"/>
                  <a:pt x="962945" y="652340"/>
                  <a:pt x="982594" y="671988"/>
                </a:cubicBezTo>
                <a:cubicBezTo>
                  <a:pt x="1002244" y="691638"/>
                  <a:pt x="1028893" y="702676"/>
                  <a:pt x="1056681" y="702676"/>
                </a:cubicBezTo>
                <a:lnTo>
                  <a:pt x="1903813" y="702676"/>
                </a:lnTo>
              </a:path>
            </a:pathLst>
          </a:custGeom>
          <a:ln cap="flat" w="38100">
            <a:solidFill>
              <a:srgbClr val="FFFFFF"/>
            </a:solidFill>
            <a:prstDash val="solid"/>
            <a:headEnd type="none" len="sm" w="sm"/>
            <a:tailEnd type="arrow" len="sm" w="med"/>
          </a:ln>
        </p:spPr>
      </p:sp>
      <p:sp>
        <p:nvSpPr>
          <p:cNvPr name="Freeform 29" id="29"/>
          <p:cNvSpPr/>
          <p:nvPr/>
        </p:nvSpPr>
        <p:spPr>
          <a:xfrm>
            <a:off x="4076815" y="3695749"/>
            <a:ext cx="1675169" cy="733739"/>
          </a:xfrm>
          <a:custGeom>
            <a:avLst/>
            <a:gdLst/>
            <a:ahLst/>
            <a:cxnLst/>
            <a:rect r="r" b="b" t="t" l="l"/>
            <a:pathLst>
              <a:path h="733739" w="1675169">
                <a:moveTo>
                  <a:pt x="1675168" y="0"/>
                </a:moveTo>
                <a:lnTo>
                  <a:pt x="942359" y="0"/>
                </a:lnTo>
                <a:cubicBezTo>
                  <a:pt x="884494" y="0"/>
                  <a:pt x="837584" y="46909"/>
                  <a:pt x="837584" y="104775"/>
                </a:cubicBezTo>
                <a:lnTo>
                  <a:pt x="837584" y="628963"/>
                </a:lnTo>
                <a:cubicBezTo>
                  <a:pt x="837584" y="656752"/>
                  <a:pt x="826545" y="683402"/>
                  <a:pt x="806896" y="703050"/>
                </a:cubicBezTo>
                <a:cubicBezTo>
                  <a:pt x="787247" y="722700"/>
                  <a:pt x="760597" y="733738"/>
                  <a:pt x="732809" y="733738"/>
                </a:cubicBezTo>
                <a:lnTo>
                  <a:pt x="0" y="733738"/>
                </a:lnTo>
              </a:path>
            </a:pathLst>
          </a:custGeom>
          <a:ln cap="flat" w="38100">
            <a:solidFill>
              <a:srgbClr val="FFFFFF"/>
            </a:solidFill>
            <a:prstDash val="solid"/>
            <a:headEnd type="none" len="sm" w="sm"/>
            <a:tailEnd type="arrow" len="sm" w="med"/>
          </a:ln>
        </p:spPr>
      </p:sp>
      <p:grpSp>
        <p:nvGrpSpPr>
          <p:cNvPr name="Group 30" id="30"/>
          <p:cNvGrpSpPr/>
          <p:nvPr/>
        </p:nvGrpSpPr>
        <p:grpSpPr>
          <a:xfrm rot="0">
            <a:off x="2576738" y="6175772"/>
            <a:ext cx="3000154" cy="1397630"/>
            <a:chOff x="0" y="0"/>
            <a:chExt cx="2579130" cy="1201495"/>
          </a:xfrm>
        </p:grpSpPr>
        <p:sp>
          <p:nvSpPr>
            <p:cNvPr name="Freeform 31" id="31"/>
            <p:cNvSpPr/>
            <p:nvPr/>
          </p:nvSpPr>
          <p:spPr>
            <a:xfrm flipH="false" flipV="false" rot="0">
              <a:off x="0" y="0"/>
              <a:ext cx="2579130" cy="1201495"/>
            </a:xfrm>
            <a:custGeom>
              <a:avLst/>
              <a:gdLst/>
              <a:ahLst/>
              <a:cxnLst/>
              <a:rect r="r" b="b" t="t" l="l"/>
              <a:pathLst>
                <a:path h="1201495" w="2579130">
                  <a:moveTo>
                    <a:pt x="72254" y="0"/>
                  </a:moveTo>
                  <a:lnTo>
                    <a:pt x="2506876" y="0"/>
                  </a:lnTo>
                  <a:cubicBezTo>
                    <a:pt x="2546781" y="0"/>
                    <a:pt x="2579130" y="32349"/>
                    <a:pt x="2579130" y="72254"/>
                  </a:cubicBezTo>
                  <a:lnTo>
                    <a:pt x="2579130" y="1129241"/>
                  </a:lnTo>
                  <a:cubicBezTo>
                    <a:pt x="2579130" y="1169145"/>
                    <a:pt x="2546781" y="1201495"/>
                    <a:pt x="2506876" y="1201495"/>
                  </a:cubicBezTo>
                  <a:lnTo>
                    <a:pt x="72254" y="1201495"/>
                  </a:lnTo>
                  <a:cubicBezTo>
                    <a:pt x="32349" y="1201495"/>
                    <a:pt x="0" y="1169145"/>
                    <a:pt x="0" y="1129241"/>
                  </a:cubicBezTo>
                  <a:lnTo>
                    <a:pt x="0" y="72254"/>
                  </a:lnTo>
                  <a:cubicBezTo>
                    <a:pt x="0" y="32349"/>
                    <a:pt x="32349" y="0"/>
                    <a:pt x="72254" y="0"/>
                  </a:cubicBezTo>
                  <a:close/>
                </a:path>
              </a:pathLst>
            </a:custGeom>
            <a:gradFill rotWithShape="true">
              <a:gsLst>
                <a:gs pos="0">
                  <a:srgbClr val="9D9D9D">
                    <a:alpha val="100000"/>
                  </a:srgbClr>
                </a:gs>
                <a:gs pos="100000">
                  <a:srgbClr val="3F4E52">
                    <a:alpha val="100000"/>
                  </a:srgbClr>
                </a:gs>
              </a:gsLst>
              <a:lin ang="0"/>
            </a:grad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32" id="32"/>
            <p:cNvSpPr txBox="true"/>
            <p:nvPr/>
          </p:nvSpPr>
          <p:spPr>
            <a:xfrm>
              <a:off x="0" y="-47625"/>
              <a:ext cx="2579130" cy="1249120"/>
            </a:xfrm>
            <a:prstGeom prst="rect">
              <a:avLst/>
            </a:prstGeom>
          </p:spPr>
          <p:txBody>
            <a:bodyPr anchor="ctr" rtlCol="false" tIns="23928" lIns="23928" bIns="23928" rIns="23928"/>
            <a:lstStyle/>
            <a:p>
              <a:pPr algn="ctr">
                <a:lnSpc>
                  <a:spcPts val="2363"/>
                </a:lnSpc>
              </a:pPr>
            </a:p>
          </p:txBody>
        </p:sp>
      </p:grpSp>
      <p:sp>
        <p:nvSpPr>
          <p:cNvPr name="Freeform 33" id="33"/>
          <p:cNvSpPr/>
          <p:nvPr/>
        </p:nvSpPr>
        <p:spPr>
          <a:xfrm>
            <a:off x="4076815" y="6001445"/>
            <a:ext cx="0" cy="174327"/>
          </a:xfrm>
          <a:custGeom>
            <a:avLst/>
            <a:gdLst/>
            <a:ahLst/>
            <a:cxnLst/>
            <a:rect r="r" b="b" t="t" l="l"/>
            <a:pathLst>
              <a:path h="174327" w="0">
                <a:moveTo>
                  <a:pt x="0" y="0"/>
                </a:moveTo>
                <a:lnTo>
                  <a:pt x="0" y="174327"/>
                </a:lnTo>
              </a:path>
            </a:pathLst>
          </a:custGeom>
          <a:ln cap="flat" w="38100">
            <a:solidFill>
              <a:srgbClr val="FFFFFF"/>
            </a:solidFill>
            <a:prstDash val="solid"/>
            <a:headEnd type="none" len="sm" w="sm"/>
            <a:tailEnd type="arrow" len="sm" w="med"/>
          </a:ln>
        </p:spPr>
      </p:sp>
      <p:sp>
        <p:nvSpPr>
          <p:cNvPr name="TextBox 34" id="34"/>
          <p:cNvSpPr txBox="true"/>
          <p:nvPr/>
        </p:nvSpPr>
        <p:spPr>
          <a:xfrm rot="0">
            <a:off x="2687398" y="6416596"/>
            <a:ext cx="2778833" cy="847064"/>
          </a:xfrm>
          <a:prstGeom prst="rect">
            <a:avLst/>
          </a:prstGeom>
        </p:spPr>
        <p:txBody>
          <a:bodyPr anchor="t" rtlCol="false" tIns="0" lIns="0" bIns="0" rIns="0">
            <a:spAutoFit/>
          </a:bodyPr>
          <a:lstStyle/>
          <a:p>
            <a:pPr algn="ctr">
              <a:lnSpc>
                <a:spcPts val="3454"/>
              </a:lnSpc>
            </a:pPr>
            <a:r>
              <a:rPr lang="en-US" sz="2467" b="true">
                <a:solidFill>
                  <a:srgbClr val="FFFFFF"/>
                </a:solidFill>
                <a:latin typeface="Open Sans Bold"/>
                <a:ea typeface="Open Sans Bold"/>
                <a:cs typeface="Open Sans Bold"/>
                <a:sym typeface="Open Sans Bold"/>
              </a:rPr>
              <a:t>mmarco-mMiniLMv2 </a:t>
            </a:r>
          </a:p>
        </p:txBody>
      </p:sp>
      <p:sp>
        <p:nvSpPr>
          <p:cNvPr name="Freeform 35" id="35"/>
          <p:cNvSpPr/>
          <p:nvPr/>
        </p:nvSpPr>
        <p:spPr>
          <a:xfrm>
            <a:off x="4076815" y="7573402"/>
            <a:ext cx="1788704" cy="986083"/>
          </a:xfrm>
          <a:custGeom>
            <a:avLst/>
            <a:gdLst/>
            <a:ahLst/>
            <a:cxnLst/>
            <a:rect r="r" b="b" t="t" l="l"/>
            <a:pathLst>
              <a:path h="986083" w="1788704">
                <a:moveTo>
                  <a:pt x="0" y="0"/>
                </a:moveTo>
                <a:lnTo>
                  <a:pt x="0" y="881308"/>
                </a:lnTo>
                <a:cubicBezTo>
                  <a:pt x="0" y="909097"/>
                  <a:pt x="11039" y="935746"/>
                  <a:pt x="30688" y="955395"/>
                </a:cubicBezTo>
                <a:cubicBezTo>
                  <a:pt x="50337" y="975044"/>
                  <a:pt x="76986" y="986083"/>
                  <a:pt x="104775" y="986083"/>
                </a:cubicBezTo>
                <a:lnTo>
                  <a:pt x="1788703" y="986083"/>
                </a:lnTo>
              </a:path>
            </a:pathLst>
          </a:custGeom>
          <a:ln cap="flat" w="38100">
            <a:solidFill>
              <a:srgbClr val="FFFFFF"/>
            </a:solidFill>
            <a:prstDash val="solid"/>
            <a:headEnd type="none" len="sm" w="sm"/>
            <a:tailEnd type="arrow" len="sm" w="med"/>
          </a:ln>
        </p:spPr>
      </p:sp>
      <p:grpSp>
        <p:nvGrpSpPr>
          <p:cNvPr name="Group 36" id="36"/>
          <p:cNvGrpSpPr/>
          <p:nvPr/>
        </p:nvGrpSpPr>
        <p:grpSpPr>
          <a:xfrm rot="0">
            <a:off x="5865518" y="7860670"/>
            <a:ext cx="3000154" cy="1397630"/>
            <a:chOff x="0" y="0"/>
            <a:chExt cx="4000206" cy="1863507"/>
          </a:xfrm>
        </p:grpSpPr>
        <p:grpSp>
          <p:nvGrpSpPr>
            <p:cNvPr name="Group 37" id="37"/>
            <p:cNvGrpSpPr/>
            <p:nvPr/>
          </p:nvGrpSpPr>
          <p:grpSpPr>
            <a:xfrm rot="0">
              <a:off x="0" y="0"/>
              <a:ext cx="4000206" cy="1863507"/>
              <a:chOff x="0" y="0"/>
              <a:chExt cx="2579130" cy="1201495"/>
            </a:xfrm>
          </p:grpSpPr>
          <p:sp>
            <p:nvSpPr>
              <p:cNvPr name="Freeform 38" id="38"/>
              <p:cNvSpPr/>
              <p:nvPr/>
            </p:nvSpPr>
            <p:spPr>
              <a:xfrm flipH="false" flipV="false" rot="0">
                <a:off x="0" y="0"/>
                <a:ext cx="2579130" cy="1201495"/>
              </a:xfrm>
              <a:custGeom>
                <a:avLst/>
                <a:gdLst/>
                <a:ahLst/>
                <a:cxnLst/>
                <a:rect r="r" b="b" t="t" l="l"/>
                <a:pathLst>
                  <a:path h="1201495" w="2579130">
                    <a:moveTo>
                      <a:pt x="72254" y="0"/>
                    </a:moveTo>
                    <a:lnTo>
                      <a:pt x="2506876" y="0"/>
                    </a:lnTo>
                    <a:cubicBezTo>
                      <a:pt x="2546781" y="0"/>
                      <a:pt x="2579130" y="32349"/>
                      <a:pt x="2579130" y="72254"/>
                    </a:cubicBezTo>
                    <a:lnTo>
                      <a:pt x="2579130" y="1129241"/>
                    </a:lnTo>
                    <a:cubicBezTo>
                      <a:pt x="2579130" y="1169145"/>
                      <a:pt x="2546781" y="1201495"/>
                      <a:pt x="2506876" y="1201495"/>
                    </a:cubicBezTo>
                    <a:lnTo>
                      <a:pt x="72254" y="1201495"/>
                    </a:lnTo>
                    <a:cubicBezTo>
                      <a:pt x="32349" y="1201495"/>
                      <a:pt x="0" y="1169145"/>
                      <a:pt x="0" y="1129241"/>
                    </a:cubicBezTo>
                    <a:lnTo>
                      <a:pt x="0" y="72254"/>
                    </a:lnTo>
                    <a:cubicBezTo>
                      <a:pt x="0" y="32349"/>
                      <a:pt x="32349" y="0"/>
                      <a:pt x="72254" y="0"/>
                    </a:cubicBezTo>
                    <a:close/>
                  </a:path>
                </a:pathLst>
              </a:custGeom>
              <a:gradFill rotWithShape="true">
                <a:gsLst>
                  <a:gs pos="0">
                    <a:srgbClr val="9D9D9D">
                      <a:alpha val="100000"/>
                    </a:srgbClr>
                  </a:gs>
                  <a:gs pos="100000">
                    <a:srgbClr val="3F4E52">
                      <a:alpha val="100000"/>
                    </a:srgbClr>
                  </a:gs>
                </a:gsLst>
                <a:lin ang="0"/>
              </a:grad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39" id="39"/>
              <p:cNvSpPr txBox="true"/>
              <p:nvPr/>
            </p:nvSpPr>
            <p:spPr>
              <a:xfrm>
                <a:off x="0" y="-47625"/>
                <a:ext cx="2579130" cy="1249120"/>
              </a:xfrm>
              <a:prstGeom prst="rect">
                <a:avLst/>
              </a:prstGeom>
            </p:spPr>
            <p:txBody>
              <a:bodyPr anchor="ctr" rtlCol="false" tIns="23928" lIns="23928" bIns="23928" rIns="23928"/>
              <a:lstStyle/>
              <a:p>
                <a:pPr algn="ctr">
                  <a:lnSpc>
                    <a:spcPts val="2363"/>
                  </a:lnSpc>
                </a:pPr>
              </a:p>
            </p:txBody>
          </p:sp>
        </p:grpSp>
        <p:sp>
          <p:nvSpPr>
            <p:cNvPr name="TextBox 40" id="40"/>
            <p:cNvSpPr txBox="true"/>
            <p:nvPr/>
          </p:nvSpPr>
          <p:spPr>
            <a:xfrm rot="0">
              <a:off x="114874" y="380286"/>
              <a:ext cx="3705111" cy="1116718"/>
            </a:xfrm>
            <a:prstGeom prst="rect">
              <a:avLst/>
            </a:prstGeom>
          </p:spPr>
          <p:txBody>
            <a:bodyPr anchor="t" rtlCol="false" tIns="0" lIns="0" bIns="0" rIns="0">
              <a:spAutoFit/>
            </a:bodyPr>
            <a:lstStyle/>
            <a:p>
              <a:pPr algn="ctr">
                <a:lnSpc>
                  <a:spcPts val="3454"/>
                </a:lnSpc>
              </a:pPr>
              <a:r>
                <a:rPr lang="en-US" sz="2467" b="true">
                  <a:solidFill>
                    <a:srgbClr val="FFFFFF"/>
                  </a:solidFill>
                  <a:latin typeface="Open Sans Bold"/>
                  <a:ea typeface="Open Sans Bold"/>
                  <a:cs typeface="Open Sans Bold"/>
                  <a:sym typeface="Open Sans Bold"/>
                </a:rPr>
                <a:t>Skor Akhir &amp; Agregasi</a:t>
              </a:r>
            </a:p>
          </p:txBody>
        </p:sp>
      </p:grpSp>
      <p:grpSp>
        <p:nvGrpSpPr>
          <p:cNvPr name="Group 41" id="41"/>
          <p:cNvGrpSpPr/>
          <p:nvPr/>
        </p:nvGrpSpPr>
        <p:grpSpPr>
          <a:xfrm rot="0">
            <a:off x="9871653" y="3999427"/>
            <a:ext cx="3971011" cy="1078601"/>
            <a:chOff x="0" y="0"/>
            <a:chExt cx="2086155" cy="566639"/>
          </a:xfrm>
        </p:grpSpPr>
        <p:sp>
          <p:nvSpPr>
            <p:cNvPr name="Freeform 42" id="42"/>
            <p:cNvSpPr/>
            <p:nvPr/>
          </p:nvSpPr>
          <p:spPr>
            <a:xfrm flipH="false" flipV="false" rot="0">
              <a:off x="0" y="0"/>
              <a:ext cx="2086155" cy="566639"/>
            </a:xfrm>
            <a:custGeom>
              <a:avLst/>
              <a:gdLst/>
              <a:ahLst/>
              <a:cxnLst/>
              <a:rect r="r" b="b" t="t" l="l"/>
              <a:pathLst>
                <a:path h="566639" w="2086155">
                  <a:moveTo>
                    <a:pt x="40942" y="0"/>
                  </a:moveTo>
                  <a:lnTo>
                    <a:pt x="2045214" y="0"/>
                  </a:lnTo>
                  <a:cubicBezTo>
                    <a:pt x="2067825" y="0"/>
                    <a:pt x="2086155" y="18330"/>
                    <a:pt x="2086155" y="40942"/>
                  </a:cubicBezTo>
                  <a:lnTo>
                    <a:pt x="2086155" y="525697"/>
                  </a:lnTo>
                  <a:cubicBezTo>
                    <a:pt x="2086155" y="536555"/>
                    <a:pt x="2081842" y="546969"/>
                    <a:pt x="2074164" y="554647"/>
                  </a:cubicBezTo>
                  <a:cubicBezTo>
                    <a:pt x="2066486" y="562325"/>
                    <a:pt x="2056072" y="566639"/>
                    <a:pt x="2045214" y="566639"/>
                  </a:cubicBezTo>
                  <a:lnTo>
                    <a:pt x="40942" y="566639"/>
                  </a:lnTo>
                  <a:cubicBezTo>
                    <a:pt x="18330" y="566639"/>
                    <a:pt x="0" y="548308"/>
                    <a:pt x="0" y="525697"/>
                  </a:cubicBezTo>
                  <a:lnTo>
                    <a:pt x="0" y="40942"/>
                  </a:lnTo>
                  <a:cubicBezTo>
                    <a:pt x="0" y="30083"/>
                    <a:pt x="4313" y="19670"/>
                    <a:pt x="11992" y="11992"/>
                  </a:cubicBezTo>
                  <a:cubicBezTo>
                    <a:pt x="19670" y="4313"/>
                    <a:pt x="30083" y="0"/>
                    <a:pt x="40942" y="0"/>
                  </a:cubicBezTo>
                  <a:close/>
                </a:path>
              </a:pathLst>
            </a:custGeom>
            <a:gradFill rotWithShape="true">
              <a:gsLst>
                <a:gs pos="0">
                  <a:srgbClr val="9D9D9D">
                    <a:alpha val="100000"/>
                  </a:srgbClr>
                </a:gs>
                <a:gs pos="100000">
                  <a:srgbClr val="3F4E52">
                    <a:alpha val="100000"/>
                  </a:srgbClr>
                </a:gs>
              </a:gsLst>
              <a:lin ang="0"/>
            </a:grad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43" id="43"/>
            <p:cNvSpPr txBox="true"/>
            <p:nvPr/>
          </p:nvSpPr>
          <p:spPr>
            <a:xfrm>
              <a:off x="0" y="-47625"/>
              <a:ext cx="2086155" cy="614264"/>
            </a:xfrm>
            <a:prstGeom prst="rect">
              <a:avLst/>
            </a:prstGeom>
          </p:spPr>
          <p:txBody>
            <a:bodyPr anchor="ctr" rtlCol="false" tIns="34015" lIns="34015" bIns="34015" rIns="34015"/>
            <a:lstStyle/>
            <a:p>
              <a:pPr algn="ctr">
                <a:lnSpc>
                  <a:spcPts val="3359"/>
                </a:lnSpc>
              </a:pPr>
            </a:p>
          </p:txBody>
        </p:sp>
      </p:grpSp>
      <p:sp>
        <p:nvSpPr>
          <p:cNvPr name="TextBox 44" id="44"/>
          <p:cNvSpPr txBox="true"/>
          <p:nvPr/>
        </p:nvSpPr>
        <p:spPr>
          <a:xfrm rot="0">
            <a:off x="10052736" y="4157223"/>
            <a:ext cx="3650551" cy="686808"/>
          </a:xfrm>
          <a:prstGeom prst="rect">
            <a:avLst/>
          </a:prstGeom>
        </p:spPr>
        <p:txBody>
          <a:bodyPr anchor="t" rtlCol="false" tIns="0" lIns="0" bIns="0" rIns="0">
            <a:spAutoFit/>
          </a:bodyPr>
          <a:lstStyle/>
          <a:p>
            <a:pPr algn="ctr">
              <a:lnSpc>
                <a:spcPts val="5652"/>
              </a:lnSpc>
            </a:pPr>
            <a:r>
              <a:rPr lang="en-US" sz="4037" b="true">
                <a:solidFill>
                  <a:srgbClr val="FFFFFF"/>
                </a:solidFill>
                <a:latin typeface="Open Sans Bold"/>
                <a:ea typeface="Open Sans Bold"/>
                <a:cs typeface="Open Sans Bold"/>
                <a:sym typeface="Open Sans Bold"/>
              </a:rPr>
              <a:t>Explainability</a:t>
            </a:r>
          </a:p>
        </p:txBody>
      </p:sp>
      <p:sp>
        <p:nvSpPr>
          <p:cNvPr name="Freeform 45" id="45"/>
          <p:cNvSpPr/>
          <p:nvPr/>
        </p:nvSpPr>
        <p:spPr>
          <a:xfrm>
            <a:off x="8865673" y="4538727"/>
            <a:ext cx="1005980" cy="4020758"/>
          </a:xfrm>
          <a:custGeom>
            <a:avLst/>
            <a:gdLst/>
            <a:ahLst/>
            <a:cxnLst/>
            <a:rect r="r" b="b" t="t" l="l"/>
            <a:pathLst>
              <a:path h="4020758" w="1005980">
                <a:moveTo>
                  <a:pt x="0" y="4020758"/>
                </a:moveTo>
                <a:lnTo>
                  <a:pt x="352425" y="4020758"/>
                </a:lnTo>
                <a:cubicBezTo>
                  <a:pt x="380213" y="4020758"/>
                  <a:pt x="406863" y="4009719"/>
                  <a:pt x="426512" y="3990070"/>
                </a:cubicBezTo>
                <a:cubicBezTo>
                  <a:pt x="446161" y="3970421"/>
                  <a:pt x="457200" y="3943772"/>
                  <a:pt x="457200" y="3915983"/>
                </a:cubicBezTo>
                <a:lnTo>
                  <a:pt x="457200" y="104775"/>
                </a:lnTo>
                <a:cubicBezTo>
                  <a:pt x="457200" y="46910"/>
                  <a:pt x="504109" y="0"/>
                  <a:pt x="561975" y="0"/>
                </a:cubicBezTo>
                <a:lnTo>
                  <a:pt x="1005980" y="0"/>
                </a:lnTo>
              </a:path>
            </a:pathLst>
          </a:custGeom>
          <a:ln cap="flat" w="38100">
            <a:solidFill>
              <a:srgbClr val="FFFFFF"/>
            </a:solidFill>
            <a:prstDash val="solid"/>
            <a:headEnd type="none" len="sm" w="sm"/>
            <a:tailEnd type="arrow" len="sm" w="med"/>
          </a:ln>
        </p:spPr>
      </p:sp>
      <p:grpSp>
        <p:nvGrpSpPr>
          <p:cNvPr name="Group 46" id="46"/>
          <p:cNvGrpSpPr/>
          <p:nvPr/>
        </p:nvGrpSpPr>
        <p:grpSpPr>
          <a:xfrm rot="0">
            <a:off x="10038087" y="6859178"/>
            <a:ext cx="3638143" cy="1694839"/>
            <a:chOff x="0" y="0"/>
            <a:chExt cx="2579130" cy="1201495"/>
          </a:xfrm>
        </p:grpSpPr>
        <p:sp>
          <p:nvSpPr>
            <p:cNvPr name="Freeform 47" id="47"/>
            <p:cNvSpPr/>
            <p:nvPr/>
          </p:nvSpPr>
          <p:spPr>
            <a:xfrm flipH="false" flipV="false" rot="0">
              <a:off x="0" y="0"/>
              <a:ext cx="2579130" cy="1201495"/>
            </a:xfrm>
            <a:custGeom>
              <a:avLst/>
              <a:gdLst/>
              <a:ahLst/>
              <a:cxnLst/>
              <a:rect r="r" b="b" t="t" l="l"/>
              <a:pathLst>
                <a:path h="1201495" w="2579130">
                  <a:moveTo>
                    <a:pt x="34048" y="0"/>
                  </a:moveTo>
                  <a:lnTo>
                    <a:pt x="2545082" y="0"/>
                  </a:lnTo>
                  <a:cubicBezTo>
                    <a:pt x="2554113" y="0"/>
                    <a:pt x="2562773" y="3587"/>
                    <a:pt x="2569158" y="9972"/>
                  </a:cubicBezTo>
                  <a:cubicBezTo>
                    <a:pt x="2575543" y="16358"/>
                    <a:pt x="2579130" y="25018"/>
                    <a:pt x="2579130" y="34048"/>
                  </a:cubicBezTo>
                  <a:lnTo>
                    <a:pt x="2579130" y="1167447"/>
                  </a:lnTo>
                  <a:cubicBezTo>
                    <a:pt x="2579130" y="1176477"/>
                    <a:pt x="2575543" y="1185137"/>
                    <a:pt x="2569158" y="1191522"/>
                  </a:cubicBezTo>
                  <a:cubicBezTo>
                    <a:pt x="2562773" y="1197908"/>
                    <a:pt x="2554113" y="1201495"/>
                    <a:pt x="2545082" y="1201495"/>
                  </a:cubicBezTo>
                  <a:lnTo>
                    <a:pt x="34048" y="1201495"/>
                  </a:lnTo>
                  <a:cubicBezTo>
                    <a:pt x="25018" y="1201495"/>
                    <a:pt x="16358" y="1197908"/>
                    <a:pt x="9972" y="1191522"/>
                  </a:cubicBezTo>
                  <a:cubicBezTo>
                    <a:pt x="3587" y="1185137"/>
                    <a:pt x="0" y="1176477"/>
                    <a:pt x="0" y="1167447"/>
                  </a:cubicBezTo>
                  <a:lnTo>
                    <a:pt x="0" y="34048"/>
                  </a:lnTo>
                  <a:cubicBezTo>
                    <a:pt x="0" y="25018"/>
                    <a:pt x="3587" y="16358"/>
                    <a:pt x="9972" y="9972"/>
                  </a:cubicBezTo>
                  <a:cubicBezTo>
                    <a:pt x="16358" y="3587"/>
                    <a:pt x="25018" y="0"/>
                    <a:pt x="34048" y="0"/>
                  </a:cubicBezTo>
                  <a:close/>
                </a:path>
              </a:pathLst>
            </a:custGeom>
            <a:gradFill rotWithShape="true">
              <a:gsLst>
                <a:gs pos="0">
                  <a:srgbClr val="9D9D9D">
                    <a:alpha val="100000"/>
                  </a:srgbClr>
                </a:gs>
                <a:gs pos="100000">
                  <a:srgbClr val="407482">
                    <a:alpha val="100000"/>
                  </a:srgbClr>
                </a:gs>
              </a:gsLst>
              <a:lin ang="0"/>
            </a:gradFill>
            <a:ln w="9525" cap="sq">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miter/>
            </a:ln>
          </p:spPr>
        </p:sp>
        <p:sp>
          <p:nvSpPr>
            <p:cNvPr name="TextBox 48" id="48"/>
            <p:cNvSpPr txBox="true"/>
            <p:nvPr/>
          </p:nvSpPr>
          <p:spPr>
            <a:xfrm>
              <a:off x="0" y="-47625"/>
              <a:ext cx="2579130" cy="1249120"/>
            </a:xfrm>
            <a:prstGeom prst="rect">
              <a:avLst/>
            </a:prstGeom>
          </p:spPr>
          <p:txBody>
            <a:bodyPr anchor="ctr" rtlCol="false" tIns="34015" lIns="34015" bIns="34015" rIns="34015"/>
            <a:lstStyle/>
            <a:p>
              <a:pPr algn="ctr">
                <a:lnSpc>
                  <a:spcPts val="3359"/>
                </a:lnSpc>
              </a:pPr>
            </a:p>
          </p:txBody>
        </p:sp>
      </p:grpSp>
      <p:sp>
        <p:nvSpPr>
          <p:cNvPr name="TextBox 49" id="49"/>
          <p:cNvSpPr txBox="true"/>
          <p:nvPr/>
        </p:nvSpPr>
        <p:spPr>
          <a:xfrm rot="0">
            <a:off x="10787440" y="7125395"/>
            <a:ext cx="2139436" cy="1035887"/>
          </a:xfrm>
          <a:prstGeom prst="rect">
            <a:avLst/>
          </a:prstGeom>
        </p:spPr>
        <p:txBody>
          <a:bodyPr anchor="t" rtlCol="false" tIns="0" lIns="0" bIns="0" rIns="0">
            <a:spAutoFit/>
          </a:bodyPr>
          <a:lstStyle/>
          <a:p>
            <a:pPr algn="ctr">
              <a:lnSpc>
                <a:spcPts val="8528"/>
              </a:lnSpc>
            </a:pPr>
            <a:r>
              <a:rPr lang="en-US" sz="6092" b="true">
                <a:solidFill>
                  <a:srgbClr val="FFFFFF"/>
                </a:solidFill>
                <a:latin typeface="Open Sans Bold"/>
                <a:ea typeface="Open Sans Bold"/>
                <a:cs typeface="Open Sans Bold"/>
                <a:sym typeface="Open Sans Bold"/>
              </a:rPr>
              <a:t>SHAP</a:t>
            </a:r>
          </a:p>
        </p:txBody>
      </p:sp>
      <p:grpSp>
        <p:nvGrpSpPr>
          <p:cNvPr name="Group 50" id="50"/>
          <p:cNvGrpSpPr/>
          <p:nvPr/>
        </p:nvGrpSpPr>
        <p:grpSpPr>
          <a:xfrm rot="0">
            <a:off x="13842664" y="6859178"/>
            <a:ext cx="3638143" cy="1694839"/>
            <a:chOff x="0" y="0"/>
            <a:chExt cx="2579130" cy="1201495"/>
          </a:xfrm>
        </p:grpSpPr>
        <p:sp>
          <p:nvSpPr>
            <p:cNvPr name="Freeform 51" id="51"/>
            <p:cNvSpPr/>
            <p:nvPr/>
          </p:nvSpPr>
          <p:spPr>
            <a:xfrm flipH="false" flipV="false" rot="0">
              <a:off x="0" y="0"/>
              <a:ext cx="2579130" cy="1201495"/>
            </a:xfrm>
            <a:custGeom>
              <a:avLst/>
              <a:gdLst/>
              <a:ahLst/>
              <a:cxnLst/>
              <a:rect r="r" b="b" t="t" l="l"/>
              <a:pathLst>
                <a:path h="1201495" w="2579130">
                  <a:moveTo>
                    <a:pt x="34048" y="0"/>
                  </a:moveTo>
                  <a:lnTo>
                    <a:pt x="2545082" y="0"/>
                  </a:lnTo>
                  <a:cubicBezTo>
                    <a:pt x="2554113" y="0"/>
                    <a:pt x="2562773" y="3587"/>
                    <a:pt x="2569158" y="9972"/>
                  </a:cubicBezTo>
                  <a:cubicBezTo>
                    <a:pt x="2575543" y="16358"/>
                    <a:pt x="2579130" y="25018"/>
                    <a:pt x="2579130" y="34048"/>
                  </a:cubicBezTo>
                  <a:lnTo>
                    <a:pt x="2579130" y="1167447"/>
                  </a:lnTo>
                  <a:cubicBezTo>
                    <a:pt x="2579130" y="1176477"/>
                    <a:pt x="2575543" y="1185137"/>
                    <a:pt x="2569158" y="1191522"/>
                  </a:cubicBezTo>
                  <a:cubicBezTo>
                    <a:pt x="2562773" y="1197908"/>
                    <a:pt x="2554113" y="1201495"/>
                    <a:pt x="2545082" y="1201495"/>
                  </a:cubicBezTo>
                  <a:lnTo>
                    <a:pt x="34048" y="1201495"/>
                  </a:lnTo>
                  <a:cubicBezTo>
                    <a:pt x="25018" y="1201495"/>
                    <a:pt x="16358" y="1197908"/>
                    <a:pt x="9972" y="1191522"/>
                  </a:cubicBezTo>
                  <a:cubicBezTo>
                    <a:pt x="3587" y="1185137"/>
                    <a:pt x="0" y="1176477"/>
                    <a:pt x="0" y="1167447"/>
                  </a:cubicBezTo>
                  <a:lnTo>
                    <a:pt x="0" y="34048"/>
                  </a:lnTo>
                  <a:cubicBezTo>
                    <a:pt x="0" y="25018"/>
                    <a:pt x="3587" y="16358"/>
                    <a:pt x="9972" y="9972"/>
                  </a:cubicBezTo>
                  <a:cubicBezTo>
                    <a:pt x="16358" y="3587"/>
                    <a:pt x="25018" y="0"/>
                    <a:pt x="34048" y="0"/>
                  </a:cubicBezTo>
                  <a:close/>
                </a:path>
              </a:pathLst>
            </a:custGeom>
            <a:gradFill rotWithShape="true">
              <a:gsLst>
                <a:gs pos="0">
                  <a:srgbClr val="9D9D9D">
                    <a:alpha val="100000"/>
                  </a:srgbClr>
                </a:gs>
                <a:gs pos="100000">
                  <a:srgbClr val="407482">
                    <a:alpha val="100000"/>
                  </a:srgbClr>
                </a:gs>
              </a:gsLst>
              <a:lin ang="0"/>
            </a:gradFill>
            <a:ln w="9525" cap="sq">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miter/>
            </a:ln>
          </p:spPr>
        </p:sp>
        <p:sp>
          <p:nvSpPr>
            <p:cNvPr name="TextBox 52" id="52"/>
            <p:cNvSpPr txBox="true"/>
            <p:nvPr/>
          </p:nvSpPr>
          <p:spPr>
            <a:xfrm>
              <a:off x="0" y="-47625"/>
              <a:ext cx="2579130" cy="1249120"/>
            </a:xfrm>
            <a:prstGeom prst="rect">
              <a:avLst/>
            </a:prstGeom>
          </p:spPr>
          <p:txBody>
            <a:bodyPr anchor="ctr" rtlCol="false" tIns="34015" lIns="34015" bIns="34015" rIns="34015"/>
            <a:lstStyle/>
            <a:p>
              <a:pPr algn="ctr">
                <a:lnSpc>
                  <a:spcPts val="3359"/>
                </a:lnSpc>
              </a:pPr>
            </a:p>
          </p:txBody>
        </p:sp>
      </p:grpSp>
      <p:sp>
        <p:nvSpPr>
          <p:cNvPr name="TextBox 53" id="53"/>
          <p:cNvSpPr txBox="true"/>
          <p:nvPr/>
        </p:nvSpPr>
        <p:spPr>
          <a:xfrm rot="0">
            <a:off x="14758841" y="7125395"/>
            <a:ext cx="1805790" cy="1035887"/>
          </a:xfrm>
          <a:prstGeom prst="rect">
            <a:avLst/>
          </a:prstGeom>
        </p:spPr>
        <p:txBody>
          <a:bodyPr anchor="t" rtlCol="false" tIns="0" lIns="0" bIns="0" rIns="0">
            <a:spAutoFit/>
          </a:bodyPr>
          <a:lstStyle/>
          <a:p>
            <a:pPr algn="ctr">
              <a:lnSpc>
                <a:spcPts val="8528"/>
              </a:lnSpc>
            </a:pPr>
            <a:r>
              <a:rPr lang="en-US" sz="6092" b="true">
                <a:solidFill>
                  <a:srgbClr val="FFFFFF"/>
                </a:solidFill>
                <a:latin typeface="Open Sans Bold"/>
                <a:ea typeface="Open Sans Bold"/>
                <a:cs typeface="Open Sans Bold"/>
                <a:sym typeface="Open Sans Bold"/>
              </a:rPr>
              <a:t>DiCE</a:t>
            </a:r>
          </a:p>
        </p:txBody>
      </p:sp>
      <p:sp>
        <p:nvSpPr>
          <p:cNvPr name="Freeform 54" id="54"/>
          <p:cNvSpPr/>
          <p:nvPr/>
        </p:nvSpPr>
        <p:spPr>
          <a:xfrm>
            <a:off x="11857158" y="5535227"/>
            <a:ext cx="0" cy="1323950"/>
          </a:xfrm>
          <a:custGeom>
            <a:avLst/>
            <a:gdLst/>
            <a:ahLst/>
            <a:cxnLst/>
            <a:rect r="r" b="b" t="t" l="l"/>
            <a:pathLst>
              <a:path h="1323950" w="0">
                <a:moveTo>
                  <a:pt x="0" y="0"/>
                </a:moveTo>
                <a:lnTo>
                  <a:pt x="0" y="1323950"/>
                </a:lnTo>
              </a:path>
            </a:pathLst>
          </a:custGeom>
          <a:ln cap="flat" w="38100">
            <a:solidFill>
              <a:srgbClr val="FFFFFF"/>
            </a:solidFill>
            <a:prstDash val="solid"/>
            <a:headEnd type="none" len="sm" w="sm"/>
            <a:tailEnd type="arrow" len="sm" w="med"/>
          </a:ln>
        </p:spPr>
      </p:sp>
      <p:sp>
        <p:nvSpPr>
          <p:cNvPr name="Freeform 55" id="55"/>
          <p:cNvSpPr/>
          <p:nvPr/>
        </p:nvSpPr>
        <p:spPr>
          <a:xfrm>
            <a:off x="13969732" y="4583987"/>
            <a:ext cx="1563968" cy="2344179"/>
          </a:xfrm>
          <a:custGeom>
            <a:avLst/>
            <a:gdLst/>
            <a:ahLst/>
            <a:cxnLst/>
            <a:rect r="r" b="b" t="t" l="l"/>
            <a:pathLst>
              <a:path h="2344179" w="1563968">
                <a:moveTo>
                  <a:pt x="0" y="0"/>
                </a:moveTo>
                <a:lnTo>
                  <a:pt x="1459193" y="0"/>
                </a:lnTo>
                <a:cubicBezTo>
                  <a:pt x="1517059" y="0"/>
                  <a:pt x="1563968" y="46910"/>
                  <a:pt x="1563968" y="104775"/>
                </a:cubicBezTo>
                <a:lnTo>
                  <a:pt x="1563968" y="2344179"/>
                </a:lnTo>
              </a:path>
            </a:pathLst>
          </a:custGeom>
          <a:ln cap="flat" w="38100">
            <a:solidFill>
              <a:srgbClr val="FFFFFF"/>
            </a:solidFill>
            <a:prstDash val="solid"/>
            <a:headEnd type="none" len="sm" w="sm"/>
            <a:tailEnd type="arrow" len="sm" w="med"/>
          </a:ln>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777" r="0" b="-1777"/>
            </a:stretch>
          </a:blipFill>
        </p:spPr>
      </p:sp>
      <p:sp>
        <p:nvSpPr>
          <p:cNvPr name="AutoShape 3" id="3"/>
          <p:cNvSpPr/>
          <p:nvPr/>
        </p:nvSpPr>
        <p:spPr>
          <a:xfrm>
            <a:off x="10038640" y="-468675"/>
            <a:ext cx="0" cy="11118486"/>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
        <p:nvSpPr>
          <p:cNvPr name="AutoShape 4" id="4"/>
          <p:cNvSpPr/>
          <p:nvPr/>
        </p:nvSpPr>
        <p:spPr>
          <a:xfrm>
            <a:off x="477889" y="-448043"/>
            <a:ext cx="0" cy="11118486"/>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
        <p:nvSpPr>
          <p:cNvPr name="Freeform 5" id="5"/>
          <p:cNvSpPr/>
          <p:nvPr/>
        </p:nvSpPr>
        <p:spPr>
          <a:xfrm flipH="false" flipV="false" rot="0">
            <a:off x="783373" y="515779"/>
            <a:ext cx="443469" cy="305994"/>
          </a:xfrm>
          <a:custGeom>
            <a:avLst/>
            <a:gdLst/>
            <a:ahLst/>
            <a:cxnLst/>
            <a:rect r="r" b="b" t="t" l="l"/>
            <a:pathLst>
              <a:path h="305994" w="443469">
                <a:moveTo>
                  <a:pt x="0" y="0"/>
                </a:moveTo>
                <a:lnTo>
                  <a:pt x="443469" y="0"/>
                </a:lnTo>
                <a:lnTo>
                  <a:pt x="443469" y="305993"/>
                </a:lnTo>
                <a:lnTo>
                  <a:pt x="0" y="30599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16845300" y="391766"/>
            <a:ext cx="635507" cy="554019"/>
            <a:chOff x="0" y="0"/>
            <a:chExt cx="167376" cy="145915"/>
          </a:xfrm>
        </p:grpSpPr>
        <p:sp>
          <p:nvSpPr>
            <p:cNvPr name="Freeform 7" id="7"/>
            <p:cNvSpPr/>
            <p:nvPr/>
          </p:nvSpPr>
          <p:spPr>
            <a:xfrm flipH="false" flipV="false" rot="0">
              <a:off x="0" y="0"/>
              <a:ext cx="167376" cy="145915"/>
            </a:xfrm>
            <a:custGeom>
              <a:avLst/>
              <a:gdLst/>
              <a:ahLst/>
              <a:cxnLst/>
              <a:rect r="r" b="b" t="t" l="l"/>
              <a:pathLst>
                <a:path h="145915" w="167376">
                  <a:moveTo>
                    <a:pt x="72957" y="0"/>
                  </a:moveTo>
                  <a:lnTo>
                    <a:pt x="94419" y="0"/>
                  </a:lnTo>
                  <a:cubicBezTo>
                    <a:pt x="134712" y="0"/>
                    <a:pt x="167376" y="32664"/>
                    <a:pt x="167376" y="72957"/>
                  </a:cubicBezTo>
                  <a:lnTo>
                    <a:pt x="167376" y="72957"/>
                  </a:lnTo>
                  <a:cubicBezTo>
                    <a:pt x="167376" y="113250"/>
                    <a:pt x="134712" y="145915"/>
                    <a:pt x="94419" y="145915"/>
                  </a:cubicBezTo>
                  <a:lnTo>
                    <a:pt x="72957" y="145915"/>
                  </a:lnTo>
                  <a:cubicBezTo>
                    <a:pt x="32664" y="145915"/>
                    <a:pt x="0" y="113250"/>
                    <a:pt x="0" y="72957"/>
                  </a:cubicBezTo>
                  <a:lnTo>
                    <a:pt x="0" y="72957"/>
                  </a:lnTo>
                  <a:cubicBezTo>
                    <a:pt x="0" y="32664"/>
                    <a:pt x="32664" y="0"/>
                    <a:pt x="72957" y="0"/>
                  </a:cubicBezTo>
                  <a:close/>
                </a:path>
              </a:pathLst>
            </a:custGeom>
            <a:gradFill rotWithShape="true">
              <a:gsLst>
                <a:gs pos="0">
                  <a:srgbClr val="9B9B9B">
                    <a:alpha val="28000"/>
                  </a:srgbClr>
                </a:gs>
                <a:gs pos="25000">
                  <a:srgbClr val="FFFFFF">
                    <a:alpha val="29000"/>
                  </a:srgbClr>
                </a:gs>
                <a:gs pos="50000">
                  <a:srgbClr val="FFFFFF">
                    <a:alpha val="44500"/>
                  </a:srgbClr>
                </a:gs>
                <a:gs pos="75000">
                  <a:srgbClr val="FFFFFF">
                    <a:alpha val="29000"/>
                  </a:srgbClr>
                </a:gs>
                <a:gs pos="100000">
                  <a:srgbClr val="9B9B9B">
                    <a:alpha val="28000"/>
                  </a:srgbClr>
                </a:gs>
              </a:gsLst>
              <a:lin ang="2700000"/>
            </a:grad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8" id="8"/>
            <p:cNvSpPr txBox="true"/>
            <p:nvPr/>
          </p:nvSpPr>
          <p:spPr>
            <a:xfrm>
              <a:off x="0" y="-47625"/>
              <a:ext cx="167376" cy="193540"/>
            </a:xfrm>
            <a:prstGeom prst="rect">
              <a:avLst/>
            </a:prstGeom>
          </p:spPr>
          <p:txBody>
            <a:bodyPr anchor="ctr" rtlCol="false" tIns="50800" lIns="50800" bIns="50800" rIns="50800"/>
            <a:lstStyle/>
            <a:p>
              <a:pPr algn="ctr">
                <a:lnSpc>
                  <a:spcPts val="3359"/>
                </a:lnSpc>
              </a:pPr>
            </a:p>
          </p:txBody>
        </p:sp>
      </p:grpSp>
      <p:grpSp>
        <p:nvGrpSpPr>
          <p:cNvPr name="Group 9" id="9"/>
          <p:cNvGrpSpPr/>
          <p:nvPr/>
        </p:nvGrpSpPr>
        <p:grpSpPr>
          <a:xfrm rot="0">
            <a:off x="13913154" y="391766"/>
            <a:ext cx="2743897" cy="554019"/>
            <a:chOff x="0" y="0"/>
            <a:chExt cx="722672" cy="145915"/>
          </a:xfrm>
        </p:grpSpPr>
        <p:sp>
          <p:nvSpPr>
            <p:cNvPr name="Freeform 10" id="10"/>
            <p:cNvSpPr/>
            <p:nvPr/>
          </p:nvSpPr>
          <p:spPr>
            <a:xfrm flipH="false" flipV="false" rot="0">
              <a:off x="0" y="0"/>
              <a:ext cx="722672" cy="145915"/>
            </a:xfrm>
            <a:custGeom>
              <a:avLst/>
              <a:gdLst/>
              <a:ahLst/>
              <a:cxnLst/>
              <a:rect r="r" b="b" t="t" l="l"/>
              <a:pathLst>
                <a:path h="145915" w="722672">
                  <a:moveTo>
                    <a:pt x="72957" y="0"/>
                  </a:moveTo>
                  <a:lnTo>
                    <a:pt x="649715" y="0"/>
                  </a:lnTo>
                  <a:cubicBezTo>
                    <a:pt x="690008" y="0"/>
                    <a:pt x="722672" y="32664"/>
                    <a:pt x="722672" y="72957"/>
                  </a:cubicBezTo>
                  <a:lnTo>
                    <a:pt x="722672" y="72957"/>
                  </a:lnTo>
                  <a:cubicBezTo>
                    <a:pt x="722672" y="113250"/>
                    <a:pt x="690008" y="145915"/>
                    <a:pt x="649715" y="145915"/>
                  </a:cubicBezTo>
                  <a:lnTo>
                    <a:pt x="72957" y="145915"/>
                  </a:lnTo>
                  <a:cubicBezTo>
                    <a:pt x="32664" y="145915"/>
                    <a:pt x="0" y="113250"/>
                    <a:pt x="0" y="72957"/>
                  </a:cubicBezTo>
                  <a:lnTo>
                    <a:pt x="0" y="72957"/>
                  </a:lnTo>
                  <a:cubicBezTo>
                    <a:pt x="0" y="32664"/>
                    <a:pt x="32664" y="0"/>
                    <a:pt x="72957" y="0"/>
                  </a:cubicBezTo>
                  <a:close/>
                </a:path>
              </a:pathLst>
            </a:custGeom>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11" id="11"/>
            <p:cNvSpPr txBox="true"/>
            <p:nvPr/>
          </p:nvSpPr>
          <p:spPr>
            <a:xfrm>
              <a:off x="0" y="-47625"/>
              <a:ext cx="722672" cy="193540"/>
            </a:xfrm>
            <a:prstGeom prst="rect">
              <a:avLst/>
            </a:prstGeom>
          </p:spPr>
          <p:txBody>
            <a:bodyPr anchor="ctr" rtlCol="false" tIns="50800" lIns="50800" bIns="50800" rIns="50800"/>
            <a:lstStyle/>
            <a:p>
              <a:pPr algn="ctr">
                <a:lnSpc>
                  <a:spcPts val="3359"/>
                </a:lnSpc>
              </a:pPr>
            </a:p>
          </p:txBody>
        </p:sp>
      </p:grpSp>
      <p:grpSp>
        <p:nvGrpSpPr>
          <p:cNvPr name="Group 12" id="12"/>
          <p:cNvGrpSpPr/>
          <p:nvPr/>
        </p:nvGrpSpPr>
        <p:grpSpPr>
          <a:xfrm rot="0">
            <a:off x="6476000" y="391766"/>
            <a:ext cx="3341946" cy="554019"/>
            <a:chOff x="0" y="0"/>
            <a:chExt cx="880183" cy="145915"/>
          </a:xfrm>
        </p:grpSpPr>
        <p:sp>
          <p:nvSpPr>
            <p:cNvPr name="Freeform 13" id="13"/>
            <p:cNvSpPr/>
            <p:nvPr/>
          </p:nvSpPr>
          <p:spPr>
            <a:xfrm flipH="false" flipV="false" rot="0">
              <a:off x="0" y="0"/>
              <a:ext cx="880183" cy="145915"/>
            </a:xfrm>
            <a:custGeom>
              <a:avLst/>
              <a:gdLst/>
              <a:ahLst/>
              <a:cxnLst/>
              <a:rect r="r" b="b" t="t" l="l"/>
              <a:pathLst>
                <a:path h="145915" w="880183">
                  <a:moveTo>
                    <a:pt x="72957" y="0"/>
                  </a:moveTo>
                  <a:lnTo>
                    <a:pt x="807226" y="0"/>
                  </a:lnTo>
                  <a:cubicBezTo>
                    <a:pt x="847519" y="0"/>
                    <a:pt x="880183" y="32664"/>
                    <a:pt x="880183" y="72957"/>
                  </a:cubicBezTo>
                  <a:lnTo>
                    <a:pt x="880183" y="72957"/>
                  </a:lnTo>
                  <a:cubicBezTo>
                    <a:pt x="880183" y="113250"/>
                    <a:pt x="847519" y="145915"/>
                    <a:pt x="807226" y="145915"/>
                  </a:cubicBezTo>
                  <a:lnTo>
                    <a:pt x="72957" y="145915"/>
                  </a:lnTo>
                  <a:cubicBezTo>
                    <a:pt x="32664" y="145915"/>
                    <a:pt x="0" y="113250"/>
                    <a:pt x="0" y="72957"/>
                  </a:cubicBezTo>
                  <a:lnTo>
                    <a:pt x="0" y="72957"/>
                  </a:lnTo>
                  <a:cubicBezTo>
                    <a:pt x="0" y="32664"/>
                    <a:pt x="32664" y="0"/>
                    <a:pt x="72957" y="0"/>
                  </a:cubicBezTo>
                  <a:close/>
                </a:path>
              </a:pathLst>
            </a:custGeom>
            <a:solidFill>
              <a:srgbClr val="FFFFFF"/>
            </a:solid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14" id="14"/>
            <p:cNvSpPr txBox="true"/>
            <p:nvPr/>
          </p:nvSpPr>
          <p:spPr>
            <a:xfrm>
              <a:off x="0" y="-47625"/>
              <a:ext cx="880183" cy="193540"/>
            </a:xfrm>
            <a:prstGeom prst="rect">
              <a:avLst/>
            </a:prstGeom>
          </p:spPr>
          <p:txBody>
            <a:bodyPr anchor="ctr" rtlCol="false" tIns="50800" lIns="50800" bIns="50800" rIns="50800"/>
            <a:lstStyle/>
            <a:p>
              <a:pPr algn="ctr">
                <a:lnSpc>
                  <a:spcPts val="3359"/>
                </a:lnSpc>
              </a:pPr>
            </a:p>
          </p:txBody>
        </p:sp>
      </p:grpSp>
      <p:sp>
        <p:nvSpPr>
          <p:cNvPr name="AutoShape 15" id="15"/>
          <p:cNvSpPr/>
          <p:nvPr/>
        </p:nvSpPr>
        <p:spPr>
          <a:xfrm>
            <a:off x="477889" y="3841062"/>
            <a:ext cx="9560751" cy="0"/>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
        <p:nvSpPr>
          <p:cNvPr name="AutoShape 16" id="16"/>
          <p:cNvSpPr/>
          <p:nvPr/>
        </p:nvSpPr>
        <p:spPr>
          <a:xfrm>
            <a:off x="477889" y="6083801"/>
            <a:ext cx="9560751" cy="0"/>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
        <p:nvSpPr>
          <p:cNvPr name="AutoShape 17" id="17"/>
          <p:cNvSpPr/>
          <p:nvPr/>
        </p:nvSpPr>
        <p:spPr>
          <a:xfrm>
            <a:off x="-417053" y="1167061"/>
            <a:ext cx="19109210" cy="0"/>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
        <p:nvSpPr>
          <p:cNvPr name="AutoShape 18" id="18"/>
          <p:cNvSpPr/>
          <p:nvPr/>
        </p:nvSpPr>
        <p:spPr>
          <a:xfrm flipV="true">
            <a:off x="10038640" y="9780309"/>
            <a:ext cx="8653516" cy="0"/>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
        <p:nvSpPr>
          <p:cNvPr name="TextBox 19" id="19"/>
          <p:cNvSpPr txBox="true"/>
          <p:nvPr/>
        </p:nvSpPr>
        <p:spPr>
          <a:xfrm rot="0">
            <a:off x="1383454" y="471410"/>
            <a:ext cx="2385672" cy="382270"/>
          </a:xfrm>
          <a:prstGeom prst="rect">
            <a:avLst/>
          </a:prstGeom>
        </p:spPr>
        <p:txBody>
          <a:bodyPr anchor="t" rtlCol="false" tIns="0" lIns="0" bIns="0" rIns="0">
            <a:spAutoFit/>
          </a:bodyPr>
          <a:lstStyle/>
          <a:p>
            <a:pPr algn="l">
              <a:lnSpc>
                <a:spcPts val="3079"/>
              </a:lnSpc>
            </a:pPr>
            <a:r>
              <a:rPr lang="en-US" sz="2199" spc="-142">
                <a:solidFill>
                  <a:srgbClr val="FFFFFF"/>
                </a:solidFill>
                <a:latin typeface="TS Qamus"/>
                <a:ea typeface="TS Qamus"/>
                <a:cs typeface="TS Qamus"/>
                <a:sym typeface="TS Qamus"/>
              </a:rPr>
              <a:t>Salford &amp; Co.</a:t>
            </a:r>
          </a:p>
        </p:txBody>
      </p:sp>
      <p:sp>
        <p:nvSpPr>
          <p:cNvPr name="TextBox 20" id="20"/>
          <p:cNvSpPr txBox="true"/>
          <p:nvPr/>
        </p:nvSpPr>
        <p:spPr>
          <a:xfrm rot="0">
            <a:off x="14170902" y="477323"/>
            <a:ext cx="2228402" cy="325755"/>
          </a:xfrm>
          <a:prstGeom prst="rect">
            <a:avLst/>
          </a:prstGeom>
        </p:spPr>
        <p:txBody>
          <a:bodyPr anchor="t" rtlCol="false" tIns="0" lIns="0" bIns="0" rIns="0">
            <a:spAutoFit/>
          </a:bodyPr>
          <a:lstStyle/>
          <a:p>
            <a:pPr algn="ctr">
              <a:lnSpc>
                <a:spcPts val="2520"/>
              </a:lnSpc>
            </a:pPr>
            <a:r>
              <a:rPr lang="en-US" sz="1800" spc="-117">
                <a:solidFill>
                  <a:srgbClr val="FFFFFF"/>
                </a:solidFill>
                <a:latin typeface="Poppins"/>
                <a:ea typeface="Poppins"/>
                <a:cs typeface="Poppins"/>
                <a:sym typeface="Poppins"/>
              </a:rPr>
              <a:t>6 August, 2025</a:t>
            </a:r>
          </a:p>
        </p:txBody>
      </p:sp>
      <p:sp>
        <p:nvSpPr>
          <p:cNvPr name="TextBox 21" id="21"/>
          <p:cNvSpPr txBox="true"/>
          <p:nvPr/>
        </p:nvSpPr>
        <p:spPr>
          <a:xfrm rot="0">
            <a:off x="6740220" y="477323"/>
            <a:ext cx="2820551" cy="325755"/>
          </a:xfrm>
          <a:prstGeom prst="rect">
            <a:avLst/>
          </a:prstGeom>
        </p:spPr>
        <p:txBody>
          <a:bodyPr anchor="t" rtlCol="false" tIns="0" lIns="0" bIns="0" rIns="0">
            <a:spAutoFit/>
          </a:bodyPr>
          <a:lstStyle/>
          <a:p>
            <a:pPr algn="ctr">
              <a:lnSpc>
                <a:spcPts val="2520"/>
              </a:lnSpc>
            </a:pPr>
            <a:r>
              <a:rPr lang="en-US" sz="1800" spc="-117">
                <a:solidFill>
                  <a:srgbClr val="000000"/>
                </a:solidFill>
                <a:latin typeface="Poppins"/>
                <a:ea typeface="Poppins"/>
                <a:cs typeface="Poppins"/>
                <a:sym typeface="Poppins"/>
              </a:rPr>
              <a:t>Social</a:t>
            </a:r>
            <a:r>
              <a:rPr lang="en-US" sz="1800" spc="-117">
                <a:solidFill>
                  <a:srgbClr val="000000"/>
                </a:solidFill>
                <a:latin typeface="Poppins"/>
                <a:ea typeface="Poppins"/>
                <a:cs typeface="Poppins"/>
                <a:sym typeface="Poppins"/>
              </a:rPr>
              <a:t> Media Proposal</a:t>
            </a:r>
          </a:p>
        </p:txBody>
      </p:sp>
      <p:sp>
        <p:nvSpPr>
          <p:cNvPr name="TextBox 22" id="22"/>
          <p:cNvSpPr txBox="true"/>
          <p:nvPr/>
        </p:nvSpPr>
        <p:spPr>
          <a:xfrm rot="0">
            <a:off x="926388" y="3383297"/>
            <a:ext cx="8555075" cy="4215765"/>
          </a:xfrm>
          <a:prstGeom prst="rect">
            <a:avLst/>
          </a:prstGeom>
        </p:spPr>
        <p:txBody>
          <a:bodyPr anchor="t" rtlCol="false" tIns="0" lIns="0" bIns="0" rIns="0">
            <a:spAutoFit/>
          </a:bodyPr>
          <a:lstStyle/>
          <a:p>
            <a:pPr algn="l">
              <a:lnSpc>
                <a:spcPts val="10680"/>
              </a:lnSpc>
            </a:pPr>
            <a:r>
              <a:rPr lang="en-US" sz="12000" spc="-144" b="true">
                <a:solidFill>
                  <a:srgbClr val="FFFFFF"/>
                </a:solidFill>
                <a:latin typeface="Geometrica Sans Medium"/>
                <a:ea typeface="Geometrica Sans Medium"/>
                <a:cs typeface="Geometrica Sans Medium"/>
                <a:sym typeface="Geometrica Sans Medium"/>
              </a:rPr>
              <a:t>HASIL EKSPERIMEN &amp; EVALUASI</a:t>
            </a:r>
          </a:p>
        </p:txBody>
      </p:sp>
      <p:grpSp>
        <p:nvGrpSpPr>
          <p:cNvPr name="Group 23" id="23"/>
          <p:cNvGrpSpPr/>
          <p:nvPr/>
        </p:nvGrpSpPr>
        <p:grpSpPr>
          <a:xfrm rot="0">
            <a:off x="11461010" y="2021233"/>
            <a:ext cx="8925680" cy="6971915"/>
            <a:chOff x="0" y="0"/>
            <a:chExt cx="1382821" cy="1080132"/>
          </a:xfrm>
        </p:grpSpPr>
        <p:sp>
          <p:nvSpPr>
            <p:cNvPr name="Freeform 24" id="24"/>
            <p:cNvSpPr/>
            <p:nvPr/>
          </p:nvSpPr>
          <p:spPr>
            <a:xfrm flipH="false" flipV="false" rot="0">
              <a:off x="0" y="0"/>
              <a:ext cx="1382821" cy="1080132"/>
            </a:xfrm>
            <a:custGeom>
              <a:avLst/>
              <a:gdLst/>
              <a:ahLst/>
              <a:cxnLst/>
              <a:rect r="r" b="b" t="t" l="l"/>
              <a:pathLst>
                <a:path h="1080132" w="1382821">
                  <a:moveTo>
                    <a:pt x="34695" y="0"/>
                  </a:moveTo>
                  <a:lnTo>
                    <a:pt x="1348126" y="0"/>
                  </a:lnTo>
                  <a:cubicBezTo>
                    <a:pt x="1357328" y="0"/>
                    <a:pt x="1366153" y="3655"/>
                    <a:pt x="1372659" y="10162"/>
                  </a:cubicBezTo>
                  <a:cubicBezTo>
                    <a:pt x="1379166" y="16669"/>
                    <a:pt x="1382821" y="25493"/>
                    <a:pt x="1382821" y="34695"/>
                  </a:cubicBezTo>
                  <a:lnTo>
                    <a:pt x="1382821" y="1045437"/>
                  </a:lnTo>
                  <a:cubicBezTo>
                    <a:pt x="1382821" y="1064599"/>
                    <a:pt x="1367288" y="1080132"/>
                    <a:pt x="1348126" y="1080132"/>
                  </a:cubicBezTo>
                  <a:lnTo>
                    <a:pt x="34695" y="1080132"/>
                  </a:lnTo>
                  <a:cubicBezTo>
                    <a:pt x="25493" y="1080132"/>
                    <a:pt x="16669" y="1076477"/>
                    <a:pt x="10162" y="1069970"/>
                  </a:cubicBezTo>
                  <a:cubicBezTo>
                    <a:pt x="3655" y="1063463"/>
                    <a:pt x="0" y="1054639"/>
                    <a:pt x="0" y="1045437"/>
                  </a:cubicBezTo>
                  <a:lnTo>
                    <a:pt x="0" y="34695"/>
                  </a:lnTo>
                  <a:cubicBezTo>
                    <a:pt x="0" y="15533"/>
                    <a:pt x="15533" y="0"/>
                    <a:pt x="34695" y="0"/>
                  </a:cubicBezTo>
                  <a:close/>
                </a:path>
              </a:pathLst>
            </a:custGeom>
            <a:blipFill>
              <a:blip r:embed="rId5"/>
              <a:stretch>
                <a:fillRect l="-8619" t="0" r="-8619" b="0"/>
              </a:stretch>
            </a:blipFill>
            <a:ln w="19050"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sp>
        <p:nvSpPr>
          <p:cNvPr name="AutoShape 25" id="25"/>
          <p:cNvSpPr/>
          <p:nvPr/>
        </p:nvSpPr>
        <p:spPr>
          <a:xfrm>
            <a:off x="6223588" y="-468675"/>
            <a:ext cx="0" cy="1635737"/>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1777" r="0" b="-1777"/>
            </a:stretch>
          </a:blipFill>
        </p:spPr>
      </p:sp>
      <p:sp>
        <p:nvSpPr>
          <p:cNvPr name="AutoShape 3" id="3"/>
          <p:cNvSpPr/>
          <p:nvPr/>
        </p:nvSpPr>
        <p:spPr>
          <a:xfrm>
            <a:off x="10038640" y="-468675"/>
            <a:ext cx="0" cy="11118486"/>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
        <p:nvSpPr>
          <p:cNvPr name="AutoShape 4" id="4"/>
          <p:cNvSpPr/>
          <p:nvPr/>
        </p:nvSpPr>
        <p:spPr>
          <a:xfrm>
            <a:off x="477889" y="-448043"/>
            <a:ext cx="0" cy="11118486"/>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
        <p:nvSpPr>
          <p:cNvPr name="Freeform 5" id="5"/>
          <p:cNvSpPr/>
          <p:nvPr/>
        </p:nvSpPr>
        <p:spPr>
          <a:xfrm flipH="false" flipV="false" rot="0">
            <a:off x="783373" y="515779"/>
            <a:ext cx="443469" cy="305994"/>
          </a:xfrm>
          <a:custGeom>
            <a:avLst/>
            <a:gdLst/>
            <a:ahLst/>
            <a:cxnLst/>
            <a:rect r="r" b="b" t="t" l="l"/>
            <a:pathLst>
              <a:path h="305994" w="443469">
                <a:moveTo>
                  <a:pt x="0" y="0"/>
                </a:moveTo>
                <a:lnTo>
                  <a:pt x="443469" y="0"/>
                </a:lnTo>
                <a:lnTo>
                  <a:pt x="443469" y="305993"/>
                </a:lnTo>
                <a:lnTo>
                  <a:pt x="0" y="30599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16845300" y="391766"/>
            <a:ext cx="635507" cy="554019"/>
            <a:chOff x="0" y="0"/>
            <a:chExt cx="167376" cy="145915"/>
          </a:xfrm>
        </p:grpSpPr>
        <p:sp>
          <p:nvSpPr>
            <p:cNvPr name="Freeform 7" id="7"/>
            <p:cNvSpPr/>
            <p:nvPr/>
          </p:nvSpPr>
          <p:spPr>
            <a:xfrm flipH="false" flipV="false" rot="0">
              <a:off x="0" y="0"/>
              <a:ext cx="167376" cy="145915"/>
            </a:xfrm>
            <a:custGeom>
              <a:avLst/>
              <a:gdLst/>
              <a:ahLst/>
              <a:cxnLst/>
              <a:rect r="r" b="b" t="t" l="l"/>
              <a:pathLst>
                <a:path h="145915" w="167376">
                  <a:moveTo>
                    <a:pt x="72957" y="0"/>
                  </a:moveTo>
                  <a:lnTo>
                    <a:pt x="94419" y="0"/>
                  </a:lnTo>
                  <a:cubicBezTo>
                    <a:pt x="134712" y="0"/>
                    <a:pt x="167376" y="32664"/>
                    <a:pt x="167376" y="72957"/>
                  </a:cubicBezTo>
                  <a:lnTo>
                    <a:pt x="167376" y="72957"/>
                  </a:lnTo>
                  <a:cubicBezTo>
                    <a:pt x="167376" y="113250"/>
                    <a:pt x="134712" y="145915"/>
                    <a:pt x="94419" y="145915"/>
                  </a:cubicBezTo>
                  <a:lnTo>
                    <a:pt x="72957" y="145915"/>
                  </a:lnTo>
                  <a:cubicBezTo>
                    <a:pt x="32664" y="145915"/>
                    <a:pt x="0" y="113250"/>
                    <a:pt x="0" y="72957"/>
                  </a:cubicBezTo>
                  <a:lnTo>
                    <a:pt x="0" y="72957"/>
                  </a:lnTo>
                  <a:cubicBezTo>
                    <a:pt x="0" y="32664"/>
                    <a:pt x="32664" y="0"/>
                    <a:pt x="72957" y="0"/>
                  </a:cubicBezTo>
                  <a:close/>
                </a:path>
              </a:pathLst>
            </a:custGeom>
            <a:gradFill rotWithShape="true">
              <a:gsLst>
                <a:gs pos="0">
                  <a:srgbClr val="9B9B9B">
                    <a:alpha val="28000"/>
                  </a:srgbClr>
                </a:gs>
                <a:gs pos="25000">
                  <a:srgbClr val="FFFFFF">
                    <a:alpha val="29000"/>
                  </a:srgbClr>
                </a:gs>
                <a:gs pos="50000">
                  <a:srgbClr val="FFFFFF">
                    <a:alpha val="44500"/>
                  </a:srgbClr>
                </a:gs>
                <a:gs pos="75000">
                  <a:srgbClr val="FFFFFF">
                    <a:alpha val="29000"/>
                  </a:srgbClr>
                </a:gs>
                <a:gs pos="100000">
                  <a:srgbClr val="9B9B9B">
                    <a:alpha val="28000"/>
                  </a:srgbClr>
                </a:gs>
              </a:gsLst>
              <a:lin ang="2700000"/>
            </a:grad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8" id="8"/>
            <p:cNvSpPr txBox="true"/>
            <p:nvPr/>
          </p:nvSpPr>
          <p:spPr>
            <a:xfrm>
              <a:off x="0" y="-47625"/>
              <a:ext cx="167376" cy="193540"/>
            </a:xfrm>
            <a:prstGeom prst="rect">
              <a:avLst/>
            </a:prstGeom>
          </p:spPr>
          <p:txBody>
            <a:bodyPr anchor="ctr" rtlCol="false" tIns="50800" lIns="50800" bIns="50800" rIns="50800"/>
            <a:lstStyle/>
            <a:p>
              <a:pPr algn="ctr">
                <a:lnSpc>
                  <a:spcPts val="3359"/>
                </a:lnSpc>
              </a:pPr>
            </a:p>
          </p:txBody>
        </p:sp>
      </p:grpSp>
      <p:grpSp>
        <p:nvGrpSpPr>
          <p:cNvPr name="Group 9" id="9"/>
          <p:cNvGrpSpPr/>
          <p:nvPr/>
        </p:nvGrpSpPr>
        <p:grpSpPr>
          <a:xfrm rot="0">
            <a:off x="13913154" y="391766"/>
            <a:ext cx="2743897" cy="554019"/>
            <a:chOff x="0" y="0"/>
            <a:chExt cx="722672" cy="145915"/>
          </a:xfrm>
        </p:grpSpPr>
        <p:sp>
          <p:nvSpPr>
            <p:cNvPr name="Freeform 10" id="10"/>
            <p:cNvSpPr/>
            <p:nvPr/>
          </p:nvSpPr>
          <p:spPr>
            <a:xfrm flipH="false" flipV="false" rot="0">
              <a:off x="0" y="0"/>
              <a:ext cx="722672" cy="145915"/>
            </a:xfrm>
            <a:custGeom>
              <a:avLst/>
              <a:gdLst/>
              <a:ahLst/>
              <a:cxnLst/>
              <a:rect r="r" b="b" t="t" l="l"/>
              <a:pathLst>
                <a:path h="145915" w="722672">
                  <a:moveTo>
                    <a:pt x="72957" y="0"/>
                  </a:moveTo>
                  <a:lnTo>
                    <a:pt x="649715" y="0"/>
                  </a:lnTo>
                  <a:cubicBezTo>
                    <a:pt x="690008" y="0"/>
                    <a:pt x="722672" y="32664"/>
                    <a:pt x="722672" y="72957"/>
                  </a:cubicBezTo>
                  <a:lnTo>
                    <a:pt x="722672" y="72957"/>
                  </a:lnTo>
                  <a:cubicBezTo>
                    <a:pt x="722672" y="113250"/>
                    <a:pt x="690008" y="145915"/>
                    <a:pt x="649715" y="145915"/>
                  </a:cubicBezTo>
                  <a:lnTo>
                    <a:pt x="72957" y="145915"/>
                  </a:lnTo>
                  <a:cubicBezTo>
                    <a:pt x="32664" y="145915"/>
                    <a:pt x="0" y="113250"/>
                    <a:pt x="0" y="72957"/>
                  </a:cubicBezTo>
                  <a:lnTo>
                    <a:pt x="0" y="72957"/>
                  </a:lnTo>
                  <a:cubicBezTo>
                    <a:pt x="0" y="32664"/>
                    <a:pt x="32664" y="0"/>
                    <a:pt x="72957" y="0"/>
                  </a:cubicBezTo>
                  <a:close/>
                </a:path>
              </a:pathLst>
            </a:custGeom>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11" id="11"/>
            <p:cNvSpPr txBox="true"/>
            <p:nvPr/>
          </p:nvSpPr>
          <p:spPr>
            <a:xfrm>
              <a:off x="0" y="-47625"/>
              <a:ext cx="722672" cy="193540"/>
            </a:xfrm>
            <a:prstGeom prst="rect">
              <a:avLst/>
            </a:prstGeom>
          </p:spPr>
          <p:txBody>
            <a:bodyPr anchor="ctr" rtlCol="false" tIns="50800" lIns="50800" bIns="50800" rIns="50800"/>
            <a:lstStyle/>
            <a:p>
              <a:pPr algn="ctr">
                <a:lnSpc>
                  <a:spcPts val="3359"/>
                </a:lnSpc>
              </a:pPr>
            </a:p>
          </p:txBody>
        </p:sp>
      </p:grpSp>
      <p:sp>
        <p:nvSpPr>
          <p:cNvPr name="AutoShape 12" id="12"/>
          <p:cNvSpPr/>
          <p:nvPr/>
        </p:nvSpPr>
        <p:spPr>
          <a:xfrm>
            <a:off x="477889" y="3841062"/>
            <a:ext cx="18214268" cy="0"/>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
        <p:nvSpPr>
          <p:cNvPr name="AutoShape 13" id="13"/>
          <p:cNvSpPr/>
          <p:nvPr/>
        </p:nvSpPr>
        <p:spPr>
          <a:xfrm>
            <a:off x="-417053" y="1167061"/>
            <a:ext cx="19109210" cy="0"/>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grpSp>
        <p:nvGrpSpPr>
          <p:cNvPr name="Group 14" id="14"/>
          <p:cNvGrpSpPr/>
          <p:nvPr/>
        </p:nvGrpSpPr>
        <p:grpSpPr>
          <a:xfrm rot="0">
            <a:off x="10999668" y="1533774"/>
            <a:ext cx="6811098" cy="9343448"/>
            <a:chOff x="0" y="0"/>
            <a:chExt cx="1055217" cy="1447545"/>
          </a:xfrm>
        </p:grpSpPr>
        <p:sp>
          <p:nvSpPr>
            <p:cNvPr name="Freeform 15" id="15"/>
            <p:cNvSpPr/>
            <p:nvPr/>
          </p:nvSpPr>
          <p:spPr>
            <a:xfrm flipH="false" flipV="false" rot="0">
              <a:off x="0" y="0"/>
              <a:ext cx="1055217" cy="1447545"/>
            </a:xfrm>
            <a:custGeom>
              <a:avLst/>
              <a:gdLst/>
              <a:ahLst/>
              <a:cxnLst/>
              <a:rect r="r" b="b" t="t" l="l"/>
              <a:pathLst>
                <a:path h="1447545" w="1055217">
                  <a:moveTo>
                    <a:pt x="45467" y="0"/>
                  </a:moveTo>
                  <a:lnTo>
                    <a:pt x="1009751" y="0"/>
                  </a:lnTo>
                  <a:cubicBezTo>
                    <a:pt x="1021809" y="0"/>
                    <a:pt x="1033374" y="4790"/>
                    <a:pt x="1041900" y="13317"/>
                  </a:cubicBezTo>
                  <a:cubicBezTo>
                    <a:pt x="1050427" y="21843"/>
                    <a:pt x="1055217" y="33408"/>
                    <a:pt x="1055217" y="45467"/>
                  </a:cubicBezTo>
                  <a:lnTo>
                    <a:pt x="1055217" y="1402078"/>
                  </a:lnTo>
                  <a:cubicBezTo>
                    <a:pt x="1055217" y="1414137"/>
                    <a:pt x="1050427" y="1425701"/>
                    <a:pt x="1041900" y="1434228"/>
                  </a:cubicBezTo>
                  <a:cubicBezTo>
                    <a:pt x="1033374" y="1442754"/>
                    <a:pt x="1021809" y="1447545"/>
                    <a:pt x="1009751" y="1447545"/>
                  </a:cubicBezTo>
                  <a:lnTo>
                    <a:pt x="45467" y="1447545"/>
                  </a:lnTo>
                  <a:cubicBezTo>
                    <a:pt x="33408" y="1447545"/>
                    <a:pt x="21843" y="1442754"/>
                    <a:pt x="13317" y="1434228"/>
                  </a:cubicBezTo>
                  <a:cubicBezTo>
                    <a:pt x="4790" y="1425701"/>
                    <a:pt x="0" y="1414137"/>
                    <a:pt x="0" y="1402078"/>
                  </a:cubicBezTo>
                  <a:lnTo>
                    <a:pt x="0" y="45467"/>
                  </a:lnTo>
                  <a:cubicBezTo>
                    <a:pt x="0" y="33408"/>
                    <a:pt x="4790" y="21843"/>
                    <a:pt x="13317" y="13317"/>
                  </a:cubicBezTo>
                  <a:cubicBezTo>
                    <a:pt x="21843" y="4790"/>
                    <a:pt x="33408" y="0"/>
                    <a:pt x="45467" y="0"/>
                  </a:cubicBezTo>
                  <a:close/>
                </a:path>
              </a:pathLst>
            </a:custGeom>
            <a:blipFill>
              <a:blip r:embed="rId5"/>
              <a:stretch>
                <a:fillRect l="-29734" t="0" r="-75778" b="0"/>
              </a:stretch>
            </a:blipFill>
            <a:ln w="19050"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sp>
        <p:nvSpPr>
          <p:cNvPr name="TextBox 16" id="16"/>
          <p:cNvSpPr txBox="true"/>
          <p:nvPr/>
        </p:nvSpPr>
        <p:spPr>
          <a:xfrm rot="0">
            <a:off x="1383454" y="471410"/>
            <a:ext cx="2385672" cy="382270"/>
          </a:xfrm>
          <a:prstGeom prst="rect">
            <a:avLst/>
          </a:prstGeom>
        </p:spPr>
        <p:txBody>
          <a:bodyPr anchor="t" rtlCol="false" tIns="0" lIns="0" bIns="0" rIns="0">
            <a:spAutoFit/>
          </a:bodyPr>
          <a:lstStyle/>
          <a:p>
            <a:pPr algn="l">
              <a:lnSpc>
                <a:spcPts val="3079"/>
              </a:lnSpc>
            </a:pPr>
            <a:r>
              <a:rPr lang="en-US" sz="2199" spc="-142">
                <a:solidFill>
                  <a:srgbClr val="FFFFFF"/>
                </a:solidFill>
                <a:latin typeface="TS Qamus"/>
                <a:ea typeface="TS Qamus"/>
                <a:cs typeface="TS Qamus"/>
                <a:sym typeface="TS Qamus"/>
              </a:rPr>
              <a:t>Salford &amp; Co.</a:t>
            </a:r>
          </a:p>
        </p:txBody>
      </p:sp>
      <p:sp>
        <p:nvSpPr>
          <p:cNvPr name="TextBox 17" id="17"/>
          <p:cNvSpPr txBox="true"/>
          <p:nvPr/>
        </p:nvSpPr>
        <p:spPr>
          <a:xfrm rot="0">
            <a:off x="14170902" y="477323"/>
            <a:ext cx="2228402" cy="325755"/>
          </a:xfrm>
          <a:prstGeom prst="rect">
            <a:avLst/>
          </a:prstGeom>
        </p:spPr>
        <p:txBody>
          <a:bodyPr anchor="t" rtlCol="false" tIns="0" lIns="0" bIns="0" rIns="0">
            <a:spAutoFit/>
          </a:bodyPr>
          <a:lstStyle/>
          <a:p>
            <a:pPr algn="ctr">
              <a:lnSpc>
                <a:spcPts val="2520"/>
              </a:lnSpc>
            </a:pPr>
            <a:r>
              <a:rPr lang="en-US" sz="1800" spc="-117">
                <a:solidFill>
                  <a:srgbClr val="FFFFFF"/>
                </a:solidFill>
                <a:latin typeface="Poppins"/>
                <a:ea typeface="Poppins"/>
                <a:cs typeface="Poppins"/>
                <a:sym typeface="Poppins"/>
              </a:rPr>
              <a:t>6 August, 2025</a:t>
            </a:r>
          </a:p>
        </p:txBody>
      </p:sp>
      <p:sp>
        <p:nvSpPr>
          <p:cNvPr name="TextBox 18" id="18"/>
          <p:cNvSpPr txBox="true"/>
          <p:nvPr/>
        </p:nvSpPr>
        <p:spPr>
          <a:xfrm rot="0">
            <a:off x="783373" y="1390899"/>
            <a:ext cx="9888571" cy="2247265"/>
          </a:xfrm>
          <a:prstGeom prst="rect">
            <a:avLst/>
          </a:prstGeom>
        </p:spPr>
        <p:txBody>
          <a:bodyPr anchor="t" rtlCol="false" tIns="0" lIns="0" bIns="0" rIns="0">
            <a:spAutoFit/>
          </a:bodyPr>
          <a:lstStyle/>
          <a:p>
            <a:pPr algn="l">
              <a:lnSpc>
                <a:spcPts val="8959"/>
              </a:lnSpc>
            </a:pPr>
            <a:r>
              <a:rPr lang="en-US" sz="6399" spc="-76" b="true">
                <a:solidFill>
                  <a:srgbClr val="FFFFFF"/>
                </a:solidFill>
                <a:latin typeface="Geometrica Sans Medium"/>
                <a:ea typeface="Geometrica Sans Medium"/>
                <a:cs typeface="Geometrica Sans Medium"/>
                <a:sym typeface="Geometrica Sans Medium"/>
              </a:rPr>
              <a:t>Skenario Eksperimen &amp; Desain Pengujian (A/B Testing)</a:t>
            </a:r>
          </a:p>
        </p:txBody>
      </p:sp>
      <p:grpSp>
        <p:nvGrpSpPr>
          <p:cNvPr name="Group 19" id="19"/>
          <p:cNvGrpSpPr/>
          <p:nvPr/>
        </p:nvGrpSpPr>
        <p:grpSpPr>
          <a:xfrm rot="0">
            <a:off x="6476000" y="391766"/>
            <a:ext cx="3341946" cy="554019"/>
            <a:chOff x="0" y="0"/>
            <a:chExt cx="880183" cy="145915"/>
          </a:xfrm>
        </p:grpSpPr>
        <p:sp>
          <p:nvSpPr>
            <p:cNvPr name="Freeform 20" id="20"/>
            <p:cNvSpPr/>
            <p:nvPr/>
          </p:nvSpPr>
          <p:spPr>
            <a:xfrm flipH="false" flipV="false" rot="0">
              <a:off x="0" y="0"/>
              <a:ext cx="880183" cy="145915"/>
            </a:xfrm>
            <a:custGeom>
              <a:avLst/>
              <a:gdLst/>
              <a:ahLst/>
              <a:cxnLst/>
              <a:rect r="r" b="b" t="t" l="l"/>
              <a:pathLst>
                <a:path h="145915" w="880183">
                  <a:moveTo>
                    <a:pt x="72957" y="0"/>
                  </a:moveTo>
                  <a:lnTo>
                    <a:pt x="807226" y="0"/>
                  </a:lnTo>
                  <a:cubicBezTo>
                    <a:pt x="847519" y="0"/>
                    <a:pt x="880183" y="32664"/>
                    <a:pt x="880183" y="72957"/>
                  </a:cubicBezTo>
                  <a:lnTo>
                    <a:pt x="880183" y="72957"/>
                  </a:lnTo>
                  <a:cubicBezTo>
                    <a:pt x="880183" y="113250"/>
                    <a:pt x="847519" y="145915"/>
                    <a:pt x="807226" y="145915"/>
                  </a:cubicBezTo>
                  <a:lnTo>
                    <a:pt x="72957" y="145915"/>
                  </a:lnTo>
                  <a:cubicBezTo>
                    <a:pt x="32664" y="145915"/>
                    <a:pt x="0" y="113250"/>
                    <a:pt x="0" y="72957"/>
                  </a:cubicBezTo>
                  <a:lnTo>
                    <a:pt x="0" y="72957"/>
                  </a:lnTo>
                  <a:cubicBezTo>
                    <a:pt x="0" y="32664"/>
                    <a:pt x="32664" y="0"/>
                    <a:pt x="72957" y="0"/>
                  </a:cubicBezTo>
                  <a:close/>
                </a:path>
              </a:pathLst>
            </a:custGeom>
            <a:solidFill>
              <a:srgbClr val="FFFFFF"/>
            </a:solid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21" id="21"/>
            <p:cNvSpPr txBox="true"/>
            <p:nvPr/>
          </p:nvSpPr>
          <p:spPr>
            <a:xfrm>
              <a:off x="0" y="-47625"/>
              <a:ext cx="880183" cy="193540"/>
            </a:xfrm>
            <a:prstGeom prst="rect">
              <a:avLst/>
            </a:prstGeom>
          </p:spPr>
          <p:txBody>
            <a:bodyPr anchor="ctr" rtlCol="false" tIns="50800" lIns="50800" bIns="50800" rIns="50800"/>
            <a:lstStyle/>
            <a:p>
              <a:pPr algn="ctr">
                <a:lnSpc>
                  <a:spcPts val="3359"/>
                </a:lnSpc>
              </a:pPr>
            </a:p>
          </p:txBody>
        </p:sp>
      </p:grpSp>
      <p:sp>
        <p:nvSpPr>
          <p:cNvPr name="TextBox 22" id="22"/>
          <p:cNvSpPr txBox="true"/>
          <p:nvPr/>
        </p:nvSpPr>
        <p:spPr>
          <a:xfrm rot="0">
            <a:off x="6740220" y="477323"/>
            <a:ext cx="2820551" cy="325755"/>
          </a:xfrm>
          <a:prstGeom prst="rect">
            <a:avLst/>
          </a:prstGeom>
        </p:spPr>
        <p:txBody>
          <a:bodyPr anchor="t" rtlCol="false" tIns="0" lIns="0" bIns="0" rIns="0">
            <a:spAutoFit/>
          </a:bodyPr>
          <a:lstStyle/>
          <a:p>
            <a:pPr algn="ctr">
              <a:lnSpc>
                <a:spcPts val="2520"/>
              </a:lnSpc>
            </a:pPr>
            <a:r>
              <a:rPr lang="en-US" sz="1800" spc="-117">
                <a:solidFill>
                  <a:srgbClr val="000000"/>
                </a:solidFill>
                <a:latin typeface="Poppins"/>
                <a:ea typeface="Poppins"/>
                <a:cs typeface="Poppins"/>
                <a:sym typeface="Poppins"/>
              </a:rPr>
              <a:t>Social</a:t>
            </a:r>
            <a:r>
              <a:rPr lang="en-US" sz="1800" spc="-117">
                <a:solidFill>
                  <a:srgbClr val="000000"/>
                </a:solidFill>
                <a:latin typeface="Poppins"/>
                <a:ea typeface="Poppins"/>
                <a:cs typeface="Poppins"/>
                <a:sym typeface="Poppins"/>
              </a:rPr>
              <a:t> Media Proposal</a:t>
            </a:r>
          </a:p>
        </p:txBody>
      </p:sp>
      <p:sp>
        <p:nvSpPr>
          <p:cNvPr name="AutoShape 23" id="23"/>
          <p:cNvSpPr/>
          <p:nvPr/>
        </p:nvSpPr>
        <p:spPr>
          <a:xfrm>
            <a:off x="6223588" y="-468675"/>
            <a:ext cx="0" cy="1635737"/>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grpSp>
        <p:nvGrpSpPr>
          <p:cNvPr name="Group 24" id="24"/>
          <p:cNvGrpSpPr/>
          <p:nvPr/>
        </p:nvGrpSpPr>
        <p:grpSpPr>
          <a:xfrm rot="0">
            <a:off x="783373" y="4045849"/>
            <a:ext cx="9586883" cy="1781169"/>
            <a:chOff x="0" y="0"/>
            <a:chExt cx="2524940" cy="469114"/>
          </a:xfrm>
        </p:grpSpPr>
        <p:sp>
          <p:nvSpPr>
            <p:cNvPr name="Freeform 25" id="25"/>
            <p:cNvSpPr/>
            <p:nvPr/>
          </p:nvSpPr>
          <p:spPr>
            <a:xfrm flipH="false" flipV="false" rot="0">
              <a:off x="0" y="0"/>
              <a:ext cx="2524940" cy="469114"/>
            </a:xfrm>
            <a:custGeom>
              <a:avLst/>
              <a:gdLst/>
              <a:ahLst/>
              <a:cxnLst/>
              <a:rect r="r" b="b" t="t" l="l"/>
              <a:pathLst>
                <a:path h="469114" w="2524940">
                  <a:moveTo>
                    <a:pt x="16151" y="0"/>
                  </a:moveTo>
                  <a:lnTo>
                    <a:pt x="2508789" y="0"/>
                  </a:lnTo>
                  <a:cubicBezTo>
                    <a:pt x="2513073" y="0"/>
                    <a:pt x="2517181" y="1702"/>
                    <a:pt x="2520210" y="4731"/>
                  </a:cubicBezTo>
                  <a:cubicBezTo>
                    <a:pt x="2523239" y="7759"/>
                    <a:pt x="2524940" y="11868"/>
                    <a:pt x="2524940" y="16151"/>
                  </a:cubicBezTo>
                  <a:lnTo>
                    <a:pt x="2524940" y="452963"/>
                  </a:lnTo>
                  <a:cubicBezTo>
                    <a:pt x="2524940" y="461883"/>
                    <a:pt x="2517709" y="469114"/>
                    <a:pt x="2508789" y="469114"/>
                  </a:cubicBezTo>
                  <a:lnTo>
                    <a:pt x="16151" y="469114"/>
                  </a:lnTo>
                  <a:cubicBezTo>
                    <a:pt x="7231" y="469114"/>
                    <a:pt x="0" y="461883"/>
                    <a:pt x="0" y="452963"/>
                  </a:cubicBezTo>
                  <a:lnTo>
                    <a:pt x="0" y="16151"/>
                  </a:lnTo>
                  <a:cubicBezTo>
                    <a:pt x="0" y="7231"/>
                    <a:pt x="7231" y="0"/>
                    <a:pt x="16151" y="0"/>
                  </a:cubicBezTo>
                  <a:close/>
                </a:path>
              </a:pathLst>
            </a:custGeom>
            <a:solidFill>
              <a:srgbClr val="FFFFFF"/>
            </a:solidFill>
            <a:ln w="9525" cap="sq">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miter/>
            </a:ln>
          </p:spPr>
        </p:sp>
        <p:sp>
          <p:nvSpPr>
            <p:cNvPr name="TextBox 26" id="26"/>
            <p:cNvSpPr txBox="true"/>
            <p:nvPr/>
          </p:nvSpPr>
          <p:spPr>
            <a:xfrm>
              <a:off x="0" y="-47625"/>
              <a:ext cx="2524940" cy="516739"/>
            </a:xfrm>
            <a:prstGeom prst="rect">
              <a:avLst/>
            </a:prstGeom>
          </p:spPr>
          <p:txBody>
            <a:bodyPr anchor="ctr" rtlCol="false" tIns="50800" lIns="50800" bIns="50800" rIns="50800"/>
            <a:lstStyle/>
            <a:p>
              <a:pPr algn="ctr">
                <a:lnSpc>
                  <a:spcPts val="3359"/>
                </a:lnSpc>
              </a:pPr>
            </a:p>
          </p:txBody>
        </p:sp>
      </p:grpSp>
      <p:sp>
        <p:nvSpPr>
          <p:cNvPr name="TextBox 27" id="27"/>
          <p:cNvSpPr txBox="true"/>
          <p:nvPr/>
        </p:nvSpPr>
        <p:spPr>
          <a:xfrm rot="0">
            <a:off x="1060048" y="4203453"/>
            <a:ext cx="9033533" cy="1418336"/>
          </a:xfrm>
          <a:prstGeom prst="rect">
            <a:avLst/>
          </a:prstGeom>
        </p:spPr>
        <p:txBody>
          <a:bodyPr anchor="t" rtlCol="false" tIns="0" lIns="0" bIns="0" rIns="0">
            <a:spAutoFit/>
          </a:bodyPr>
          <a:lstStyle/>
          <a:p>
            <a:pPr algn="just">
              <a:lnSpc>
                <a:spcPts val="3711"/>
              </a:lnSpc>
            </a:pPr>
            <a:r>
              <a:rPr lang="en-US" sz="2899" i="true" spc="-86">
                <a:solidFill>
                  <a:srgbClr val="4D4D4D"/>
                </a:solidFill>
                <a:latin typeface="Poppins Italics"/>
                <a:ea typeface="Poppins Italics"/>
                <a:cs typeface="Poppins Italics"/>
                <a:sym typeface="Poppins Italics"/>
              </a:rPr>
              <a:t>Metode Uji: Pengujian komparatif Before vs After pada 10 Profil Mahasiswa Tingkat Akhir (Semester 1–8 / 138 SKS).</a:t>
            </a:r>
          </a:p>
        </p:txBody>
      </p:sp>
      <p:grpSp>
        <p:nvGrpSpPr>
          <p:cNvPr name="Group 28" id="28"/>
          <p:cNvGrpSpPr/>
          <p:nvPr/>
        </p:nvGrpSpPr>
        <p:grpSpPr>
          <a:xfrm rot="0">
            <a:off x="783373" y="6169918"/>
            <a:ext cx="9586883" cy="3117785"/>
            <a:chOff x="0" y="0"/>
            <a:chExt cx="2524940" cy="821145"/>
          </a:xfrm>
        </p:grpSpPr>
        <p:sp>
          <p:nvSpPr>
            <p:cNvPr name="Freeform 29" id="29"/>
            <p:cNvSpPr/>
            <p:nvPr/>
          </p:nvSpPr>
          <p:spPr>
            <a:xfrm flipH="false" flipV="false" rot="0">
              <a:off x="0" y="0"/>
              <a:ext cx="2524940" cy="821145"/>
            </a:xfrm>
            <a:custGeom>
              <a:avLst/>
              <a:gdLst/>
              <a:ahLst/>
              <a:cxnLst/>
              <a:rect r="r" b="b" t="t" l="l"/>
              <a:pathLst>
                <a:path h="821145" w="2524940">
                  <a:moveTo>
                    <a:pt x="12921" y="0"/>
                  </a:moveTo>
                  <a:lnTo>
                    <a:pt x="2512019" y="0"/>
                  </a:lnTo>
                  <a:cubicBezTo>
                    <a:pt x="2515446" y="0"/>
                    <a:pt x="2518733" y="1361"/>
                    <a:pt x="2521156" y="3784"/>
                  </a:cubicBezTo>
                  <a:cubicBezTo>
                    <a:pt x="2523579" y="6208"/>
                    <a:pt x="2524940" y="9494"/>
                    <a:pt x="2524940" y="12921"/>
                  </a:cubicBezTo>
                  <a:lnTo>
                    <a:pt x="2524940" y="808224"/>
                  </a:lnTo>
                  <a:cubicBezTo>
                    <a:pt x="2524940" y="811651"/>
                    <a:pt x="2523579" y="814938"/>
                    <a:pt x="2521156" y="817361"/>
                  </a:cubicBezTo>
                  <a:cubicBezTo>
                    <a:pt x="2518733" y="819784"/>
                    <a:pt x="2515446" y="821145"/>
                    <a:pt x="2512019" y="821145"/>
                  </a:cubicBezTo>
                  <a:lnTo>
                    <a:pt x="12921" y="821145"/>
                  </a:lnTo>
                  <a:cubicBezTo>
                    <a:pt x="9494" y="821145"/>
                    <a:pt x="6208" y="819784"/>
                    <a:pt x="3784" y="817361"/>
                  </a:cubicBezTo>
                  <a:cubicBezTo>
                    <a:pt x="1361" y="814938"/>
                    <a:pt x="0" y="811651"/>
                    <a:pt x="0" y="808224"/>
                  </a:cubicBezTo>
                  <a:lnTo>
                    <a:pt x="0" y="12921"/>
                  </a:lnTo>
                  <a:cubicBezTo>
                    <a:pt x="0" y="9494"/>
                    <a:pt x="1361" y="6208"/>
                    <a:pt x="3784" y="3784"/>
                  </a:cubicBezTo>
                  <a:cubicBezTo>
                    <a:pt x="6208" y="1361"/>
                    <a:pt x="9494" y="0"/>
                    <a:pt x="12921" y="0"/>
                  </a:cubicBezTo>
                  <a:close/>
                </a:path>
              </a:pathLst>
            </a:custGeom>
            <a:gradFill rotWithShape="true">
              <a:gsLst>
                <a:gs pos="0">
                  <a:srgbClr val="292929">
                    <a:alpha val="100000"/>
                  </a:srgbClr>
                </a:gs>
                <a:gs pos="100000">
                  <a:srgbClr val="3F4E52">
                    <a:alpha val="100000"/>
                  </a:srgbClr>
                </a:gs>
              </a:gsLst>
              <a:lin ang="0"/>
            </a:gradFill>
            <a:ln w="9525" cap="sq">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miter/>
            </a:ln>
          </p:spPr>
        </p:sp>
        <p:sp>
          <p:nvSpPr>
            <p:cNvPr name="TextBox 30" id="30"/>
            <p:cNvSpPr txBox="true"/>
            <p:nvPr/>
          </p:nvSpPr>
          <p:spPr>
            <a:xfrm>
              <a:off x="0" y="-47625"/>
              <a:ext cx="2524940" cy="868770"/>
            </a:xfrm>
            <a:prstGeom prst="rect">
              <a:avLst/>
            </a:prstGeom>
          </p:spPr>
          <p:txBody>
            <a:bodyPr anchor="ctr" rtlCol="false" tIns="50800" lIns="50800" bIns="50800" rIns="50800"/>
            <a:lstStyle/>
            <a:p>
              <a:pPr algn="ctr">
                <a:lnSpc>
                  <a:spcPts val="3359"/>
                </a:lnSpc>
              </a:pPr>
            </a:p>
          </p:txBody>
        </p:sp>
      </p:grpSp>
      <p:sp>
        <p:nvSpPr>
          <p:cNvPr name="TextBox 31" id="31"/>
          <p:cNvSpPr txBox="true"/>
          <p:nvPr/>
        </p:nvSpPr>
        <p:spPr>
          <a:xfrm rot="0">
            <a:off x="1210893" y="6295743"/>
            <a:ext cx="9033533" cy="2818511"/>
          </a:xfrm>
          <a:prstGeom prst="rect">
            <a:avLst/>
          </a:prstGeom>
        </p:spPr>
        <p:txBody>
          <a:bodyPr anchor="t" rtlCol="false" tIns="0" lIns="0" bIns="0" rIns="0">
            <a:spAutoFit/>
          </a:bodyPr>
          <a:lstStyle/>
          <a:p>
            <a:pPr algn="just">
              <a:lnSpc>
                <a:spcPts val="3711"/>
              </a:lnSpc>
            </a:pPr>
            <a:r>
              <a:rPr lang="en-US" sz="2899" i="true" spc="-86">
                <a:solidFill>
                  <a:srgbClr val="FFFFFF"/>
                </a:solidFill>
                <a:latin typeface="Poppins Italics"/>
                <a:ea typeface="Poppins Italics"/>
                <a:cs typeface="Poppins Italics"/>
                <a:sym typeface="Poppins Italics"/>
              </a:rPr>
              <a:t>5 Klaster Peminatan Karir yang Diuji:</a:t>
            </a:r>
          </a:p>
          <a:p>
            <a:pPr algn="l" marL="626107" indent="-313054" lvl="1">
              <a:lnSpc>
                <a:spcPts val="3711"/>
              </a:lnSpc>
              <a:buFont typeface="Arial"/>
              <a:buChar char="•"/>
            </a:pPr>
            <a:r>
              <a:rPr lang="en-US" sz="2899" i="true" spc="-86">
                <a:solidFill>
                  <a:srgbClr val="FFFFFF"/>
                </a:solidFill>
                <a:latin typeface="Poppins Italics"/>
                <a:ea typeface="Poppins Italics"/>
                <a:cs typeface="Poppins Italics"/>
                <a:sym typeface="Poppins Italics"/>
              </a:rPr>
              <a:t>AI &amp; Machine Learning Specialist</a:t>
            </a:r>
          </a:p>
          <a:p>
            <a:pPr algn="l" marL="626107" indent="-313054" lvl="1">
              <a:lnSpc>
                <a:spcPts val="3711"/>
              </a:lnSpc>
              <a:buFont typeface="Arial"/>
              <a:buChar char="•"/>
            </a:pPr>
            <a:r>
              <a:rPr lang="en-US" sz="2899" i="true" spc="-86">
                <a:solidFill>
                  <a:srgbClr val="FFFFFF"/>
                </a:solidFill>
                <a:latin typeface="Poppins Italics"/>
                <a:ea typeface="Poppins Italics"/>
                <a:cs typeface="Poppins Italics"/>
                <a:sym typeface="Poppins Italics"/>
              </a:rPr>
              <a:t>Full-Stack Software Engineer</a:t>
            </a:r>
          </a:p>
          <a:p>
            <a:pPr algn="l" marL="626107" indent="-313054" lvl="1">
              <a:lnSpc>
                <a:spcPts val="3711"/>
              </a:lnSpc>
              <a:buFont typeface="Arial"/>
              <a:buChar char="•"/>
            </a:pPr>
            <a:r>
              <a:rPr lang="en-US" sz="2899" i="true" spc="-86">
                <a:solidFill>
                  <a:srgbClr val="FFFFFF"/>
                </a:solidFill>
                <a:latin typeface="Poppins Italics"/>
                <a:ea typeface="Poppins Italics"/>
                <a:cs typeface="Poppins Italics"/>
                <a:sym typeface="Poppins Italics"/>
              </a:rPr>
              <a:t>Network &amp; Cloud Infrastructure Specialist</a:t>
            </a:r>
          </a:p>
          <a:p>
            <a:pPr algn="l" marL="626107" indent="-313054" lvl="1">
              <a:lnSpc>
                <a:spcPts val="3711"/>
              </a:lnSpc>
              <a:buFont typeface="Arial"/>
              <a:buChar char="•"/>
            </a:pPr>
            <a:r>
              <a:rPr lang="en-US" sz="2899" i="true" spc="-86">
                <a:solidFill>
                  <a:srgbClr val="FFFFFF"/>
                </a:solidFill>
                <a:latin typeface="Poppins Italics"/>
                <a:ea typeface="Poppins Italics"/>
                <a:cs typeface="Poppins Italics"/>
                <a:sym typeface="Poppins Italics"/>
              </a:rPr>
              <a:t>Data / Business Analyst &amp; Enterprise Systems</a:t>
            </a:r>
          </a:p>
          <a:p>
            <a:pPr algn="l" marL="626107" indent="-313054" lvl="1">
              <a:lnSpc>
                <a:spcPts val="3711"/>
              </a:lnSpc>
              <a:buFont typeface="Arial"/>
              <a:buChar char="•"/>
            </a:pPr>
            <a:r>
              <a:rPr lang="en-US" sz="2899" i="true" spc="-86">
                <a:solidFill>
                  <a:srgbClr val="FFFFFF"/>
                </a:solidFill>
                <a:latin typeface="Poppins Italics"/>
                <a:ea typeface="Poppins Italics"/>
                <a:cs typeface="Poppins Italics"/>
                <a:sym typeface="Poppins Italics"/>
              </a:rPr>
              <a:t>SAP &amp; Enterprise Architecture Specialist</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1777" r="0" b="-1777"/>
            </a:stretch>
          </a:blipFill>
        </p:spPr>
      </p:sp>
      <p:sp>
        <p:nvSpPr>
          <p:cNvPr name="AutoShape 3" id="3"/>
          <p:cNvSpPr/>
          <p:nvPr/>
        </p:nvSpPr>
        <p:spPr>
          <a:xfrm>
            <a:off x="10038640" y="-468675"/>
            <a:ext cx="0" cy="11995723"/>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
        <p:nvSpPr>
          <p:cNvPr name="AutoShape 4" id="4"/>
          <p:cNvSpPr/>
          <p:nvPr/>
        </p:nvSpPr>
        <p:spPr>
          <a:xfrm>
            <a:off x="477889" y="-448043"/>
            <a:ext cx="0" cy="11118486"/>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
        <p:nvSpPr>
          <p:cNvPr name="Freeform 5" id="5"/>
          <p:cNvSpPr/>
          <p:nvPr/>
        </p:nvSpPr>
        <p:spPr>
          <a:xfrm flipH="false" flipV="false" rot="0">
            <a:off x="783373" y="515779"/>
            <a:ext cx="443469" cy="305994"/>
          </a:xfrm>
          <a:custGeom>
            <a:avLst/>
            <a:gdLst/>
            <a:ahLst/>
            <a:cxnLst/>
            <a:rect r="r" b="b" t="t" l="l"/>
            <a:pathLst>
              <a:path h="305994" w="443469">
                <a:moveTo>
                  <a:pt x="0" y="0"/>
                </a:moveTo>
                <a:lnTo>
                  <a:pt x="443469" y="0"/>
                </a:lnTo>
                <a:lnTo>
                  <a:pt x="443469" y="305993"/>
                </a:lnTo>
                <a:lnTo>
                  <a:pt x="0" y="30599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16845300" y="391766"/>
            <a:ext cx="635507" cy="554019"/>
            <a:chOff x="0" y="0"/>
            <a:chExt cx="167376" cy="145915"/>
          </a:xfrm>
        </p:grpSpPr>
        <p:sp>
          <p:nvSpPr>
            <p:cNvPr name="Freeform 7" id="7"/>
            <p:cNvSpPr/>
            <p:nvPr/>
          </p:nvSpPr>
          <p:spPr>
            <a:xfrm flipH="false" flipV="false" rot="0">
              <a:off x="0" y="0"/>
              <a:ext cx="167376" cy="145915"/>
            </a:xfrm>
            <a:custGeom>
              <a:avLst/>
              <a:gdLst/>
              <a:ahLst/>
              <a:cxnLst/>
              <a:rect r="r" b="b" t="t" l="l"/>
              <a:pathLst>
                <a:path h="145915" w="167376">
                  <a:moveTo>
                    <a:pt x="72957" y="0"/>
                  </a:moveTo>
                  <a:lnTo>
                    <a:pt x="94419" y="0"/>
                  </a:lnTo>
                  <a:cubicBezTo>
                    <a:pt x="134712" y="0"/>
                    <a:pt x="167376" y="32664"/>
                    <a:pt x="167376" y="72957"/>
                  </a:cubicBezTo>
                  <a:lnTo>
                    <a:pt x="167376" y="72957"/>
                  </a:lnTo>
                  <a:cubicBezTo>
                    <a:pt x="167376" y="113250"/>
                    <a:pt x="134712" y="145915"/>
                    <a:pt x="94419" y="145915"/>
                  </a:cubicBezTo>
                  <a:lnTo>
                    <a:pt x="72957" y="145915"/>
                  </a:lnTo>
                  <a:cubicBezTo>
                    <a:pt x="32664" y="145915"/>
                    <a:pt x="0" y="113250"/>
                    <a:pt x="0" y="72957"/>
                  </a:cubicBezTo>
                  <a:lnTo>
                    <a:pt x="0" y="72957"/>
                  </a:lnTo>
                  <a:cubicBezTo>
                    <a:pt x="0" y="32664"/>
                    <a:pt x="32664" y="0"/>
                    <a:pt x="72957" y="0"/>
                  </a:cubicBezTo>
                  <a:close/>
                </a:path>
              </a:pathLst>
            </a:custGeom>
            <a:gradFill rotWithShape="true">
              <a:gsLst>
                <a:gs pos="0">
                  <a:srgbClr val="9B9B9B">
                    <a:alpha val="28000"/>
                  </a:srgbClr>
                </a:gs>
                <a:gs pos="25000">
                  <a:srgbClr val="FFFFFF">
                    <a:alpha val="29000"/>
                  </a:srgbClr>
                </a:gs>
                <a:gs pos="50000">
                  <a:srgbClr val="FFFFFF">
                    <a:alpha val="44500"/>
                  </a:srgbClr>
                </a:gs>
                <a:gs pos="75000">
                  <a:srgbClr val="FFFFFF">
                    <a:alpha val="29000"/>
                  </a:srgbClr>
                </a:gs>
                <a:gs pos="100000">
                  <a:srgbClr val="9B9B9B">
                    <a:alpha val="28000"/>
                  </a:srgbClr>
                </a:gs>
              </a:gsLst>
              <a:lin ang="2700000"/>
            </a:grad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8" id="8"/>
            <p:cNvSpPr txBox="true"/>
            <p:nvPr/>
          </p:nvSpPr>
          <p:spPr>
            <a:xfrm>
              <a:off x="0" y="-47625"/>
              <a:ext cx="167376" cy="193540"/>
            </a:xfrm>
            <a:prstGeom prst="rect">
              <a:avLst/>
            </a:prstGeom>
          </p:spPr>
          <p:txBody>
            <a:bodyPr anchor="ctr" rtlCol="false" tIns="50800" lIns="50800" bIns="50800" rIns="50800"/>
            <a:lstStyle/>
            <a:p>
              <a:pPr algn="ctr">
                <a:lnSpc>
                  <a:spcPts val="3359"/>
                </a:lnSpc>
              </a:pPr>
            </a:p>
          </p:txBody>
        </p:sp>
      </p:grpSp>
      <p:grpSp>
        <p:nvGrpSpPr>
          <p:cNvPr name="Group 9" id="9"/>
          <p:cNvGrpSpPr/>
          <p:nvPr/>
        </p:nvGrpSpPr>
        <p:grpSpPr>
          <a:xfrm rot="0">
            <a:off x="13913154" y="391766"/>
            <a:ext cx="2743897" cy="554019"/>
            <a:chOff x="0" y="0"/>
            <a:chExt cx="722672" cy="145915"/>
          </a:xfrm>
        </p:grpSpPr>
        <p:sp>
          <p:nvSpPr>
            <p:cNvPr name="Freeform 10" id="10"/>
            <p:cNvSpPr/>
            <p:nvPr/>
          </p:nvSpPr>
          <p:spPr>
            <a:xfrm flipH="false" flipV="false" rot="0">
              <a:off x="0" y="0"/>
              <a:ext cx="722672" cy="145915"/>
            </a:xfrm>
            <a:custGeom>
              <a:avLst/>
              <a:gdLst/>
              <a:ahLst/>
              <a:cxnLst/>
              <a:rect r="r" b="b" t="t" l="l"/>
              <a:pathLst>
                <a:path h="145915" w="722672">
                  <a:moveTo>
                    <a:pt x="72957" y="0"/>
                  </a:moveTo>
                  <a:lnTo>
                    <a:pt x="649715" y="0"/>
                  </a:lnTo>
                  <a:cubicBezTo>
                    <a:pt x="690008" y="0"/>
                    <a:pt x="722672" y="32664"/>
                    <a:pt x="722672" y="72957"/>
                  </a:cubicBezTo>
                  <a:lnTo>
                    <a:pt x="722672" y="72957"/>
                  </a:lnTo>
                  <a:cubicBezTo>
                    <a:pt x="722672" y="113250"/>
                    <a:pt x="690008" y="145915"/>
                    <a:pt x="649715" y="145915"/>
                  </a:cubicBezTo>
                  <a:lnTo>
                    <a:pt x="72957" y="145915"/>
                  </a:lnTo>
                  <a:cubicBezTo>
                    <a:pt x="32664" y="145915"/>
                    <a:pt x="0" y="113250"/>
                    <a:pt x="0" y="72957"/>
                  </a:cubicBezTo>
                  <a:lnTo>
                    <a:pt x="0" y="72957"/>
                  </a:lnTo>
                  <a:cubicBezTo>
                    <a:pt x="0" y="32664"/>
                    <a:pt x="32664" y="0"/>
                    <a:pt x="72957" y="0"/>
                  </a:cubicBezTo>
                  <a:close/>
                </a:path>
              </a:pathLst>
            </a:custGeom>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11" id="11"/>
            <p:cNvSpPr txBox="true"/>
            <p:nvPr/>
          </p:nvSpPr>
          <p:spPr>
            <a:xfrm>
              <a:off x="0" y="-47625"/>
              <a:ext cx="722672" cy="193540"/>
            </a:xfrm>
            <a:prstGeom prst="rect">
              <a:avLst/>
            </a:prstGeom>
          </p:spPr>
          <p:txBody>
            <a:bodyPr anchor="ctr" rtlCol="false" tIns="50800" lIns="50800" bIns="50800" rIns="50800"/>
            <a:lstStyle/>
            <a:p>
              <a:pPr algn="ctr">
                <a:lnSpc>
                  <a:spcPts val="3359"/>
                </a:lnSpc>
              </a:pPr>
            </a:p>
          </p:txBody>
        </p:sp>
      </p:grpSp>
      <p:grpSp>
        <p:nvGrpSpPr>
          <p:cNvPr name="Group 12" id="12"/>
          <p:cNvGrpSpPr/>
          <p:nvPr/>
        </p:nvGrpSpPr>
        <p:grpSpPr>
          <a:xfrm rot="0">
            <a:off x="6476000" y="391766"/>
            <a:ext cx="3341946" cy="554019"/>
            <a:chOff x="0" y="0"/>
            <a:chExt cx="880183" cy="145915"/>
          </a:xfrm>
        </p:grpSpPr>
        <p:sp>
          <p:nvSpPr>
            <p:cNvPr name="Freeform 13" id="13"/>
            <p:cNvSpPr/>
            <p:nvPr/>
          </p:nvSpPr>
          <p:spPr>
            <a:xfrm flipH="false" flipV="false" rot="0">
              <a:off x="0" y="0"/>
              <a:ext cx="880183" cy="145915"/>
            </a:xfrm>
            <a:custGeom>
              <a:avLst/>
              <a:gdLst/>
              <a:ahLst/>
              <a:cxnLst/>
              <a:rect r="r" b="b" t="t" l="l"/>
              <a:pathLst>
                <a:path h="145915" w="880183">
                  <a:moveTo>
                    <a:pt x="72957" y="0"/>
                  </a:moveTo>
                  <a:lnTo>
                    <a:pt x="807226" y="0"/>
                  </a:lnTo>
                  <a:cubicBezTo>
                    <a:pt x="847519" y="0"/>
                    <a:pt x="880183" y="32664"/>
                    <a:pt x="880183" y="72957"/>
                  </a:cubicBezTo>
                  <a:lnTo>
                    <a:pt x="880183" y="72957"/>
                  </a:lnTo>
                  <a:cubicBezTo>
                    <a:pt x="880183" y="113250"/>
                    <a:pt x="847519" y="145915"/>
                    <a:pt x="807226" y="145915"/>
                  </a:cubicBezTo>
                  <a:lnTo>
                    <a:pt x="72957" y="145915"/>
                  </a:lnTo>
                  <a:cubicBezTo>
                    <a:pt x="32664" y="145915"/>
                    <a:pt x="0" y="113250"/>
                    <a:pt x="0" y="72957"/>
                  </a:cubicBezTo>
                  <a:lnTo>
                    <a:pt x="0" y="72957"/>
                  </a:lnTo>
                  <a:cubicBezTo>
                    <a:pt x="0" y="32664"/>
                    <a:pt x="32664" y="0"/>
                    <a:pt x="72957" y="0"/>
                  </a:cubicBezTo>
                  <a:close/>
                </a:path>
              </a:pathLst>
            </a:custGeom>
            <a:solidFill>
              <a:srgbClr val="FFFFFF"/>
            </a:solid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14" id="14"/>
            <p:cNvSpPr txBox="true"/>
            <p:nvPr/>
          </p:nvSpPr>
          <p:spPr>
            <a:xfrm>
              <a:off x="0" y="-47625"/>
              <a:ext cx="880183" cy="193540"/>
            </a:xfrm>
            <a:prstGeom prst="rect">
              <a:avLst/>
            </a:prstGeom>
          </p:spPr>
          <p:txBody>
            <a:bodyPr anchor="ctr" rtlCol="false" tIns="50800" lIns="50800" bIns="50800" rIns="50800"/>
            <a:lstStyle/>
            <a:p>
              <a:pPr algn="ctr">
                <a:lnSpc>
                  <a:spcPts val="3359"/>
                </a:lnSpc>
              </a:pPr>
            </a:p>
          </p:txBody>
        </p:sp>
      </p:grpSp>
      <p:sp>
        <p:nvSpPr>
          <p:cNvPr name="AutoShape 15" id="15"/>
          <p:cNvSpPr/>
          <p:nvPr/>
        </p:nvSpPr>
        <p:spPr>
          <a:xfrm>
            <a:off x="-417053" y="1167061"/>
            <a:ext cx="19109210" cy="0"/>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
        <p:nvSpPr>
          <p:cNvPr name="AutoShape 16" id="16"/>
          <p:cNvSpPr/>
          <p:nvPr/>
        </p:nvSpPr>
        <p:spPr>
          <a:xfrm>
            <a:off x="6223588" y="-468675"/>
            <a:ext cx="0" cy="1635737"/>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
        <p:nvSpPr>
          <p:cNvPr name="AutoShape 17" id="17"/>
          <p:cNvSpPr/>
          <p:nvPr/>
        </p:nvSpPr>
        <p:spPr>
          <a:xfrm flipV="true">
            <a:off x="477889" y="4813953"/>
            <a:ext cx="18693133" cy="0"/>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
        <p:nvSpPr>
          <p:cNvPr name="Freeform 18" id="18"/>
          <p:cNvSpPr/>
          <p:nvPr/>
        </p:nvSpPr>
        <p:spPr>
          <a:xfrm flipH="false" flipV="false" rot="0">
            <a:off x="2011769" y="2143058"/>
            <a:ext cx="14936389" cy="6574178"/>
          </a:xfrm>
          <a:custGeom>
            <a:avLst/>
            <a:gdLst/>
            <a:ahLst/>
            <a:cxnLst/>
            <a:rect r="r" b="b" t="t" l="l"/>
            <a:pathLst>
              <a:path h="6574178" w="14936389">
                <a:moveTo>
                  <a:pt x="0" y="0"/>
                </a:moveTo>
                <a:lnTo>
                  <a:pt x="14936388" y="0"/>
                </a:lnTo>
                <a:lnTo>
                  <a:pt x="14936388" y="6574178"/>
                </a:lnTo>
                <a:lnTo>
                  <a:pt x="0" y="6574178"/>
                </a:lnTo>
                <a:lnTo>
                  <a:pt x="0" y="0"/>
                </a:lnTo>
                <a:close/>
              </a:path>
            </a:pathLst>
          </a:custGeom>
          <a:blipFill>
            <a:blip r:embed="rId5"/>
            <a:stretch>
              <a:fillRect l="0" t="0" r="0" b="0"/>
            </a:stretch>
          </a:blipFill>
        </p:spPr>
      </p:sp>
      <p:sp>
        <p:nvSpPr>
          <p:cNvPr name="TextBox 19" id="19"/>
          <p:cNvSpPr txBox="true"/>
          <p:nvPr/>
        </p:nvSpPr>
        <p:spPr>
          <a:xfrm rot="0">
            <a:off x="1383454" y="471410"/>
            <a:ext cx="2385672" cy="382270"/>
          </a:xfrm>
          <a:prstGeom prst="rect">
            <a:avLst/>
          </a:prstGeom>
        </p:spPr>
        <p:txBody>
          <a:bodyPr anchor="t" rtlCol="false" tIns="0" lIns="0" bIns="0" rIns="0">
            <a:spAutoFit/>
          </a:bodyPr>
          <a:lstStyle/>
          <a:p>
            <a:pPr algn="l">
              <a:lnSpc>
                <a:spcPts val="3079"/>
              </a:lnSpc>
            </a:pPr>
            <a:r>
              <a:rPr lang="en-US" sz="2199" spc="-142">
                <a:solidFill>
                  <a:srgbClr val="FFFFFF"/>
                </a:solidFill>
                <a:latin typeface="TS Qamus"/>
                <a:ea typeface="TS Qamus"/>
                <a:cs typeface="TS Qamus"/>
                <a:sym typeface="TS Qamus"/>
              </a:rPr>
              <a:t>Salford &amp; Co.</a:t>
            </a:r>
          </a:p>
        </p:txBody>
      </p:sp>
      <p:sp>
        <p:nvSpPr>
          <p:cNvPr name="TextBox 20" id="20"/>
          <p:cNvSpPr txBox="true"/>
          <p:nvPr/>
        </p:nvSpPr>
        <p:spPr>
          <a:xfrm rot="0">
            <a:off x="14170902" y="477323"/>
            <a:ext cx="2228402" cy="325755"/>
          </a:xfrm>
          <a:prstGeom prst="rect">
            <a:avLst/>
          </a:prstGeom>
        </p:spPr>
        <p:txBody>
          <a:bodyPr anchor="t" rtlCol="false" tIns="0" lIns="0" bIns="0" rIns="0">
            <a:spAutoFit/>
          </a:bodyPr>
          <a:lstStyle/>
          <a:p>
            <a:pPr algn="ctr">
              <a:lnSpc>
                <a:spcPts val="2520"/>
              </a:lnSpc>
            </a:pPr>
            <a:r>
              <a:rPr lang="en-US" sz="1800" spc="-117">
                <a:solidFill>
                  <a:srgbClr val="FFFFFF"/>
                </a:solidFill>
                <a:latin typeface="Poppins"/>
                <a:ea typeface="Poppins"/>
                <a:cs typeface="Poppins"/>
                <a:sym typeface="Poppins"/>
              </a:rPr>
              <a:t>6 August, 2025</a:t>
            </a:r>
          </a:p>
        </p:txBody>
      </p:sp>
      <p:sp>
        <p:nvSpPr>
          <p:cNvPr name="TextBox 21" id="21"/>
          <p:cNvSpPr txBox="true"/>
          <p:nvPr/>
        </p:nvSpPr>
        <p:spPr>
          <a:xfrm rot="0">
            <a:off x="6740220" y="477323"/>
            <a:ext cx="2820551" cy="325755"/>
          </a:xfrm>
          <a:prstGeom prst="rect">
            <a:avLst/>
          </a:prstGeom>
        </p:spPr>
        <p:txBody>
          <a:bodyPr anchor="t" rtlCol="false" tIns="0" lIns="0" bIns="0" rIns="0">
            <a:spAutoFit/>
          </a:bodyPr>
          <a:lstStyle/>
          <a:p>
            <a:pPr algn="ctr">
              <a:lnSpc>
                <a:spcPts val="2520"/>
              </a:lnSpc>
            </a:pPr>
            <a:r>
              <a:rPr lang="en-US" sz="1800" spc="-117">
                <a:solidFill>
                  <a:srgbClr val="000000"/>
                </a:solidFill>
                <a:latin typeface="Poppins"/>
                <a:ea typeface="Poppins"/>
                <a:cs typeface="Poppins"/>
                <a:sym typeface="Poppins"/>
              </a:rPr>
              <a:t>Social</a:t>
            </a:r>
            <a:r>
              <a:rPr lang="en-US" sz="1800" spc="-117">
                <a:solidFill>
                  <a:srgbClr val="000000"/>
                </a:solidFill>
                <a:latin typeface="Poppins"/>
                <a:ea typeface="Poppins"/>
                <a:cs typeface="Poppins"/>
                <a:sym typeface="Poppins"/>
              </a:rPr>
              <a:t> Media Proposal</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1777" r="0" b="-1777"/>
            </a:stretch>
          </a:blipFill>
        </p:spPr>
      </p:sp>
      <p:sp>
        <p:nvSpPr>
          <p:cNvPr name="AutoShape 3" id="3"/>
          <p:cNvSpPr/>
          <p:nvPr/>
        </p:nvSpPr>
        <p:spPr>
          <a:xfrm>
            <a:off x="10038640" y="-468675"/>
            <a:ext cx="0" cy="11995723"/>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
        <p:nvSpPr>
          <p:cNvPr name="AutoShape 4" id="4"/>
          <p:cNvSpPr/>
          <p:nvPr/>
        </p:nvSpPr>
        <p:spPr>
          <a:xfrm>
            <a:off x="477889" y="-448043"/>
            <a:ext cx="0" cy="11118486"/>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
        <p:nvSpPr>
          <p:cNvPr name="Freeform 5" id="5"/>
          <p:cNvSpPr/>
          <p:nvPr/>
        </p:nvSpPr>
        <p:spPr>
          <a:xfrm flipH="false" flipV="false" rot="0">
            <a:off x="783373" y="515779"/>
            <a:ext cx="443469" cy="305994"/>
          </a:xfrm>
          <a:custGeom>
            <a:avLst/>
            <a:gdLst/>
            <a:ahLst/>
            <a:cxnLst/>
            <a:rect r="r" b="b" t="t" l="l"/>
            <a:pathLst>
              <a:path h="305994" w="443469">
                <a:moveTo>
                  <a:pt x="0" y="0"/>
                </a:moveTo>
                <a:lnTo>
                  <a:pt x="443469" y="0"/>
                </a:lnTo>
                <a:lnTo>
                  <a:pt x="443469" y="305993"/>
                </a:lnTo>
                <a:lnTo>
                  <a:pt x="0" y="30599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16845300" y="391766"/>
            <a:ext cx="635507" cy="554019"/>
            <a:chOff x="0" y="0"/>
            <a:chExt cx="167376" cy="145915"/>
          </a:xfrm>
        </p:grpSpPr>
        <p:sp>
          <p:nvSpPr>
            <p:cNvPr name="Freeform 7" id="7"/>
            <p:cNvSpPr/>
            <p:nvPr/>
          </p:nvSpPr>
          <p:spPr>
            <a:xfrm flipH="false" flipV="false" rot="0">
              <a:off x="0" y="0"/>
              <a:ext cx="167376" cy="145915"/>
            </a:xfrm>
            <a:custGeom>
              <a:avLst/>
              <a:gdLst/>
              <a:ahLst/>
              <a:cxnLst/>
              <a:rect r="r" b="b" t="t" l="l"/>
              <a:pathLst>
                <a:path h="145915" w="167376">
                  <a:moveTo>
                    <a:pt x="72957" y="0"/>
                  </a:moveTo>
                  <a:lnTo>
                    <a:pt x="94419" y="0"/>
                  </a:lnTo>
                  <a:cubicBezTo>
                    <a:pt x="134712" y="0"/>
                    <a:pt x="167376" y="32664"/>
                    <a:pt x="167376" y="72957"/>
                  </a:cubicBezTo>
                  <a:lnTo>
                    <a:pt x="167376" y="72957"/>
                  </a:lnTo>
                  <a:cubicBezTo>
                    <a:pt x="167376" y="113250"/>
                    <a:pt x="134712" y="145915"/>
                    <a:pt x="94419" y="145915"/>
                  </a:cubicBezTo>
                  <a:lnTo>
                    <a:pt x="72957" y="145915"/>
                  </a:lnTo>
                  <a:cubicBezTo>
                    <a:pt x="32664" y="145915"/>
                    <a:pt x="0" y="113250"/>
                    <a:pt x="0" y="72957"/>
                  </a:cubicBezTo>
                  <a:lnTo>
                    <a:pt x="0" y="72957"/>
                  </a:lnTo>
                  <a:cubicBezTo>
                    <a:pt x="0" y="32664"/>
                    <a:pt x="32664" y="0"/>
                    <a:pt x="72957" y="0"/>
                  </a:cubicBezTo>
                  <a:close/>
                </a:path>
              </a:pathLst>
            </a:custGeom>
            <a:gradFill rotWithShape="true">
              <a:gsLst>
                <a:gs pos="0">
                  <a:srgbClr val="9B9B9B">
                    <a:alpha val="28000"/>
                  </a:srgbClr>
                </a:gs>
                <a:gs pos="25000">
                  <a:srgbClr val="FFFFFF">
                    <a:alpha val="29000"/>
                  </a:srgbClr>
                </a:gs>
                <a:gs pos="50000">
                  <a:srgbClr val="FFFFFF">
                    <a:alpha val="44500"/>
                  </a:srgbClr>
                </a:gs>
                <a:gs pos="75000">
                  <a:srgbClr val="FFFFFF">
                    <a:alpha val="29000"/>
                  </a:srgbClr>
                </a:gs>
                <a:gs pos="100000">
                  <a:srgbClr val="9B9B9B">
                    <a:alpha val="28000"/>
                  </a:srgbClr>
                </a:gs>
              </a:gsLst>
              <a:lin ang="2700000"/>
            </a:grad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8" id="8"/>
            <p:cNvSpPr txBox="true"/>
            <p:nvPr/>
          </p:nvSpPr>
          <p:spPr>
            <a:xfrm>
              <a:off x="0" y="-47625"/>
              <a:ext cx="167376" cy="193540"/>
            </a:xfrm>
            <a:prstGeom prst="rect">
              <a:avLst/>
            </a:prstGeom>
          </p:spPr>
          <p:txBody>
            <a:bodyPr anchor="ctr" rtlCol="false" tIns="50800" lIns="50800" bIns="50800" rIns="50800"/>
            <a:lstStyle/>
            <a:p>
              <a:pPr algn="ctr">
                <a:lnSpc>
                  <a:spcPts val="3359"/>
                </a:lnSpc>
              </a:pPr>
            </a:p>
          </p:txBody>
        </p:sp>
      </p:grpSp>
      <p:grpSp>
        <p:nvGrpSpPr>
          <p:cNvPr name="Group 9" id="9"/>
          <p:cNvGrpSpPr/>
          <p:nvPr/>
        </p:nvGrpSpPr>
        <p:grpSpPr>
          <a:xfrm rot="0">
            <a:off x="13913154" y="391766"/>
            <a:ext cx="2743897" cy="554019"/>
            <a:chOff x="0" y="0"/>
            <a:chExt cx="722672" cy="145915"/>
          </a:xfrm>
        </p:grpSpPr>
        <p:sp>
          <p:nvSpPr>
            <p:cNvPr name="Freeform 10" id="10"/>
            <p:cNvSpPr/>
            <p:nvPr/>
          </p:nvSpPr>
          <p:spPr>
            <a:xfrm flipH="false" flipV="false" rot="0">
              <a:off x="0" y="0"/>
              <a:ext cx="722672" cy="145915"/>
            </a:xfrm>
            <a:custGeom>
              <a:avLst/>
              <a:gdLst/>
              <a:ahLst/>
              <a:cxnLst/>
              <a:rect r="r" b="b" t="t" l="l"/>
              <a:pathLst>
                <a:path h="145915" w="722672">
                  <a:moveTo>
                    <a:pt x="72957" y="0"/>
                  </a:moveTo>
                  <a:lnTo>
                    <a:pt x="649715" y="0"/>
                  </a:lnTo>
                  <a:cubicBezTo>
                    <a:pt x="690008" y="0"/>
                    <a:pt x="722672" y="32664"/>
                    <a:pt x="722672" y="72957"/>
                  </a:cubicBezTo>
                  <a:lnTo>
                    <a:pt x="722672" y="72957"/>
                  </a:lnTo>
                  <a:cubicBezTo>
                    <a:pt x="722672" y="113250"/>
                    <a:pt x="690008" y="145915"/>
                    <a:pt x="649715" y="145915"/>
                  </a:cubicBezTo>
                  <a:lnTo>
                    <a:pt x="72957" y="145915"/>
                  </a:lnTo>
                  <a:cubicBezTo>
                    <a:pt x="32664" y="145915"/>
                    <a:pt x="0" y="113250"/>
                    <a:pt x="0" y="72957"/>
                  </a:cubicBezTo>
                  <a:lnTo>
                    <a:pt x="0" y="72957"/>
                  </a:lnTo>
                  <a:cubicBezTo>
                    <a:pt x="0" y="32664"/>
                    <a:pt x="32664" y="0"/>
                    <a:pt x="72957" y="0"/>
                  </a:cubicBezTo>
                  <a:close/>
                </a:path>
              </a:pathLst>
            </a:custGeom>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11" id="11"/>
            <p:cNvSpPr txBox="true"/>
            <p:nvPr/>
          </p:nvSpPr>
          <p:spPr>
            <a:xfrm>
              <a:off x="0" y="-47625"/>
              <a:ext cx="722672" cy="193540"/>
            </a:xfrm>
            <a:prstGeom prst="rect">
              <a:avLst/>
            </a:prstGeom>
          </p:spPr>
          <p:txBody>
            <a:bodyPr anchor="ctr" rtlCol="false" tIns="50800" lIns="50800" bIns="50800" rIns="50800"/>
            <a:lstStyle/>
            <a:p>
              <a:pPr algn="ctr">
                <a:lnSpc>
                  <a:spcPts val="3359"/>
                </a:lnSpc>
              </a:pPr>
            </a:p>
          </p:txBody>
        </p:sp>
      </p:grpSp>
      <p:grpSp>
        <p:nvGrpSpPr>
          <p:cNvPr name="Group 12" id="12"/>
          <p:cNvGrpSpPr/>
          <p:nvPr/>
        </p:nvGrpSpPr>
        <p:grpSpPr>
          <a:xfrm rot="0">
            <a:off x="6476000" y="391766"/>
            <a:ext cx="3341946" cy="554019"/>
            <a:chOff x="0" y="0"/>
            <a:chExt cx="880183" cy="145915"/>
          </a:xfrm>
        </p:grpSpPr>
        <p:sp>
          <p:nvSpPr>
            <p:cNvPr name="Freeform 13" id="13"/>
            <p:cNvSpPr/>
            <p:nvPr/>
          </p:nvSpPr>
          <p:spPr>
            <a:xfrm flipH="false" flipV="false" rot="0">
              <a:off x="0" y="0"/>
              <a:ext cx="880183" cy="145915"/>
            </a:xfrm>
            <a:custGeom>
              <a:avLst/>
              <a:gdLst/>
              <a:ahLst/>
              <a:cxnLst/>
              <a:rect r="r" b="b" t="t" l="l"/>
              <a:pathLst>
                <a:path h="145915" w="880183">
                  <a:moveTo>
                    <a:pt x="72957" y="0"/>
                  </a:moveTo>
                  <a:lnTo>
                    <a:pt x="807226" y="0"/>
                  </a:lnTo>
                  <a:cubicBezTo>
                    <a:pt x="847519" y="0"/>
                    <a:pt x="880183" y="32664"/>
                    <a:pt x="880183" y="72957"/>
                  </a:cubicBezTo>
                  <a:lnTo>
                    <a:pt x="880183" y="72957"/>
                  </a:lnTo>
                  <a:cubicBezTo>
                    <a:pt x="880183" y="113250"/>
                    <a:pt x="847519" y="145915"/>
                    <a:pt x="807226" y="145915"/>
                  </a:cubicBezTo>
                  <a:lnTo>
                    <a:pt x="72957" y="145915"/>
                  </a:lnTo>
                  <a:cubicBezTo>
                    <a:pt x="32664" y="145915"/>
                    <a:pt x="0" y="113250"/>
                    <a:pt x="0" y="72957"/>
                  </a:cubicBezTo>
                  <a:lnTo>
                    <a:pt x="0" y="72957"/>
                  </a:lnTo>
                  <a:cubicBezTo>
                    <a:pt x="0" y="32664"/>
                    <a:pt x="32664" y="0"/>
                    <a:pt x="72957" y="0"/>
                  </a:cubicBezTo>
                  <a:close/>
                </a:path>
              </a:pathLst>
            </a:custGeom>
            <a:solidFill>
              <a:srgbClr val="FFFFFF"/>
            </a:solid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14" id="14"/>
            <p:cNvSpPr txBox="true"/>
            <p:nvPr/>
          </p:nvSpPr>
          <p:spPr>
            <a:xfrm>
              <a:off x="0" y="-47625"/>
              <a:ext cx="880183" cy="193540"/>
            </a:xfrm>
            <a:prstGeom prst="rect">
              <a:avLst/>
            </a:prstGeom>
          </p:spPr>
          <p:txBody>
            <a:bodyPr anchor="ctr" rtlCol="false" tIns="50800" lIns="50800" bIns="50800" rIns="50800"/>
            <a:lstStyle/>
            <a:p>
              <a:pPr algn="ctr">
                <a:lnSpc>
                  <a:spcPts val="3359"/>
                </a:lnSpc>
              </a:pPr>
            </a:p>
          </p:txBody>
        </p:sp>
      </p:grpSp>
      <p:sp>
        <p:nvSpPr>
          <p:cNvPr name="AutoShape 15" id="15"/>
          <p:cNvSpPr/>
          <p:nvPr/>
        </p:nvSpPr>
        <p:spPr>
          <a:xfrm>
            <a:off x="-417053" y="1167061"/>
            <a:ext cx="19109210" cy="0"/>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
        <p:nvSpPr>
          <p:cNvPr name="AutoShape 16" id="16"/>
          <p:cNvSpPr/>
          <p:nvPr/>
        </p:nvSpPr>
        <p:spPr>
          <a:xfrm>
            <a:off x="6223588" y="-468675"/>
            <a:ext cx="0" cy="1635737"/>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
        <p:nvSpPr>
          <p:cNvPr name="AutoShape 17" id="17"/>
          <p:cNvSpPr/>
          <p:nvPr/>
        </p:nvSpPr>
        <p:spPr>
          <a:xfrm flipV="true">
            <a:off x="477889" y="4813953"/>
            <a:ext cx="18693133" cy="0"/>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
        <p:nvSpPr>
          <p:cNvPr name="Freeform 18" id="18"/>
          <p:cNvSpPr/>
          <p:nvPr/>
        </p:nvSpPr>
        <p:spPr>
          <a:xfrm flipH="false" flipV="false" rot="0">
            <a:off x="2716793" y="1719905"/>
            <a:ext cx="13687395" cy="7593008"/>
          </a:xfrm>
          <a:custGeom>
            <a:avLst/>
            <a:gdLst/>
            <a:ahLst/>
            <a:cxnLst/>
            <a:rect r="r" b="b" t="t" l="l"/>
            <a:pathLst>
              <a:path h="7593008" w="13687395">
                <a:moveTo>
                  <a:pt x="0" y="0"/>
                </a:moveTo>
                <a:lnTo>
                  <a:pt x="13687395" y="0"/>
                </a:lnTo>
                <a:lnTo>
                  <a:pt x="13687395" y="7593007"/>
                </a:lnTo>
                <a:lnTo>
                  <a:pt x="0" y="7593007"/>
                </a:lnTo>
                <a:lnTo>
                  <a:pt x="0" y="0"/>
                </a:lnTo>
                <a:close/>
              </a:path>
            </a:pathLst>
          </a:custGeom>
          <a:blipFill>
            <a:blip r:embed="rId5"/>
            <a:stretch>
              <a:fillRect l="0" t="0" r="0" b="0"/>
            </a:stretch>
          </a:blipFill>
        </p:spPr>
      </p:sp>
      <p:sp>
        <p:nvSpPr>
          <p:cNvPr name="TextBox 19" id="19"/>
          <p:cNvSpPr txBox="true"/>
          <p:nvPr/>
        </p:nvSpPr>
        <p:spPr>
          <a:xfrm rot="0">
            <a:off x="1383454" y="471410"/>
            <a:ext cx="2385672" cy="382270"/>
          </a:xfrm>
          <a:prstGeom prst="rect">
            <a:avLst/>
          </a:prstGeom>
        </p:spPr>
        <p:txBody>
          <a:bodyPr anchor="t" rtlCol="false" tIns="0" lIns="0" bIns="0" rIns="0">
            <a:spAutoFit/>
          </a:bodyPr>
          <a:lstStyle/>
          <a:p>
            <a:pPr algn="l">
              <a:lnSpc>
                <a:spcPts val="3079"/>
              </a:lnSpc>
            </a:pPr>
            <a:r>
              <a:rPr lang="en-US" sz="2199" spc="-142">
                <a:solidFill>
                  <a:srgbClr val="FFFFFF"/>
                </a:solidFill>
                <a:latin typeface="TS Qamus"/>
                <a:ea typeface="TS Qamus"/>
                <a:cs typeface="TS Qamus"/>
                <a:sym typeface="TS Qamus"/>
              </a:rPr>
              <a:t>Salford &amp; Co.</a:t>
            </a:r>
          </a:p>
        </p:txBody>
      </p:sp>
      <p:sp>
        <p:nvSpPr>
          <p:cNvPr name="TextBox 20" id="20"/>
          <p:cNvSpPr txBox="true"/>
          <p:nvPr/>
        </p:nvSpPr>
        <p:spPr>
          <a:xfrm rot="0">
            <a:off x="14170902" y="477323"/>
            <a:ext cx="2228402" cy="325755"/>
          </a:xfrm>
          <a:prstGeom prst="rect">
            <a:avLst/>
          </a:prstGeom>
        </p:spPr>
        <p:txBody>
          <a:bodyPr anchor="t" rtlCol="false" tIns="0" lIns="0" bIns="0" rIns="0">
            <a:spAutoFit/>
          </a:bodyPr>
          <a:lstStyle/>
          <a:p>
            <a:pPr algn="ctr">
              <a:lnSpc>
                <a:spcPts val="2520"/>
              </a:lnSpc>
            </a:pPr>
            <a:r>
              <a:rPr lang="en-US" sz="1800" spc="-117">
                <a:solidFill>
                  <a:srgbClr val="FFFFFF"/>
                </a:solidFill>
                <a:latin typeface="Poppins"/>
                <a:ea typeface="Poppins"/>
                <a:cs typeface="Poppins"/>
                <a:sym typeface="Poppins"/>
              </a:rPr>
              <a:t>6 August, 2025</a:t>
            </a:r>
          </a:p>
        </p:txBody>
      </p:sp>
      <p:sp>
        <p:nvSpPr>
          <p:cNvPr name="TextBox 21" id="21"/>
          <p:cNvSpPr txBox="true"/>
          <p:nvPr/>
        </p:nvSpPr>
        <p:spPr>
          <a:xfrm rot="0">
            <a:off x="6740220" y="477323"/>
            <a:ext cx="2820551" cy="325755"/>
          </a:xfrm>
          <a:prstGeom prst="rect">
            <a:avLst/>
          </a:prstGeom>
        </p:spPr>
        <p:txBody>
          <a:bodyPr anchor="t" rtlCol="false" tIns="0" lIns="0" bIns="0" rIns="0">
            <a:spAutoFit/>
          </a:bodyPr>
          <a:lstStyle/>
          <a:p>
            <a:pPr algn="ctr">
              <a:lnSpc>
                <a:spcPts val="2520"/>
              </a:lnSpc>
            </a:pPr>
            <a:r>
              <a:rPr lang="en-US" sz="1800" spc="-117">
                <a:solidFill>
                  <a:srgbClr val="000000"/>
                </a:solidFill>
                <a:latin typeface="Poppins"/>
                <a:ea typeface="Poppins"/>
                <a:cs typeface="Poppins"/>
                <a:sym typeface="Poppins"/>
              </a:rPr>
              <a:t>Social</a:t>
            </a:r>
            <a:r>
              <a:rPr lang="en-US" sz="1800" spc="-117">
                <a:solidFill>
                  <a:srgbClr val="000000"/>
                </a:solidFill>
                <a:latin typeface="Poppins"/>
                <a:ea typeface="Poppins"/>
                <a:cs typeface="Poppins"/>
                <a:sym typeface="Poppins"/>
              </a:rPr>
              <a:t> Media Proposal</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1777" r="0" b="-1777"/>
            </a:stretch>
          </a:blipFill>
        </p:spPr>
      </p:sp>
      <p:sp>
        <p:nvSpPr>
          <p:cNvPr name="AutoShape 3" id="3"/>
          <p:cNvSpPr/>
          <p:nvPr/>
        </p:nvSpPr>
        <p:spPr>
          <a:xfrm>
            <a:off x="10038640" y="-468675"/>
            <a:ext cx="0" cy="11995723"/>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
        <p:nvSpPr>
          <p:cNvPr name="AutoShape 4" id="4"/>
          <p:cNvSpPr/>
          <p:nvPr/>
        </p:nvSpPr>
        <p:spPr>
          <a:xfrm>
            <a:off x="477889" y="-448043"/>
            <a:ext cx="0" cy="11118486"/>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
        <p:nvSpPr>
          <p:cNvPr name="Freeform 5" id="5"/>
          <p:cNvSpPr/>
          <p:nvPr/>
        </p:nvSpPr>
        <p:spPr>
          <a:xfrm flipH="false" flipV="false" rot="0">
            <a:off x="783373" y="515779"/>
            <a:ext cx="443469" cy="305994"/>
          </a:xfrm>
          <a:custGeom>
            <a:avLst/>
            <a:gdLst/>
            <a:ahLst/>
            <a:cxnLst/>
            <a:rect r="r" b="b" t="t" l="l"/>
            <a:pathLst>
              <a:path h="305994" w="443469">
                <a:moveTo>
                  <a:pt x="0" y="0"/>
                </a:moveTo>
                <a:lnTo>
                  <a:pt x="443469" y="0"/>
                </a:lnTo>
                <a:lnTo>
                  <a:pt x="443469" y="305993"/>
                </a:lnTo>
                <a:lnTo>
                  <a:pt x="0" y="30599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16845300" y="391766"/>
            <a:ext cx="635507" cy="554019"/>
            <a:chOff x="0" y="0"/>
            <a:chExt cx="167376" cy="145915"/>
          </a:xfrm>
        </p:grpSpPr>
        <p:sp>
          <p:nvSpPr>
            <p:cNvPr name="Freeform 7" id="7"/>
            <p:cNvSpPr/>
            <p:nvPr/>
          </p:nvSpPr>
          <p:spPr>
            <a:xfrm flipH="false" flipV="false" rot="0">
              <a:off x="0" y="0"/>
              <a:ext cx="167376" cy="145915"/>
            </a:xfrm>
            <a:custGeom>
              <a:avLst/>
              <a:gdLst/>
              <a:ahLst/>
              <a:cxnLst/>
              <a:rect r="r" b="b" t="t" l="l"/>
              <a:pathLst>
                <a:path h="145915" w="167376">
                  <a:moveTo>
                    <a:pt x="72957" y="0"/>
                  </a:moveTo>
                  <a:lnTo>
                    <a:pt x="94419" y="0"/>
                  </a:lnTo>
                  <a:cubicBezTo>
                    <a:pt x="134712" y="0"/>
                    <a:pt x="167376" y="32664"/>
                    <a:pt x="167376" y="72957"/>
                  </a:cubicBezTo>
                  <a:lnTo>
                    <a:pt x="167376" y="72957"/>
                  </a:lnTo>
                  <a:cubicBezTo>
                    <a:pt x="167376" y="113250"/>
                    <a:pt x="134712" y="145915"/>
                    <a:pt x="94419" y="145915"/>
                  </a:cubicBezTo>
                  <a:lnTo>
                    <a:pt x="72957" y="145915"/>
                  </a:lnTo>
                  <a:cubicBezTo>
                    <a:pt x="32664" y="145915"/>
                    <a:pt x="0" y="113250"/>
                    <a:pt x="0" y="72957"/>
                  </a:cubicBezTo>
                  <a:lnTo>
                    <a:pt x="0" y="72957"/>
                  </a:lnTo>
                  <a:cubicBezTo>
                    <a:pt x="0" y="32664"/>
                    <a:pt x="32664" y="0"/>
                    <a:pt x="72957" y="0"/>
                  </a:cubicBezTo>
                  <a:close/>
                </a:path>
              </a:pathLst>
            </a:custGeom>
            <a:gradFill rotWithShape="true">
              <a:gsLst>
                <a:gs pos="0">
                  <a:srgbClr val="9B9B9B">
                    <a:alpha val="28000"/>
                  </a:srgbClr>
                </a:gs>
                <a:gs pos="25000">
                  <a:srgbClr val="FFFFFF">
                    <a:alpha val="29000"/>
                  </a:srgbClr>
                </a:gs>
                <a:gs pos="50000">
                  <a:srgbClr val="FFFFFF">
                    <a:alpha val="44500"/>
                  </a:srgbClr>
                </a:gs>
                <a:gs pos="75000">
                  <a:srgbClr val="FFFFFF">
                    <a:alpha val="29000"/>
                  </a:srgbClr>
                </a:gs>
                <a:gs pos="100000">
                  <a:srgbClr val="9B9B9B">
                    <a:alpha val="28000"/>
                  </a:srgbClr>
                </a:gs>
              </a:gsLst>
              <a:lin ang="2700000"/>
            </a:grad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8" id="8"/>
            <p:cNvSpPr txBox="true"/>
            <p:nvPr/>
          </p:nvSpPr>
          <p:spPr>
            <a:xfrm>
              <a:off x="0" y="-47625"/>
              <a:ext cx="167376" cy="193540"/>
            </a:xfrm>
            <a:prstGeom prst="rect">
              <a:avLst/>
            </a:prstGeom>
          </p:spPr>
          <p:txBody>
            <a:bodyPr anchor="ctr" rtlCol="false" tIns="50800" lIns="50800" bIns="50800" rIns="50800"/>
            <a:lstStyle/>
            <a:p>
              <a:pPr algn="ctr">
                <a:lnSpc>
                  <a:spcPts val="3359"/>
                </a:lnSpc>
              </a:pPr>
            </a:p>
          </p:txBody>
        </p:sp>
      </p:grpSp>
      <p:grpSp>
        <p:nvGrpSpPr>
          <p:cNvPr name="Group 9" id="9"/>
          <p:cNvGrpSpPr/>
          <p:nvPr/>
        </p:nvGrpSpPr>
        <p:grpSpPr>
          <a:xfrm rot="0">
            <a:off x="13913154" y="391766"/>
            <a:ext cx="2743897" cy="554019"/>
            <a:chOff x="0" y="0"/>
            <a:chExt cx="722672" cy="145915"/>
          </a:xfrm>
        </p:grpSpPr>
        <p:sp>
          <p:nvSpPr>
            <p:cNvPr name="Freeform 10" id="10"/>
            <p:cNvSpPr/>
            <p:nvPr/>
          </p:nvSpPr>
          <p:spPr>
            <a:xfrm flipH="false" flipV="false" rot="0">
              <a:off x="0" y="0"/>
              <a:ext cx="722672" cy="145915"/>
            </a:xfrm>
            <a:custGeom>
              <a:avLst/>
              <a:gdLst/>
              <a:ahLst/>
              <a:cxnLst/>
              <a:rect r="r" b="b" t="t" l="l"/>
              <a:pathLst>
                <a:path h="145915" w="722672">
                  <a:moveTo>
                    <a:pt x="72957" y="0"/>
                  </a:moveTo>
                  <a:lnTo>
                    <a:pt x="649715" y="0"/>
                  </a:lnTo>
                  <a:cubicBezTo>
                    <a:pt x="690008" y="0"/>
                    <a:pt x="722672" y="32664"/>
                    <a:pt x="722672" y="72957"/>
                  </a:cubicBezTo>
                  <a:lnTo>
                    <a:pt x="722672" y="72957"/>
                  </a:lnTo>
                  <a:cubicBezTo>
                    <a:pt x="722672" y="113250"/>
                    <a:pt x="690008" y="145915"/>
                    <a:pt x="649715" y="145915"/>
                  </a:cubicBezTo>
                  <a:lnTo>
                    <a:pt x="72957" y="145915"/>
                  </a:lnTo>
                  <a:cubicBezTo>
                    <a:pt x="32664" y="145915"/>
                    <a:pt x="0" y="113250"/>
                    <a:pt x="0" y="72957"/>
                  </a:cubicBezTo>
                  <a:lnTo>
                    <a:pt x="0" y="72957"/>
                  </a:lnTo>
                  <a:cubicBezTo>
                    <a:pt x="0" y="32664"/>
                    <a:pt x="32664" y="0"/>
                    <a:pt x="72957" y="0"/>
                  </a:cubicBezTo>
                  <a:close/>
                </a:path>
              </a:pathLst>
            </a:custGeom>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11" id="11"/>
            <p:cNvSpPr txBox="true"/>
            <p:nvPr/>
          </p:nvSpPr>
          <p:spPr>
            <a:xfrm>
              <a:off x="0" y="-47625"/>
              <a:ext cx="722672" cy="193540"/>
            </a:xfrm>
            <a:prstGeom prst="rect">
              <a:avLst/>
            </a:prstGeom>
          </p:spPr>
          <p:txBody>
            <a:bodyPr anchor="ctr" rtlCol="false" tIns="50800" lIns="50800" bIns="50800" rIns="50800"/>
            <a:lstStyle/>
            <a:p>
              <a:pPr algn="ctr">
                <a:lnSpc>
                  <a:spcPts val="3359"/>
                </a:lnSpc>
              </a:pPr>
            </a:p>
          </p:txBody>
        </p:sp>
      </p:grpSp>
      <p:grpSp>
        <p:nvGrpSpPr>
          <p:cNvPr name="Group 12" id="12"/>
          <p:cNvGrpSpPr/>
          <p:nvPr/>
        </p:nvGrpSpPr>
        <p:grpSpPr>
          <a:xfrm rot="0">
            <a:off x="6476000" y="391766"/>
            <a:ext cx="3341946" cy="554019"/>
            <a:chOff x="0" y="0"/>
            <a:chExt cx="880183" cy="145915"/>
          </a:xfrm>
        </p:grpSpPr>
        <p:sp>
          <p:nvSpPr>
            <p:cNvPr name="Freeform 13" id="13"/>
            <p:cNvSpPr/>
            <p:nvPr/>
          </p:nvSpPr>
          <p:spPr>
            <a:xfrm flipH="false" flipV="false" rot="0">
              <a:off x="0" y="0"/>
              <a:ext cx="880183" cy="145915"/>
            </a:xfrm>
            <a:custGeom>
              <a:avLst/>
              <a:gdLst/>
              <a:ahLst/>
              <a:cxnLst/>
              <a:rect r="r" b="b" t="t" l="l"/>
              <a:pathLst>
                <a:path h="145915" w="880183">
                  <a:moveTo>
                    <a:pt x="72957" y="0"/>
                  </a:moveTo>
                  <a:lnTo>
                    <a:pt x="807226" y="0"/>
                  </a:lnTo>
                  <a:cubicBezTo>
                    <a:pt x="847519" y="0"/>
                    <a:pt x="880183" y="32664"/>
                    <a:pt x="880183" y="72957"/>
                  </a:cubicBezTo>
                  <a:lnTo>
                    <a:pt x="880183" y="72957"/>
                  </a:lnTo>
                  <a:cubicBezTo>
                    <a:pt x="880183" y="113250"/>
                    <a:pt x="847519" y="145915"/>
                    <a:pt x="807226" y="145915"/>
                  </a:cubicBezTo>
                  <a:lnTo>
                    <a:pt x="72957" y="145915"/>
                  </a:lnTo>
                  <a:cubicBezTo>
                    <a:pt x="32664" y="145915"/>
                    <a:pt x="0" y="113250"/>
                    <a:pt x="0" y="72957"/>
                  </a:cubicBezTo>
                  <a:lnTo>
                    <a:pt x="0" y="72957"/>
                  </a:lnTo>
                  <a:cubicBezTo>
                    <a:pt x="0" y="32664"/>
                    <a:pt x="32664" y="0"/>
                    <a:pt x="72957" y="0"/>
                  </a:cubicBezTo>
                  <a:close/>
                </a:path>
              </a:pathLst>
            </a:custGeom>
            <a:solidFill>
              <a:srgbClr val="FFFFFF"/>
            </a:solid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14" id="14"/>
            <p:cNvSpPr txBox="true"/>
            <p:nvPr/>
          </p:nvSpPr>
          <p:spPr>
            <a:xfrm>
              <a:off x="0" y="-47625"/>
              <a:ext cx="880183" cy="193540"/>
            </a:xfrm>
            <a:prstGeom prst="rect">
              <a:avLst/>
            </a:prstGeom>
          </p:spPr>
          <p:txBody>
            <a:bodyPr anchor="ctr" rtlCol="false" tIns="50800" lIns="50800" bIns="50800" rIns="50800"/>
            <a:lstStyle/>
            <a:p>
              <a:pPr algn="ctr">
                <a:lnSpc>
                  <a:spcPts val="3359"/>
                </a:lnSpc>
              </a:pPr>
            </a:p>
          </p:txBody>
        </p:sp>
      </p:grpSp>
      <p:sp>
        <p:nvSpPr>
          <p:cNvPr name="AutoShape 15" id="15"/>
          <p:cNvSpPr/>
          <p:nvPr/>
        </p:nvSpPr>
        <p:spPr>
          <a:xfrm>
            <a:off x="-417053" y="1167061"/>
            <a:ext cx="19109210" cy="0"/>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
        <p:nvSpPr>
          <p:cNvPr name="AutoShape 16" id="16"/>
          <p:cNvSpPr/>
          <p:nvPr/>
        </p:nvSpPr>
        <p:spPr>
          <a:xfrm>
            <a:off x="6223588" y="-468675"/>
            <a:ext cx="0" cy="1635737"/>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
        <p:nvSpPr>
          <p:cNvPr name="AutoShape 17" id="17"/>
          <p:cNvSpPr/>
          <p:nvPr/>
        </p:nvSpPr>
        <p:spPr>
          <a:xfrm flipV="true">
            <a:off x="477889" y="4813953"/>
            <a:ext cx="18693133" cy="0"/>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grpSp>
        <p:nvGrpSpPr>
          <p:cNvPr name="Group 18" id="18"/>
          <p:cNvGrpSpPr/>
          <p:nvPr/>
        </p:nvGrpSpPr>
        <p:grpSpPr>
          <a:xfrm rot="0">
            <a:off x="1028700" y="5037791"/>
            <a:ext cx="5971736" cy="2649752"/>
            <a:chOff x="0" y="0"/>
            <a:chExt cx="1572803" cy="697877"/>
          </a:xfrm>
        </p:grpSpPr>
        <p:sp>
          <p:nvSpPr>
            <p:cNvPr name="Freeform 19" id="19"/>
            <p:cNvSpPr/>
            <p:nvPr/>
          </p:nvSpPr>
          <p:spPr>
            <a:xfrm flipH="false" flipV="false" rot="0">
              <a:off x="0" y="0"/>
              <a:ext cx="1572803" cy="697877"/>
            </a:xfrm>
            <a:custGeom>
              <a:avLst/>
              <a:gdLst/>
              <a:ahLst/>
              <a:cxnLst/>
              <a:rect r="r" b="b" t="t" l="l"/>
              <a:pathLst>
                <a:path h="697877" w="1572803">
                  <a:moveTo>
                    <a:pt x="51857" y="0"/>
                  </a:moveTo>
                  <a:lnTo>
                    <a:pt x="1520946" y="0"/>
                  </a:lnTo>
                  <a:cubicBezTo>
                    <a:pt x="1549586" y="0"/>
                    <a:pt x="1572803" y="23217"/>
                    <a:pt x="1572803" y="51857"/>
                  </a:cubicBezTo>
                  <a:lnTo>
                    <a:pt x="1572803" y="646020"/>
                  </a:lnTo>
                  <a:cubicBezTo>
                    <a:pt x="1572803" y="674660"/>
                    <a:pt x="1549586" y="697877"/>
                    <a:pt x="1520946" y="697877"/>
                  </a:cubicBezTo>
                  <a:lnTo>
                    <a:pt x="51857" y="697877"/>
                  </a:lnTo>
                  <a:cubicBezTo>
                    <a:pt x="38104" y="697877"/>
                    <a:pt x="24914" y="692414"/>
                    <a:pt x="15189" y="682688"/>
                  </a:cubicBezTo>
                  <a:cubicBezTo>
                    <a:pt x="5463" y="672963"/>
                    <a:pt x="0" y="659773"/>
                    <a:pt x="0" y="646020"/>
                  </a:cubicBezTo>
                  <a:lnTo>
                    <a:pt x="0" y="51857"/>
                  </a:lnTo>
                  <a:cubicBezTo>
                    <a:pt x="0" y="23217"/>
                    <a:pt x="23217" y="0"/>
                    <a:pt x="51857" y="0"/>
                  </a:cubicBezTo>
                  <a:close/>
                </a:path>
              </a:pathLst>
            </a:custGeom>
            <a:solidFill>
              <a:srgbClr val="FFFFFF"/>
            </a:solid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20" id="20"/>
            <p:cNvSpPr txBox="true"/>
            <p:nvPr/>
          </p:nvSpPr>
          <p:spPr>
            <a:xfrm>
              <a:off x="0" y="-47625"/>
              <a:ext cx="1572803" cy="745502"/>
            </a:xfrm>
            <a:prstGeom prst="rect">
              <a:avLst/>
            </a:prstGeom>
          </p:spPr>
          <p:txBody>
            <a:bodyPr anchor="ctr" rtlCol="false" tIns="50800" lIns="50800" bIns="50800" rIns="50800"/>
            <a:lstStyle/>
            <a:p>
              <a:pPr algn="ctr">
                <a:lnSpc>
                  <a:spcPts val="3359"/>
                </a:lnSpc>
              </a:pPr>
            </a:p>
          </p:txBody>
        </p:sp>
      </p:grpSp>
      <p:grpSp>
        <p:nvGrpSpPr>
          <p:cNvPr name="Group 21" id="21"/>
          <p:cNvGrpSpPr/>
          <p:nvPr/>
        </p:nvGrpSpPr>
        <p:grpSpPr>
          <a:xfrm rot="0">
            <a:off x="8950027" y="5142566"/>
            <a:ext cx="5971736" cy="2649752"/>
            <a:chOff x="0" y="0"/>
            <a:chExt cx="1572803" cy="697877"/>
          </a:xfrm>
        </p:grpSpPr>
        <p:sp>
          <p:nvSpPr>
            <p:cNvPr name="Freeform 22" id="22"/>
            <p:cNvSpPr/>
            <p:nvPr/>
          </p:nvSpPr>
          <p:spPr>
            <a:xfrm flipH="false" flipV="false" rot="0">
              <a:off x="0" y="0"/>
              <a:ext cx="1572803" cy="697877"/>
            </a:xfrm>
            <a:custGeom>
              <a:avLst/>
              <a:gdLst/>
              <a:ahLst/>
              <a:cxnLst/>
              <a:rect r="r" b="b" t="t" l="l"/>
              <a:pathLst>
                <a:path h="697877" w="1572803">
                  <a:moveTo>
                    <a:pt x="51857" y="0"/>
                  </a:moveTo>
                  <a:lnTo>
                    <a:pt x="1520946" y="0"/>
                  </a:lnTo>
                  <a:cubicBezTo>
                    <a:pt x="1549586" y="0"/>
                    <a:pt x="1572803" y="23217"/>
                    <a:pt x="1572803" y="51857"/>
                  </a:cubicBezTo>
                  <a:lnTo>
                    <a:pt x="1572803" y="646020"/>
                  </a:lnTo>
                  <a:cubicBezTo>
                    <a:pt x="1572803" y="674660"/>
                    <a:pt x="1549586" y="697877"/>
                    <a:pt x="1520946" y="697877"/>
                  </a:cubicBezTo>
                  <a:lnTo>
                    <a:pt x="51857" y="697877"/>
                  </a:lnTo>
                  <a:cubicBezTo>
                    <a:pt x="38104" y="697877"/>
                    <a:pt x="24914" y="692414"/>
                    <a:pt x="15189" y="682688"/>
                  </a:cubicBezTo>
                  <a:cubicBezTo>
                    <a:pt x="5463" y="672963"/>
                    <a:pt x="0" y="659773"/>
                    <a:pt x="0" y="646020"/>
                  </a:cubicBezTo>
                  <a:lnTo>
                    <a:pt x="0" y="51857"/>
                  </a:lnTo>
                  <a:cubicBezTo>
                    <a:pt x="0" y="23217"/>
                    <a:pt x="23217" y="0"/>
                    <a:pt x="51857" y="0"/>
                  </a:cubicBezTo>
                  <a:close/>
                </a:path>
              </a:pathLst>
            </a:custGeom>
            <a:gradFill rotWithShape="true">
              <a:gsLst>
                <a:gs pos="0">
                  <a:srgbClr val="292929">
                    <a:alpha val="100000"/>
                  </a:srgbClr>
                </a:gs>
                <a:gs pos="100000">
                  <a:srgbClr val="3F4E52">
                    <a:alpha val="100000"/>
                  </a:srgbClr>
                </a:gs>
              </a:gsLst>
              <a:lin ang="0"/>
            </a:grad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23" id="23"/>
            <p:cNvSpPr txBox="true"/>
            <p:nvPr/>
          </p:nvSpPr>
          <p:spPr>
            <a:xfrm>
              <a:off x="0" y="-47625"/>
              <a:ext cx="1572803" cy="745502"/>
            </a:xfrm>
            <a:prstGeom prst="rect">
              <a:avLst/>
            </a:prstGeom>
          </p:spPr>
          <p:txBody>
            <a:bodyPr anchor="ctr" rtlCol="false" tIns="50800" lIns="50800" bIns="50800" rIns="50800"/>
            <a:lstStyle/>
            <a:p>
              <a:pPr algn="ctr">
                <a:lnSpc>
                  <a:spcPts val="3359"/>
                </a:lnSpc>
              </a:pPr>
            </a:p>
          </p:txBody>
        </p:sp>
      </p:grpSp>
      <p:sp>
        <p:nvSpPr>
          <p:cNvPr name="Freeform 24" id="24"/>
          <p:cNvSpPr/>
          <p:nvPr/>
        </p:nvSpPr>
        <p:spPr>
          <a:xfrm flipH="false" flipV="true" rot="7459659">
            <a:off x="5424499" y="7889527"/>
            <a:ext cx="6230114" cy="5918609"/>
          </a:xfrm>
          <a:custGeom>
            <a:avLst/>
            <a:gdLst/>
            <a:ahLst/>
            <a:cxnLst/>
            <a:rect r="r" b="b" t="t" l="l"/>
            <a:pathLst>
              <a:path h="5918609" w="6230114">
                <a:moveTo>
                  <a:pt x="0" y="5918609"/>
                </a:moveTo>
                <a:lnTo>
                  <a:pt x="6230114" y="5918609"/>
                </a:lnTo>
                <a:lnTo>
                  <a:pt x="6230114" y="0"/>
                </a:lnTo>
                <a:lnTo>
                  <a:pt x="0" y="0"/>
                </a:lnTo>
                <a:lnTo>
                  <a:pt x="0" y="5918609"/>
                </a:lnTo>
                <a:close/>
              </a:path>
            </a:pathLst>
          </a:custGeom>
          <a:blipFill>
            <a:blip r:embed="rId5">
              <a:alphaModFix amt="38000"/>
            </a:blip>
            <a:stretch>
              <a:fillRect l="0" t="0" r="0" b="0"/>
            </a:stretch>
          </a:blipFill>
          <a:ln cap="sq">
            <a:noFill/>
            <a:prstDash val="solid"/>
            <a:miter/>
          </a:ln>
        </p:spPr>
      </p:sp>
      <p:sp>
        <p:nvSpPr>
          <p:cNvPr name="TextBox 25" id="25"/>
          <p:cNvSpPr txBox="true"/>
          <p:nvPr/>
        </p:nvSpPr>
        <p:spPr>
          <a:xfrm rot="0">
            <a:off x="1383454" y="471410"/>
            <a:ext cx="2385672" cy="382270"/>
          </a:xfrm>
          <a:prstGeom prst="rect">
            <a:avLst/>
          </a:prstGeom>
        </p:spPr>
        <p:txBody>
          <a:bodyPr anchor="t" rtlCol="false" tIns="0" lIns="0" bIns="0" rIns="0">
            <a:spAutoFit/>
          </a:bodyPr>
          <a:lstStyle/>
          <a:p>
            <a:pPr algn="l">
              <a:lnSpc>
                <a:spcPts val="3079"/>
              </a:lnSpc>
            </a:pPr>
            <a:r>
              <a:rPr lang="en-US" sz="2199" spc="-142">
                <a:solidFill>
                  <a:srgbClr val="FFFFFF"/>
                </a:solidFill>
                <a:latin typeface="TS Qamus"/>
                <a:ea typeface="TS Qamus"/>
                <a:cs typeface="TS Qamus"/>
                <a:sym typeface="TS Qamus"/>
              </a:rPr>
              <a:t>Salford &amp; Co.</a:t>
            </a:r>
          </a:p>
        </p:txBody>
      </p:sp>
      <p:sp>
        <p:nvSpPr>
          <p:cNvPr name="TextBox 26" id="26"/>
          <p:cNvSpPr txBox="true"/>
          <p:nvPr/>
        </p:nvSpPr>
        <p:spPr>
          <a:xfrm rot="0">
            <a:off x="14170902" y="477323"/>
            <a:ext cx="2228402" cy="325755"/>
          </a:xfrm>
          <a:prstGeom prst="rect">
            <a:avLst/>
          </a:prstGeom>
        </p:spPr>
        <p:txBody>
          <a:bodyPr anchor="t" rtlCol="false" tIns="0" lIns="0" bIns="0" rIns="0">
            <a:spAutoFit/>
          </a:bodyPr>
          <a:lstStyle/>
          <a:p>
            <a:pPr algn="ctr">
              <a:lnSpc>
                <a:spcPts val="2520"/>
              </a:lnSpc>
            </a:pPr>
            <a:r>
              <a:rPr lang="en-US" sz="1800" spc="-117">
                <a:solidFill>
                  <a:srgbClr val="FFFFFF"/>
                </a:solidFill>
                <a:latin typeface="Poppins"/>
                <a:ea typeface="Poppins"/>
                <a:cs typeface="Poppins"/>
                <a:sym typeface="Poppins"/>
              </a:rPr>
              <a:t>6 August, 2025</a:t>
            </a:r>
          </a:p>
        </p:txBody>
      </p:sp>
      <p:sp>
        <p:nvSpPr>
          <p:cNvPr name="TextBox 27" id="27"/>
          <p:cNvSpPr txBox="true"/>
          <p:nvPr/>
        </p:nvSpPr>
        <p:spPr>
          <a:xfrm rot="0">
            <a:off x="6740220" y="477323"/>
            <a:ext cx="2820551" cy="325755"/>
          </a:xfrm>
          <a:prstGeom prst="rect">
            <a:avLst/>
          </a:prstGeom>
        </p:spPr>
        <p:txBody>
          <a:bodyPr anchor="t" rtlCol="false" tIns="0" lIns="0" bIns="0" rIns="0">
            <a:spAutoFit/>
          </a:bodyPr>
          <a:lstStyle/>
          <a:p>
            <a:pPr algn="ctr">
              <a:lnSpc>
                <a:spcPts val="2520"/>
              </a:lnSpc>
            </a:pPr>
            <a:r>
              <a:rPr lang="en-US" sz="1800" spc="-117">
                <a:solidFill>
                  <a:srgbClr val="000000"/>
                </a:solidFill>
                <a:latin typeface="Poppins"/>
                <a:ea typeface="Poppins"/>
                <a:cs typeface="Poppins"/>
                <a:sym typeface="Poppins"/>
              </a:rPr>
              <a:t>Social</a:t>
            </a:r>
            <a:r>
              <a:rPr lang="en-US" sz="1800" spc="-117">
                <a:solidFill>
                  <a:srgbClr val="000000"/>
                </a:solidFill>
                <a:latin typeface="Poppins"/>
                <a:ea typeface="Poppins"/>
                <a:cs typeface="Poppins"/>
                <a:sym typeface="Poppins"/>
              </a:rPr>
              <a:t> Media Proposal</a:t>
            </a:r>
          </a:p>
        </p:txBody>
      </p:sp>
      <p:sp>
        <p:nvSpPr>
          <p:cNvPr name="TextBox 28" id="28"/>
          <p:cNvSpPr txBox="true"/>
          <p:nvPr/>
        </p:nvSpPr>
        <p:spPr>
          <a:xfrm rot="0">
            <a:off x="815264" y="1829049"/>
            <a:ext cx="8858777" cy="2660268"/>
          </a:xfrm>
          <a:prstGeom prst="rect">
            <a:avLst/>
          </a:prstGeom>
        </p:spPr>
        <p:txBody>
          <a:bodyPr anchor="t" rtlCol="false" tIns="0" lIns="0" bIns="0" rIns="0">
            <a:spAutoFit/>
          </a:bodyPr>
          <a:lstStyle/>
          <a:p>
            <a:pPr algn="l">
              <a:lnSpc>
                <a:spcPts val="9967"/>
              </a:lnSpc>
            </a:pPr>
            <a:r>
              <a:rPr lang="en-US" sz="11199" spc="-134" b="true">
                <a:solidFill>
                  <a:srgbClr val="FFFFFF"/>
                </a:solidFill>
                <a:latin typeface="Geometrica Sans Medium"/>
                <a:ea typeface="Geometrica Sans Medium"/>
                <a:cs typeface="Geometrica Sans Medium"/>
                <a:sym typeface="Geometrica Sans Medium"/>
              </a:rPr>
              <a:t>KESIMPULAN &amp; PENUTUP</a:t>
            </a:r>
          </a:p>
        </p:txBody>
      </p:sp>
      <p:sp>
        <p:nvSpPr>
          <p:cNvPr name="TextBox 29" id="29"/>
          <p:cNvSpPr txBox="true"/>
          <p:nvPr/>
        </p:nvSpPr>
        <p:spPr>
          <a:xfrm rot="0">
            <a:off x="1233123" y="5249918"/>
            <a:ext cx="5609568" cy="2234057"/>
          </a:xfrm>
          <a:prstGeom prst="rect">
            <a:avLst/>
          </a:prstGeom>
        </p:spPr>
        <p:txBody>
          <a:bodyPr anchor="t" rtlCol="false" tIns="0" lIns="0" bIns="0" rIns="0">
            <a:spAutoFit/>
          </a:bodyPr>
          <a:lstStyle/>
          <a:p>
            <a:pPr algn="l">
              <a:lnSpc>
                <a:spcPts val="2943"/>
              </a:lnSpc>
            </a:pPr>
            <a:r>
              <a:rPr lang="en-US" sz="2299" i="true" spc="-68">
                <a:solidFill>
                  <a:srgbClr val="4D4D4D"/>
                </a:solidFill>
                <a:latin typeface="Poppins Italics"/>
                <a:ea typeface="Poppins Italics"/>
                <a:cs typeface="Poppins Italics"/>
                <a:sym typeface="Poppins Italics"/>
              </a:rPr>
              <a:t>Pipeline NLP &amp; Neural Matching Berhasil Dibangun: Mengombinasikan Sentence-BERT dan Cross-Encoder untuk pemetaan semantik antara kurikulum akademik, sertifikasi, dan 4.570 lowongan kerja.</a:t>
            </a:r>
          </a:p>
        </p:txBody>
      </p:sp>
      <p:sp>
        <p:nvSpPr>
          <p:cNvPr name="TextBox 30" id="30"/>
          <p:cNvSpPr txBox="true"/>
          <p:nvPr/>
        </p:nvSpPr>
        <p:spPr>
          <a:xfrm rot="0">
            <a:off x="9191038" y="5319362"/>
            <a:ext cx="5393923" cy="2234057"/>
          </a:xfrm>
          <a:prstGeom prst="rect">
            <a:avLst/>
          </a:prstGeom>
        </p:spPr>
        <p:txBody>
          <a:bodyPr anchor="t" rtlCol="false" tIns="0" lIns="0" bIns="0" rIns="0">
            <a:spAutoFit/>
          </a:bodyPr>
          <a:lstStyle/>
          <a:p>
            <a:pPr algn="l">
              <a:lnSpc>
                <a:spcPts val="2943"/>
              </a:lnSpc>
            </a:pPr>
            <a:r>
              <a:rPr lang="en-US" sz="2299" i="true" spc="-68">
                <a:solidFill>
                  <a:srgbClr val="C6C6C6"/>
                </a:solidFill>
                <a:latin typeface="Poppins Italics"/>
                <a:ea typeface="Poppins Italics"/>
                <a:cs typeface="Poppins Italics"/>
                <a:sym typeface="Poppins Italics"/>
              </a:rPr>
              <a:t>Transparansi Berbasis XAI: Implementasi SHAP dan DiCE terbukti efektif mengubah model black-box menjadi sistem rekomendasi yang transparan, terukur, dan menyediakan learning roadmap konkret.</a:t>
            </a:r>
          </a:p>
        </p:txBody>
      </p:sp>
      <p:grpSp>
        <p:nvGrpSpPr>
          <p:cNvPr name="Group 31" id="31"/>
          <p:cNvGrpSpPr/>
          <p:nvPr/>
        </p:nvGrpSpPr>
        <p:grpSpPr>
          <a:xfrm rot="0">
            <a:off x="16196894" y="1181042"/>
            <a:ext cx="3612435" cy="4260767"/>
            <a:chOff x="0" y="0"/>
            <a:chExt cx="559661" cy="660104"/>
          </a:xfrm>
        </p:grpSpPr>
        <p:sp>
          <p:nvSpPr>
            <p:cNvPr name="Freeform 32" id="32"/>
            <p:cNvSpPr/>
            <p:nvPr/>
          </p:nvSpPr>
          <p:spPr>
            <a:xfrm flipH="false" flipV="false" rot="0">
              <a:off x="0" y="0"/>
              <a:ext cx="559661" cy="660104"/>
            </a:xfrm>
            <a:custGeom>
              <a:avLst/>
              <a:gdLst/>
              <a:ahLst/>
              <a:cxnLst/>
              <a:rect r="r" b="b" t="t" l="l"/>
              <a:pathLst>
                <a:path h="660104" w="559661">
                  <a:moveTo>
                    <a:pt x="85725" y="0"/>
                  </a:moveTo>
                  <a:lnTo>
                    <a:pt x="473936" y="0"/>
                  </a:lnTo>
                  <a:cubicBezTo>
                    <a:pt x="496671" y="0"/>
                    <a:pt x="518476" y="9032"/>
                    <a:pt x="534552" y="25108"/>
                  </a:cubicBezTo>
                  <a:cubicBezTo>
                    <a:pt x="550629" y="41185"/>
                    <a:pt x="559661" y="62989"/>
                    <a:pt x="559661" y="85725"/>
                  </a:cubicBezTo>
                  <a:lnTo>
                    <a:pt x="559661" y="574379"/>
                  </a:lnTo>
                  <a:cubicBezTo>
                    <a:pt x="559661" y="597115"/>
                    <a:pt x="550629" y="618919"/>
                    <a:pt x="534552" y="634996"/>
                  </a:cubicBezTo>
                  <a:cubicBezTo>
                    <a:pt x="518476" y="651073"/>
                    <a:pt x="496671" y="660104"/>
                    <a:pt x="473936" y="660104"/>
                  </a:cubicBezTo>
                  <a:lnTo>
                    <a:pt x="85725" y="660104"/>
                  </a:lnTo>
                  <a:cubicBezTo>
                    <a:pt x="62989" y="660104"/>
                    <a:pt x="41185" y="651073"/>
                    <a:pt x="25108" y="634996"/>
                  </a:cubicBezTo>
                  <a:cubicBezTo>
                    <a:pt x="9032" y="618919"/>
                    <a:pt x="0" y="597115"/>
                    <a:pt x="0" y="574379"/>
                  </a:cubicBezTo>
                  <a:lnTo>
                    <a:pt x="0" y="85725"/>
                  </a:lnTo>
                  <a:cubicBezTo>
                    <a:pt x="0" y="62989"/>
                    <a:pt x="9032" y="41185"/>
                    <a:pt x="25108" y="25108"/>
                  </a:cubicBezTo>
                  <a:cubicBezTo>
                    <a:pt x="41185" y="9032"/>
                    <a:pt x="62989" y="0"/>
                    <a:pt x="85725" y="0"/>
                  </a:cubicBezTo>
                  <a:close/>
                </a:path>
              </a:pathLst>
            </a:custGeom>
            <a:blipFill>
              <a:blip r:embed="rId6"/>
              <a:stretch>
                <a:fillRect l="-18555" t="0" r="-58144" b="0"/>
              </a:stretch>
            </a:blipFill>
            <a:ln w="19050"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1777" r="0" b="-1777"/>
            </a:stretch>
          </a:blipFill>
        </p:spPr>
      </p:sp>
      <p:sp>
        <p:nvSpPr>
          <p:cNvPr name="AutoShape 3" id="3"/>
          <p:cNvSpPr/>
          <p:nvPr/>
        </p:nvSpPr>
        <p:spPr>
          <a:xfrm>
            <a:off x="10038640" y="-468675"/>
            <a:ext cx="0" cy="11995723"/>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
        <p:nvSpPr>
          <p:cNvPr name="AutoShape 4" id="4"/>
          <p:cNvSpPr/>
          <p:nvPr/>
        </p:nvSpPr>
        <p:spPr>
          <a:xfrm>
            <a:off x="477889" y="-448043"/>
            <a:ext cx="0" cy="11118486"/>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
        <p:nvSpPr>
          <p:cNvPr name="Freeform 5" id="5"/>
          <p:cNvSpPr/>
          <p:nvPr/>
        </p:nvSpPr>
        <p:spPr>
          <a:xfrm flipH="false" flipV="false" rot="0">
            <a:off x="783373" y="515779"/>
            <a:ext cx="443469" cy="305994"/>
          </a:xfrm>
          <a:custGeom>
            <a:avLst/>
            <a:gdLst/>
            <a:ahLst/>
            <a:cxnLst/>
            <a:rect r="r" b="b" t="t" l="l"/>
            <a:pathLst>
              <a:path h="305994" w="443469">
                <a:moveTo>
                  <a:pt x="0" y="0"/>
                </a:moveTo>
                <a:lnTo>
                  <a:pt x="443469" y="0"/>
                </a:lnTo>
                <a:lnTo>
                  <a:pt x="443469" y="305993"/>
                </a:lnTo>
                <a:lnTo>
                  <a:pt x="0" y="30599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16845300" y="391766"/>
            <a:ext cx="635507" cy="554019"/>
            <a:chOff x="0" y="0"/>
            <a:chExt cx="167376" cy="145915"/>
          </a:xfrm>
        </p:grpSpPr>
        <p:sp>
          <p:nvSpPr>
            <p:cNvPr name="Freeform 7" id="7"/>
            <p:cNvSpPr/>
            <p:nvPr/>
          </p:nvSpPr>
          <p:spPr>
            <a:xfrm flipH="false" flipV="false" rot="0">
              <a:off x="0" y="0"/>
              <a:ext cx="167376" cy="145915"/>
            </a:xfrm>
            <a:custGeom>
              <a:avLst/>
              <a:gdLst/>
              <a:ahLst/>
              <a:cxnLst/>
              <a:rect r="r" b="b" t="t" l="l"/>
              <a:pathLst>
                <a:path h="145915" w="167376">
                  <a:moveTo>
                    <a:pt x="72957" y="0"/>
                  </a:moveTo>
                  <a:lnTo>
                    <a:pt x="94419" y="0"/>
                  </a:lnTo>
                  <a:cubicBezTo>
                    <a:pt x="134712" y="0"/>
                    <a:pt x="167376" y="32664"/>
                    <a:pt x="167376" y="72957"/>
                  </a:cubicBezTo>
                  <a:lnTo>
                    <a:pt x="167376" y="72957"/>
                  </a:lnTo>
                  <a:cubicBezTo>
                    <a:pt x="167376" y="113250"/>
                    <a:pt x="134712" y="145915"/>
                    <a:pt x="94419" y="145915"/>
                  </a:cubicBezTo>
                  <a:lnTo>
                    <a:pt x="72957" y="145915"/>
                  </a:lnTo>
                  <a:cubicBezTo>
                    <a:pt x="32664" y="145915"/>
                    <a:pt x="0" y="113250"/>
                    <a:pt x="0" y="72957"/>
                  </a:cubicBezTo>
                  <a:lnTo>
                    <a:pt x="0" y="72957"/>
                  </a:lnTo>
                  <a:cubicBezTo>
                    <a:pt x="0" y="32664"/>
                    <a:pt x="32664" y="0"/>
                    <a:pt x="72957" y="0"/>
                  </a:cubicBezTo>
                  <a:close/>
                </a:path>
              </a:pathLst>
            </a:custGeom>
            <a:gradFill rotWithShape="true">
              <a:gsLst>
                <a:gs pos="0">
                  <a:srgbClr val="9B9B9B">
                    <a:alpha val="28000"/>
                  </a:srgbClr>
                </a:gs>
                <a:gs pos="25000">
                  <a:srgbClr val="FFFFFF">
                    <a:alpha val="29000"/>
                  </a:srgbClr>
                </a:gs>
                <a:gs pos="50000">
                  <a:srgbClr val="FFFFFF">
                    <a:alpha val="44500"/>
                  </a:srgbClr>
                </a:gs>
                <a:gs pos="75000">
                  <a:srgbClr val="FFFFFF">
                    <a:alpha val="29000"/>
                  </a:srgbClr>
                </a:gs>
                <a:gs pos="100000">
                  <a:srgbClr val="9B9B9B">
                    <a:alpha val="28000"/>
                  </a:srgbClr>
                </a:gs>
              </a:gsLst>
              <a:lin ang="2700000"/>
            </a:grad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8" id="8"/>
            <p:cNvSpPr txBox="true"/>
            <p:nvPr/>
          </p:nvSpPr>
          <p:spPr>
            <a:xfrm>
              <a:off x="0" y="-47625"/>
              <a:ext cx="167376" cy="193540"/>
            </a:xfrm>
            <a:prstGeom prst="rect">
              <a:avLst/>
            </a:prstGeom>
          </p:spPr>
          <p:txBody>
            <a:bodyPr anchor="ctr" rtlCol="false" tIns="50800" lIns="50800" bIns="50800" rIns="50800"/>
            <a:lstStyle/>
            <a:p>
              <a:pPr algn="ctr">
                <a:lnSpc>
                  <a:spcPts val="3359"/>
                </a:lnSpc>
              </a:pPr>
            </a:p>
          </p:txBody>
        </p:sp>
      </p:grpSp>
      <p:grpSp>
        <p:nvGrpSpPr>
          <p:cNvPr name="Group 9" id="9"/>
          <p:cNvGrpSpPr/>
          <p:nvPr/>
        </p:nvGrpSpPr>
        <p:grpSpPr>
          <a:xfrm rot="0">
            <a:off x="13913154" y="391766"/>
            <a:ext cx="2743897" cy="554019"/>
            <a:chOff x="0" y="0"/>
            <a:chExt cx="722672" cy="145915"/>
          </a:xfrm>
        </p:grpSpPr>
        <p:sp>
          <p:nvSpPr>
            <p:cNvPr name="Freeform 10" id="10"/>
            <p:cNvSpPr/>
            <p:nvPr/>
          </p:nvSpPr>
          <p:spPr>
            <a:xfrm flipH="false" flipV="false" rot="0">
              <a:off x="0" y="0"/>
              <a:ext cx="722672" cy="145915"/>
            </a:xfrm>
            <a:custGeom>
              <a:avLst/>
              <a:gdLst/>
              <a:ahLst/>
              <a:cxnLst/>
              <a:rect r="r" b="b" t="t" l="l"/>
              <a:pathLst>
                <a:path h="145915" w="722672">
                  <a:moveTo>
                    <a:pt x="72957" y="0"/>
                  </a:moveTo>
                  <a:lnTo>
                    <a:pt x="649715" y="0"/>
                  </a:lnTo>
                  <a:cubicBezTo>
                    <a:pt x="690008" y="0"/>
                    <a:pt x="722672" y="32664"/>
                    <a:pt x="722672" y="72957"/>
                  </a:cubicBezTo>
                  <a:lnTo>
                    <a:pt x="722672" y="72957"/>
                  </a:lnTo>
                  <a:cubicBezTo>
                    <a:pt x="722672" y="113250"/>
                    <a:pt x="690008" y="145915"/>
                    <a:pt x="649715" y="145915"/>
                  </a:cubicBezTo>
                  <a:lnTo>
                    <a:pt x="72957" y="145915"/>
                  </a:lnTo>
                  <a:cubicBezTo>
                    <a:pt x="32664" y="145915"/>
                    <a:pt x="0" y="113250"/>
                    <a:pt x="0" y="72957"/>
                  </a:cubicBezTo>
                  <a:lnTo>
                    <a:pt x="0" y="72957"/>
                  </a:lnTo>
                  <a:cubicBezTo>
                    <a:pt x="0" y="32664"/>
                    <a:pt x="32664" y="0"/>
                    <a:pt x="72957" y="0"/>
                  </a:cubicBezTo>
                  <a:close/>
                </a:path>
              </a:pathLst>
            </a:custGeom>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11" id="11"/>
            <p:cNvSpPr txBox="true"/>
            <p:nvPr/>
          </p:nvSpPr>
          <p:spPr>
            <a:xfrm>
              <a:off x="0" y="-47625"/>
              <a:ext cx="722672" cy="193540"/>
            </a:xfrm>
            <a:prstGeom prst="rect">
              <a:avLst/>
            </a:prstGeom>
          </p:spPr>
          <p:txBody>
            <a:bodyPr anchor="ctr" rtlCol="false" tIns="50800" lIns="50800" bIns="50800" rIns="50800"/>
            <a:lstStyle/>
            <a:p>
              <a:pPr algn="ctr">
                <a:lnSpc>
                  <a:spcPts val="3359"/>
                </a:lnSpc>
              </a:pPr>
            </a:p>
          </p:txBody>
        </p:sp>
      </p:grpSp>
      <p:grpSp>
        <p:nvGrpSpPr>
          <p:cNvPr name="Group 12" id="12"/>
          <p:cNvGrpSpPr/>
          <p:nvPr/>
        </p:nvGrpSpPr>
        <p:grpSpPr>
          <a:xfrm rot="0">
            <a:off x="6476000" y="391766"/>
            <a:ext cx="3341946" cy="554019"/>
            <a:chOff x="0" y="0"/>
            <a:chExt cx="880183" cy="145915"/>
          </a:xfrm>
        </p:grpSpPr>
        <p:sp>
          <p:nvSpPr>
            <p:cNvPr name="Freeform 13" id="13"/>
            <p:cNvSpPr/>
            <p:nvPr/>
          </p:nvSpPr>
          <p:spPr>
            <a:xfrm flipH="false" flipV="false" rot="0">
              <a:off x="0" y="0"/>
              <a:ext cx="880183" cy="145915"/>
            </a:xfrm>
            <a:custGeom>
              <a:avLst/>
              <a:gdLst/>
              <a:ahLst/>
              <a:cxnLst/>
              <a:rect r="r" b="b" t="t" l="l"/>
              <a:pathLst>
                <a:path h="145915" w="880183">
                  <a:moveTo>
                    <a:pt x="72957" y="0"/>
                  </a:moveTo>
                  <a:lnTo>
                    <a:pt x="807226" y="0"/>
                  </a:lnTo>
                  <a:cubicBezTo>
                    <a:pt x="847519" y="0"/>
                    <a:pt x="880183" y="32664"/>
                    <a:pt x="880183" y="72957"/>
                  </a:cubicBezTo>
                  <a:lnTo>
                    <a:pt x="880183" y="72957"/>
                  </a:lnTo>
                  <a:cubicBezTo>
                    <a:pt x="880183" y="113250"/>
                    <a:pt x="847519" y="145915"/>
                    <a:pt x="807226" y="145915"/>
                  </a:cubicBezTo>
                  <a:lnTo>
                    <a:pt x="72957" y="145915"/>
                  </a:lnTo>
                  <a:cubicBezTo>
                    <a:pt x="32664" y="145915"/>
                    <a:pt x="0" y="113250"/>
                    <a:pt x="0" y="72957"/>
                  </a:cubicBezTo>
                  <a:lnTo>
                    <a:pt x="0" y="72957"/>
                  </a:lnTo>
                  <a:cubicBezTo>
                    <a:pt x="0" y="32664"/>
                    <a:pt x="32664" y="0"/>
                    <a:pt x="72957" y="0"/>
                  </a:cubicBezTo>
                  <a:close/>
                </a:path>
              </a:pathLst>
            </a:custGeom>
            <a:solidFill>
              <a:srgbClr val="FFFFFF"/>
            </a:solid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14" id="14"/>
            <p:cNvSpPr txBox="true"/>
            <p:nvPr/>
          </p:nvSpPr>
          <p:spPr>
            <a:xfrm>
              <a:off x="0" y="-47625"/>
              <a:ext cx="880183" cy="193540"/>
            </a:xfrm>
            <a:prstGeom prst="rect">
              <a:avLst/>
            </a:prstGeom>
          </p:spPr>
          <p:txBody>
            <a:bodyPr anchor="ctr" rtlCol="false" tIns="50800" lIns="50800" bIns="50800" rIns="50800"/>
            <a:lstStyle/>
            <a:p>
              <a:pPr algn="ctr">
                <a:lnSpc>
                  <a:spcPts val="3359"/>
                </a:lnSpc>
              </a:pPr>
            </a:p>
          </p:txBody>
        </p:sp>
      </p:grpSp>
      <p:sp>
        <p:nvSpPr>
          <p:cNvPr name="AutoShape 15" id="15"/>
          <p:cNvSpPr/>
          <p:nvPr/>
        </p:nvSpPr>
        <p:spPr>
          <a:xfrm>
            <a:off x="-417053" y="1167061"/>
            <a:ext cx="19109210" cy="0"/>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
        <p:nvSpPr>
          <p:cNvPr name="AutoShape 16" id="16"/>
          <p:cNvSpPr/>
          <p:nvPr/>
        </p:nvSpPr>
        <p:spPr>
          <a:xfrm>
            <a:off x="6223588" y="-468675"/>
            <a:ext cx="0" cy="1635737"/>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
        <p:nvSpPr>
          <p:cNvPr name="AutoShape 17" id="17"/>
          <p:cNvSpPr/>
          <p:nvPr/>
        </p:nvSpPr>
        <p:spPr>
          <a:xfrm flipV="true">
            <a:off x="477889" y="4813953"/>
            <a:ext cx="18693133" cy="0"/>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grpSp>
        <p:nvGrpSpPr>
          <p:cNvPr name="Group 18" id="18"/>
          <p:cNvGrpSpPr/>
          <p:nvPr/>
        </p:nvGrpSpPr>
        <p:grpSpPr>
          <a:xfrm rot="0">
            <a:off x="9370879" y="1999298"/>
            <a:ext cx="5971736" cy="3333119"/>
            <a:chOff x="0" y="0"/>
            <a:chExt cx="925178" cy="516387"/>
          </a:xfrm>
        </p:grpSpPr>
        <p:sp>
          <p:nvSpPr>
            <p:cNvPr name="Freeform 19" id="19"/>
            <p:cNvSpPr/>
            <p:nvPr/>
          </p:nvSpPr>
          <p:spPr>
            <a:xfrm flipH="false" flipV="false" rot="0">
              <a:off x="0" y="0"/>
              <a:ext cx="925178" cy="516387"/>
            </a:xfrm>
            <a:custGeom>
              <a:avLst/>
              <a:gdLst/>
              <a:ahLst/>
              <a:cxnLst/>
              <a:rect r="r" b="b" t="t" l="l"/>
              <a:pathLst>
                <a:path h="516387" w="925178">
                  <a:moveTo>
                    <a:pt x="51857" y="0"/>
                  </a:moveTo>
                  <a:lnTo>
                    <a:pt x="873321" y="0"/>
                  </a:lnTo>
                  <a:cubicBezTo>
                    <a:pt x="901961" y="0"/>
                    <a:pt x="925178" y="23217"/>
                    <a:pt x="925178" y="51857"/>
                  </a:cubicBezTo>
                  <a:lnTo>
                    <a:pt x="925178" y="464530"/>
                  </a:lnTo>
                  <a:cubicBezTo>
                    <a:pt x="925178" y="493170"/>
                    <a:pt x="901961" y="516387"/>
                    <a:pt x="873321" y="516387"/>
                  </a:cubicBezTo>
                  <a:lnTo>
                    <a:pt x="51857" y="516387"/>
                  </a:lnTo>
                  <a:cubicBezTo>
                    <a:pt x="23217" y="516387"/>
                    <a:pt x="0" y="493170"/>
                    <a:pt x="0" y="464530"/>
                  </a:cubicBezTo>
                  <a:lnTo>
                    <a:pt x="0" y="51857"/>
                  </a:lnTo>
                  <a:cubicBezTo>
                    <a:pt x="0" y="23217"/>
                    <a:pt x="23217" y="0"/>
                    <a:pt x="51857" y="0"/>
                  </a:cubicBezTo>
                  <a:close/>
                </a:path>
              </a:pathLst>
            </a:custGeom>
            <a:blipFill>
              <a:blip r:embed="rId5"/>
              <a:stretch>
                <a:fillRect l="0" t="-9683" r="0" b="-9683"/>
              </a:stretch>
            </a:blipFill>
            <a:ln w="19050"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grpSp>
        <p:nvGrpSpPr>
          <p:cNvPr name="Group 20" id="20"/>
          <p:cNvGrpSpPr/>
          <p:nvPr/>
        </p:nvGrpSpPr>
        <p:grpSpPr>
          <a:xfrm rot="0">
            <a:off x="10515473" y="5925181"/>
            <a:ext cx="5971736" cy="3333119"/>
            <a:chOff x="0" y="0"/>
            <a:chExt cx="925178" cy="516387"/>
          </a:xfrm>
        </p:grpSpPr>
        <p:sp>
          <p:nvSpPr>
            <p:cNvPr name="Freeform 21" id="21"/>
            <p:cNvSpPr/>
            <p:nvPr/>
          </p:nvSpPr>
          <p:spPr>
            <a:xfrm flipH="false" flipV="false" rot="0">
              <a:off x="0" y="0"/>
              <a:ext cx="925178" cy="516387"/>
            </a:xfrm>
            <a:custGeom>
              <a:avLst/>
              <a:gdLst/>
              <a:ahLst/>
              <a:cxnLst/>
              <a:rect r="r" b="b" t="t" l="l"/>
              <a:pathLst>
                <a:path h="516387" w="925178">
                  <a:moveTo>
                    <a:pt x="51857" y="0"/>
                  </a:moveTo>
                  <a:lnTo>
                    <a:pt x="873321" y="0"/>
                  </a:lnTo>
                  <a:cubicBezTo>
                    <a:pt x="901961" y="0"/>
                    <a:pt x="925178" y="23217"/>
                    <a:pt x="925178" y="51857"/>
                  </a:cubicBezTo>
                  <a:lnTo>
                    <a:pt x="925178" y="464530"/>
                  </a:lnTo>
                  <a:cubicBezTo>
                    <a:pt x="925178" y="493170"/>
                    <a:pt x="901961" y="516387"/>
                    <a:pt x="873321" y="516387"/>
                  </a:cubicBezTo>
                  <a:lnTo>
                    <a:pt x="51857" y="516387"/>
                  </a:lnTo>
                  <a:cubicBezTo>
                    <a:pt x="23217" y="516387"/>
                    <a:pt x="0" y="493170"/>
                    <a:pt x="0" y="464530"/>
                  </a:cubicBezTo>
                  <a:lnTo>
                    <a:pt x="0" y="51857"/>
                  </a:lnTo>
                  <a:cubicBezTo>
                    <a:pt x="0" y="23217"/>
                    <a:pt x="23217" y="0"/>
                    <a:pt x="51857" y="0"/>
                  </a:cubicBezTo>
                  <a:close/>
                </a:path>
              </a:pathLst>
            </a:custGeom>
            <a:blipFill>
              <a:blip r:embed="rId6"/>
              <a:stretch>
                <a:fillRect l="0" t="-389" r="0" b="-389"/>
              </a:stretch>
            </a:blipFill>
            <a:ln w="19050"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grpSp>
        <p:nvGrpSpPr>
          <p:cNvPr name="Group 22" id="22"/>
          <p:cNvGrpSpPr/>
          <p:nvPr/>
        </p:nvGrpSpPr>
        <p:grpSpPr>
          <a:xfrm rot="0">
            <a:off x="16196894" y="1181042"/>
            <a:ext cx="2974128" cy="4151375"/>
            <a:chOff x="0" y="0"/>
            <a:chExt cx="460770" cy="643157"/>
          </a:xfrm>
        </p:grpSpPr>
        <p:sp>
          <p:nvSpPr>
            <p:cNvPr name="Freeform 23" id="23"/>
            <p:cNvSpPr/>
            <p:nvPr/>
          </p:nvSpPr>
          <p:spPr>
            <a:xfrm flipH="false" flipV="false" rot="0">
              <a:off x="0" y="0"/>
              <a:ext cx="460770" cy="643157"/>
            </a:xfrm>
            <a:custGeom>
              <a:avLst/>
              <a:gdLst/>
              <a:ahLst/>
              <a:cxnLst/>
              <a:rect r="r" b="b" t="t" l="l"/>
              <a:pathLst>
                <a:path h="643157" w="460770">
                  <a:moveTo>
                    <a:pt x="104124" y="0"/>
                  </a:moveTo>
                  <a:lnTo>
                    <a:pt x="356647" y="0"/>
                  </a:lnTo>
                  <a:cubicBezTo>
                    <a:pt x="414153" y="0"/>
                    <a:pt x="460770" y="46618"/>
                    <a:pt x="460770" y="104124"/>
                  </a:cubicBezTo>
                  <a:lnTo>
                    <a:pt x="460770" y="539033"/>
                  </a:lnTo>
                  <a:cubicBezTo>
                    <a:pt x="460770" y="596539"/>
                    <a:pt x="414153" y="643157"/>
                    <a:pt x="356647" y="643157"/>
                  </a:cubicBezTo>
                  <a:lnTo>
                    <a:pt x="104124" y="643157"/>
                  </a:lnTo>
                  <a:cubicBezTo>
                    <a:pt x="46618" y="643157"/>
                    <a:pt x="0" y="596539"/>
                    <a:pt x="0" y="539033"/>
                  </a:cubicBezTo>
                  <a:lnTo>
                    <a:pt x="0" y="104124"/>
                  </a:lnTo>
                  <a:cubicBezTo>
                    <a:pt x="0" y="46618"/>
                    <a:pt x="46618" y="0"/>
                    <a:pt x="104124" y="0"/>
                  </a:cubicBezTo>
                  <a:close/>
                </a:path>
              </a:pathLst>
            </a:custGeom>
            <a:blipFill>
              <a:blip r:embed="rId7"/>
              <a:stretch>
                <a:fillRect l="0" t="-3765" r="0" b="-3765"/>
              </a:stretch>
            </a:blipFill>
            <a:ln w="19050"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grpSp>
        <p:nvGrpSpPr>
          <p:cNvPr name="Group 24" id="24"/>
          <p:cNvGrpSpPr/>
          <p:nvPr/>
        </p:nvGrpSpPr>
        <p:grpSpPr>
          <a:xfrm rot="0">
            <a:off x="854499" y="8104922"/>
            <a:ext cx="8191922" cy="3005812"/>
            <a:chOff x="0" y="0"/>
            <a:chExt cx="1269143" cy="465679"/>
          </a:xfrm>
        </p:grpSpPr>
        <p:sp>
          <p:nvSpPr>
            <p:cNvPr name="Freeform 25" id="25"/>
            <p:cNvSpPr/>
            <p:nvPr/>
          </p:nvSpPr>
          <p:spPr>
            <a:xfrm flipH="false" flipV="false" rot="0">
              <a:off x="0" y="0"/>
              <a:ext cx="1269143" cy="465679"/>
            </a:xfrm>
            <a:custGeom>
              <a:avLst/>
              <a:gdLst/>
              <a:ahLst/>
              <a:cxnLst/>
              <a:rect r="r" b="b" t="t" l="l"/>
              <a:pathLst>
                <a:path h="465679" w="1269143">
                  <a:moveTo>
                    <a:pt x="37803" y="0"/>
                  </a:moveTo>
                  <a:lnTo>
                    <a:pt x="1231340" y="0"/>
                  </a:lnTo>
                  <a:cubicBezTo>
                    <a:pt x="1252218" y="0"/>
                    <a:pt x="1269143" y="16925"/>
                    <a:pt x="1269143" y="37803"/>
                  </a:cubicBezTo>
                  <a:lnTo>
                    <a:pt x="1269143" y="427876"/>
                  </a:lnTo>
                  <a:cubicBezTo>
                    <a:pt x="1269143" y="437902"/>
                    <a:pt x="1265160" y="447517"/>
                    <a:pt x="1258071" y="454607"/>
                  </a:cubicBezTo>
                  <a:cubicBezTo>
                    <a:pt x="1250982" y="461696"/>
                    <a:pt x="1241366" y="465679"/>
                    <a:pt x="1231340" y="465679"/>
                  </a:cubicBezTo>
                  <a:lnTo>
                    <a:pt x="37803" y="465679"/>
                  </a:lnTo>
                  <a:cubicBezTo>
                    <a:pt x="27777" y="465679"/>
                    <a:pt x="18162" y="461696"/>
                    <a:pt x="11072" y="454607"/>
                  </a:cubicBezTo>
                  <a:cubicBezTo>
                    <a:pt x="3983" y="447517"/>
                    <a:pt x="0" y="437902"/>
                    <a:pt x="0" y="427876"/>
                  </a:cubicBezTo>
                  <a:lnTo>
                    <a:pt x="0" y="37803"/>
                  </a:lnTo>
                  <a:cubicBezTo>
                    <a:pt x="0" y="27777"/>
                    <a:pt x="3983" y="18162"/>
                    <a:pt x="11072" y="11072"/>
                  </a:cubicBezTo>
                  <a:cubicBezTo>
                    <a:pt x="18162" y="3983"/>
                    <a:pt x="27777" y="0"/>
                    <a:pt x="37803" y="0"/>
                  </a:cubicBezTo>
                  <a:close/>
                </a:path>
              </a:pathLst>
            </a:custGeom>
            <a:blipFill>
              <a:blip r:embed="rId8"/>
              <a:stretch>
                <a:fillRect l="0" t="-161176" r="0" b="-102204"/>
              </a:stretch>
            </a:blipFill>
            <a:ln w="19050"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grpSp>
        <p:nvGrpSpPr>
          <p:cNvPr name="Group 26" id="26"/>
          <p:cNvGrpSpPr/>
          <p:nvPr/>
        </p:nvGrpSpPr>
        <p:grpSpPr>
          <a:xfrm rot="0">
            <a:off x="17259300" y="6292944"/>
            <a:ext cx="4487603" cy="5930713"/>
            <a:chOff x="0" y="0"/>
            <a:chExt cx="1181920" cy="1561998"/>
          </a:xfrm>
        </p:grpSpPr>
        <p:sp>
          <p:nvSpPr>
            <p:cNvPr name="Freeform 27" id="27"/>
            <p:cNvSpPr/>
            <p:nvPr/>
          </p:nvSpPr>
          <p:spPr>
            <a:xfrm flipH="false" flipV="false" rot="0">
              <a:off x="0" y="0"/>
              <a:ext cx="1181920" cy="1561998"/>
            </a:xfrm>
            <a:custGeom>
              <a:avLst/>
              <a:gdLst/>
              <a:ahLst/>
              <a:cxnLst/>
              <a:rect r="r" b="b" t="t" l="l"/>
              <a:pathLst>
                <a:path h="1561998" w="1181920">
                  <a:moveTo>
                    <a:pt x="69007" y="0"/>
                  </a:moveTo>
                  <a:lnTo>
                    <a:pt x="1112913" y="0"/>
                  </a:lnTo>
                  <a:cubicBezTo>
                    <a:pt x="1151025" y="0"/>
                    <a:pt x="1181920" y="30896"/>
                    <a:pt x="1181920" y="69007"/>
                  </a:cubicBezTo>
                  <a:lnTo>
                    <a:pt x="1181920" y="1492991"/>
                  </a:lnTo>
                  <a:cubicBezTo>
                    <a:pt x="1181920" y="1531103"/>
                    <a:pt x="1151025" y="1561998"/>
                    <a:pt x="1112913" y="1561998"/>
                  </a:cubicBezTo>
                  <a:lnTo>
                    <a:pt x="69007" y="1561998"/>
                  </a:lnTo>
                  <a:cubicBezTo>
                    <a:pt x="30896" y="1561998"/>
                    <a:pt x="0" y="1531103"/>
                    <a:pt x="0" y="1492991"/>
                  </a:cubicBezTo>
                  <a:lnTo>
                    <a:pt x="0" y="69007"/>
                  </a:lnTo>
                  <a:cubicBezTo>
                    <a:pt x="0" y="30896"/>
                    <a:pt x="30896" y="0"/>
                    <a:pt x="69007" y="0"/>
                  </a:cubicBezTo>
                  <a:close/>
                </a:path>
              </a:pathLst>
            </a:custGeom>
            <a:gradFill rotWithShape="true">
              <a:gsLst>
                <a:gs pos="0">
                  <a:srgbClr val="9B9B9B">
                    <a:alpha val="28000"/>
                  </a:srgbClr>
                </a:gs>
                <a:gs pos="25000">
                  <a:srgbClr val="FFFFFF">
                    <a:alpha val="29000"/>
                  </a:srgbClr>
                </a:gs>
                <a:gs pos="50000">
                  <a:srgbClr val="FFFFFF">
                    <a:alpha val="44500"/>
                  </a:srgbClr>
                </a:gs>
                <a:gs pos="75000">
                  <a:srgbClr val="FFFFFF">
                    <a:alpha val="29000"/>
                  </a:srgbClr>
                </a:gs>
                <a:gs pos="100000">
                  <a:srgbClr val="9B9B9B">
                    <a:alpha val="28000"/>
                  </a:srgbClr>
                </a:gs>
              </a:gsLst>
              <a:lin ang="2700000"/>
            </a:grad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28" id="28"/>
            <p:cNvSpPr txBox="true"/>
            <p:nvPr/>
          </p:nvSpPr>
          <p:spPr>
            <a:xfrm>
              <a:off x="0" y="-47625"/>
              <a:ext cx="1181920" cy="1609623"/>
            </a:xfrm>
            <a:prstGeom prst="rect">
              <a:avLst/>
            </a:prstGeom>
          </p:spPr>
          <p:txBody>
            <a:bodyPr anchor="ctr" rtlCol="false" tIns="50800" lIns="50800" bIns="50800" rIns="50800"/>
            <a:lstStyle/>
            <a:p>
              <a:pPr algn="ctr">
                <a:lnSpc>
                  <a:spcPts val="3359"/>
                </a:lnSpc>
              </a:pPr>
            </a:p>
          </p:txBody>
        </p:sp>
      </p:grpSp>
      <p:grpSp>
        <p:nvGrpSpPr>
          <p:cNvPr name="Group 29" id="29"/>
          <p:cNvGrpSpPr/>
          <p:nvPr/>
        </p:nvGrpSpPr>
        <p:grpSpPr>
          <a:xfrm rot="0">
            <a:off x="9817946" y="9848850"/>
            <a:ext cx="6839105" cy="1935586"/>
            <a:chOff x="0" y="0"/>
            <a:chExt cx="1801246" cy="509784"/>
          </a:xfrm>
        </p:grpSpPr>
        <p:sp>
          <p:nvSpPr>
            <p:cNvPr name="Freeform 30" id="30"/>
            <p:cNvSpPr/>
            <p:nvPr/>
          </p:nvSpPr>
          <p:spPr>
            <a:xfrm flipH="false" flipV="false" rot="0">
              <a:off x="0" y="0"/>
              <a:ext cx="1801246" cy="509784"/>
            </a:xfrm>
            <a:custGeom>
              <a:avLst/>
              <a:gdLst/>
              <a:ahLst/>
              <a:cxnLst/>
              <a:rect r="r" b="b" t="t" l="l"/>
              <a:pathLst>
                <a:path h="509784" w="1801246">
                  <a:moveTo>
                    <a:pt x="45280" y="0"/>
                  </a:moveTo>
                  <a:lnTo>
                    <a:pt x="1755965" y="0"/>
                  </a:lnTo>
                  <a:cubicBezTo>
                    <a:pt x="1780973" y="0"/>
                    <a:pt x="1801246" y="20273"/>
                    <a:pt x="1801246" y="45280"/>
                  </a:cubicBezTo>
                  <a:lnTo>
                    <a:pt x="1801246" y="464504"/>
                  </a:lnTo>
                  <a:cubicBezTo>
                    <a:pt x="1801246" y="476513"/>
                    <a:pt x="1796475" y="488030"/>
                    <a:pt x="1787983" y="496522"/>
                  </a:cubicBezTo>
                  <a:cubicBezTo>
                    <a:pt x="1779492" y="505013"/>
                    <a:pt x="1767974" y="509784"/>
                    <a:pt x="1755965" y="509784"/>
                  </a:cubicBezTo>
                  <a:lnTo>
                    <a:pt x="45280" y="509784"/>
                  </a:lnTo>
                  <a:cubicBezTo>
                    <a:pt x="20273" y="509784"/>
                    <a:pt x="0" y="489511"/>
                    <a:pt x="0" y="464504"/>
                  </a:cubicBezTo>
                  <a:lnTo>
                    <a:pt x="0" y="45280"/>
                  </a:lnTo>
                  <a:cubicBezTo>
                    <a:pt x="0" y="33271"/>
                    <a:pt x="4771" y="21754"/>
                    <a:pt x="13262" y="13262"/>
                  </a:cubicBezTo>
                  <a:cubicBezTo>
                    <a:pt x="21754" y="4771"/>
                    <a:pt x="33271" y="0"/>
                    <a:pt x="45280" y="0"/>
                  </a:cubicBezTo>
                  <a:close/>
                </a:path>
              </a:pathLst>
            </a:custGeom>
            <a:gradFill rotWithShape="true">
              <a:gsLst>
                <a:gs pos="0">
                  <a:srgbClr val="9B9B9B">
                    <a:alpha val="28000"/>
                  </a:srgbClr>
                </a:gs>
                <a:gs pos="25000">
                  <a:srgbClr val="FFFFFF">
                    <a:alpha val="29000"/>
                  </a:srgbClr>
                </a:gs>
                <a:gs pos="50000">
                  <a:srgbClr val="FFFFFF">
                    <a:alpha val="44500"/>
                  </a:srgbClr>
                </a:gs>
                <a:gs pos="75000">
                  <a:srgbClr val="FFFFFF">
                    <a:alpha val="29000"/>
                  </a:srgbClr>
                </a:gs>
                <a:gs pos="100000">
                  <a:srgbClr val="9B9B9B">
                    <a:alpha val="28000"/>
                  </a:srgbClr>
                </a:gs>
              </a:gsLst>
              <a:lin ang="2700000"/>
            </a:grad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31" id="31"/>
            <p:cNvSpPr txBox="true"/>
            <p:nvPr/>
          </p:nvSpPr>
          <p:spPr>
            <a:xfrm>
              <a:off x="0" y="-47625"/>
              <a:ext cx="1801246" cy="557409"/>
            </a:xfrm>
            <a:prstGeom prst="rect">
              <a:avLst/>
            </a:prstGeom>
          </p:spPr>
          <p:txBody>
            <a:bodyPr anchor="ctr" rtlCol="false" tIns="50800" lIns="50800" bIns="50800" rIns="50800"/>
            <a:lstStyle/>
            <a:p>
              <a:pPr algn="ctr">
                <a:lnSpc>
                  <a:spcPts val="3359"/>
                </a:lnSpc>
              </a:pPr>
            </a:p>
          </p:txBody>
        </p:sp>
      </p:grpSp>
      <p:sp>
        <p:nvSpPr>
          <p:cNvPr name="TextBox 32" id="32"/>
          <p:cNvSpPr txBox="true"/>
          <p:nvPr/>
        </p:nvSpPr>
        <p:spPr>
          <a:xfrm rot="0">
            <a:off x="1383454" y="471410"/>
            <a:ext cx="2385672" cy="382270"/>
          </a:xfrm>
          <a:prstGeom prst="rect">
            <a:avLst/>
          </a:prstGeom>
        </p:spPr>
        <p:txBody>
          <a:bodyPr anchor="t" rtlCol="false" tIns="0" lIns="0" bIns="0" rIns="0">
            <a:spAutoFit/>
          </a:bodyPr>
          <a:lstStyle/>
          <a:p>
            <a:pPr algn="l">
              <a:lnSpc>
                <a:spcPts val="3079"/>
              </a:lnSpc>
            </a:pPr>
            <a:r>
              <a:rPr lang="en-US" sz="2199" spc="-142">
                <a:solidFill>
                  <a:srgbClr val="FFFFFF"/>
                </a:solidFill>
                <a:latin typeface="TS Qamus"/>
                <a:ea typeface="TS Qamus"/>
                <a:cs typeface="TS Qamus"/>
                <a:sym typeface="TS Qamus"/>
              </a:rPr>
              <a:t>Salford &amp; Co.</a:t>
            </a:r>
          </a:p>
        </p:txBody>
      </p:sp>
      <p:sp>
        <p:nvSpPr>
          <p:cNvPr name="TextBox 33" id="33"/>
          <p:cNvSpPr txBox="true"/>
          <p:nvPr/>
        </p:nvSpPr>
        <p:spPr>
          <a:xfrm rot="0">
            <a:off x="14170902" y="477323"/>
            <a:ext cx="2228402" cy="325755"/>
          </a:xfrm>
          <a:prstGeom prst="rect">
            <a:avLst/>
          </a:prstGeom>
        </p:spPr>
        <p:txBody>
          <a:bodyPr anchor="t" rtlCol="false" tIns="0" lIns="0" bIns="0" rIns="0">
            <a:spAutoFit/>
          </a:bodyPr>
          <a:lstStyle/>
          <a:p>
            <a:pPr algn="ctr">
              <a:lnSpc>
                <a:spcPts val="2520"/>
              </a:lnSpc>
            </a:pPr>
            <a:r>
              <a:rPr lang="en-US" sz="1800" spc="-117">
                <a:solidFill>
                  <a:srgbClr val="FFFFFF"/>
                </a:solidFill>
                <a:latin typeface="Poppins"/>
                <a:ea typeface="Poppins"/>
                <a:cs typeface="Poppins"/>
                <a:sym typeface="Poppins"/>
              </a:rPr>
              <a:t>6 August, 2025</a:t>
            </a:r>
          </a:p>
        </p:txBody>
      </p:sp>
      <p:sp>
        <p:nvSpPr>
          <p:cNvPr name="TextBox 34" id="34"/>
          <p:cNvSpPr txBox="true"/>
          <p:nvPr/>
        </p:nvSpPr>
        <p:spPr>
          <a:xfrm rot="0">
            <a:off x="6740220" y="477323"/>
            <a:ext cx="2820551" cy="325755"/>
          </a:xfrm>
          <a:prstGeom prst="rect">
            <a:avLst/>
          </a:prstGeom>
        </p:spPr>
        <p:txBody>
          <a:bodyPr anchor="t" rtlCol="false" tIns="0" lIns="0" bIns="0" rIns="0">
            <a:spAutoFit/>
          </a:bodyPr>
          <a:lstStyle/>
          <a:p>
            <a:pPr algn="ctr">
              <a:lnSpc>
                <a:spcPts val="2520"/>
              </a:lnSpc>
            </a:pPr>
            <a:r>
              <a:rPr lang="en-US" sz="1800" spc="-117">
                <a:solidFill>
                  <a:srgbClr val="000000"/>
                </a:solidFill>
                <a:latin typeface="Poppins"/>
                <a:ea typeface="Poppins"/>
                <a:cs typeface="Poppins"/>
                <a:sym typeface="Poppins"/>
              </a:rPr>
              <a:t>Social</a:t>
            </a:r>
            <a:r>
              <a:rPr lang="en-US" sz="1800" spc="-117">
                <a:solidFill>
                  <a:srgbClr val="000000"/>
                </a:solidFill>
                <a:latin typeface="Poppins"/>
                <a:ea typeface="Poppins"/>
                <a:cs typeface="Poppins"/>
                <a:sym typeface="Poppins"/>
              </a:rPr>
              <a:t> Media Proposal</a:t>
            </a:r>
          </a:p>
        </p:txBody>
      </p:sp>
      <p:sp>
        <p:nvSpPr>
          <p:cNvPr name="TextBox 35" id="35"/>
          <p:cNvSpPr txBox="true"/>
          <p:nvPr/>
        </p:nvSpPr>
        <p:spPr>
          <a:xfrm rot="0">
            <a:off x="815264" y="1733799"/>
            <a:ext cx="6925626" cy="2777994"/>
          </a:xfrm>
          <a:prstGeom prst="rect">
            <a:avLst/>
          </a:prstGeom>
        </p:spPr>
        <p:txBody>
          <a:bodyPr anchor="t" rtlCol="false" tIns="0" lIns="0" bIns="0" rIns="0">
            <a:spAutoFit/>
          </a:bodyPr>
          <a:lstStyle/>
          <a:p>
            <a:pPr algn="l">
              <a:lnSpc>
                <a:spcPts val="7030"/>
              </a:lnSpc>
            </a:pPr>
            <a:r>
              <a:rPr lang="en-US" sz="7899" spc="-94" b="true">
                <a:solidFill>
                  <a:srgbClr val="FFFFFF"/>
                </a:solidFill>
                <a:latin typeface="Geometrica Sans Medium"/>
                <a:ea typeface="Geometrica Sans Medium"/>
                <a:cs typeface="Geometrica Sans Medium"/>
                <a:sym typeface="Geometrica Sans Medium"/>
              </a:rPr>
              <a:t>Rencana Pengembangan Masa Depan</a:t>
            </a:r>
          </a:p>
        </p:txBody>
      </p:sp>
      <p:sp>
        <p:nvSpPr>
          <p:cNvPr name="TextBox 36" id="36"/>
          <p:cNvSpPr txBox="true"/>
          <p:nvPr/>
        </p:nvSpPr>
        <p:spPr>
          <a:xfrm rot="0">
            <a:off x="761148" y="4748851"/>
            <a:ext cx="8382852" cy="3061716"/>
          </a:xfrm>
          <a:prstGeom prst="rect">
            <a:avLst/>
          </a:prstGeom>
        </p:spPr>
        <p:txBody>
          <a:bodyPr anchor="t" rtlCol="false" tIns="0" lIns="0" bIns="0" rIns="0">
            <a:spAutoFit/>
          </a:bodyPr>
          <a:lstStyle/>
          <a:p>
            <a:pPr algn="l" marL="1036314" indent="-345438" lvl="2">
              <a:lnSpc>
                <a:spcPts val="3071"/>
              </a:lnSpc>
              <a:buFont typeface="Arial"/>
              <a:buChar char="⚬"/>
            </a:pPr>
            <a:r>
              <a:rPr lang="en-US" sz="2399" i="true" spc="-71">
                <a:solidFill>
                  <a:srgbClr val="C6C6C6"/>
                </a:solidFill>
                <a:latin typeface="Poppins Italics"/>
                <a:ea typeface="Poppins Italics"/>
                <a:cs typeface="Poppins Italics"/>
                <a:sym typeface="Poppins Italics"/>
              </a:rPr>
              <a:t>Integrasi API scraping lowongan kerja secara live / continuous streaming.</a:t>
            </a:r>
          </a:p>
          <a:p>
            <a:pPr algn="l" marL="1036314" indent="-345438" lvl="2">
              <a:lnSpc>
                <a:spcPts val="3071"/>
              </a:lnSpc>
              <a:buFont typeface="Arial"/>
              <a:buChar char="⚬"/>
            </a:pPr>
            <a:r>
              <a:rPr lang="en-US" sz="2399" i="true" spc="-71">
                <a:solidFill>
                  <a:srgbClr val="C6C6C6"/>
                </a:solidFill>
                <a:latin typeface="Poppins Italics"/>
                <a:ea typeface="Poppins Italics"/>
                <a:cs typeface="Poppins Italics"/>
                <a:sym typeface="Poppins Italics"/>
              </a:rPr>
              <a:t>Uji coba implementasi pada sistem informasi akademik kampus secara menyeluruh.</a:t>
            </a:r>
          </a:p>
          <a:p>
            <a:pPr algn="l" marL="1036314" indent="-345438" lvl="2">
              <a:lnSpc>
                <a:spcPts val="3071"/>
              </a:lnSpc>
              <a:buFont typeface="Arial"/>
              <a:buChar char="⚬"/>
            </a:pPr>
            <a:r>
              <a:rPr lang="en-US" sz="2399" i="true" spc="-71">
                <a:solidFill>
                  <a:srgbClr val="C6C6C6"/>
                </a:solidFill>
                <a:latin typeface="Poppins Italics"/>
                <a:ea typeface="Poppins Italics"/>
                <a:cs typeface="Poppins Italics"/>
                <a:sym typeface="Poppins Italics"/>
              </a:rPr>
              <a:t>Pemanfaatan agregasi data skill gap sebagai modul Curriculum Intelligence bagi perumus kebijakan kampus &amp; BRIN.</a:t>
            </a:r>
          </a:p>
          <a:p>
            <a:pPr algn="l">
              <a:lnSpc>
                <a:spcPts val="3071"/>
              </a:lnSpc>
            </a:pP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777" r="0" b="-1777"/>
            </a:stretch>
          </a:blipFill>
        </p:spPr>
      </p:sp>
      <p:sp>
        <p:nvSpPr>
          <p:cNvPr name="AutoShape 3" id="3"/>
          <p:cNvSpPr/>
          <p:nvPr/>
        </p:nvSpPr>
        <p:spPr>
          <a:xfrm>
            <a:off x="8759186" y="-448043"/>
            <a:ext cx="0" cy="11118486"/>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
        <p:nvSpPr>
          <p:cNvPr name="AutoShape 4" id="4"/>
          <p:cNvSpPr/>
          <p:nvPr/>
        </p:nvSpPr>
        <p:spPr>
          <a:xfrm>
            <a:off x="477889" y="-448043"/>
            <a:ext cx="0" cy="11118486"/>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
        <p:nvSpPr>
          <p:cNvPr name="AutoShape 5" id="5"/>
          <p:cNvSpPr/>
          <p:nvPr/>
        </p:nvSpPr>
        <p:spPr>
          <a:xfrm>
            <a:off x="-417053" y="1167061"/>
            <a:ext cx="19109210" cy="0"/>
          </a:xfrm>
          <a:prstGeom prst="line">
            <a:avLst/>
          </a:prstGeom>
          <a:ln cap="flat" w="9525">
            <a:gradFill>
              <a:gsLst>
                <a:gs pos="0">
                  <a:srgbClr val="FFFFFF">
                    <a:alpha val="35000"/>
                  </a:srgbClr>
                </a:gs>
                <a:gs pos="25000">
                  <a:srgbClr val="7D7D7D">
                    <a:alpha val="35000"/>
                  </a:srgbClr>
                </a:gs>
                <a:gs pos="50000">
                  <a:srgbClr val="FFFFFF">
                    <a:alpha val="35000"/>
                  </a:srgbClr>
                </a:gs>
                <a:gs pos="75000">
                  <a:srgbClr val="7C7C7C">
                    <a:alpha val="35000"/>
                  </a:srgbClr>
                </a:gs>
                <a:gs pos="100000">
                  <a:srgbClr val="FFFFFF">
                    <a:alpha val="35000"/>
                  </a:srgbClr>
                </a:gs>
              </a:gsLst>
              <a:lin ang="0"/>
            </a:gradFill>
            <a:prstDash val="solid"/>
            <a:headEnd type="none" len="sm" w="sm"/>
            <a:tailEnd type="none" len="sm" w="sm"/>
          </a:ln>
        </p:spPr>
      </p:sp>
      <p:sp>
        <p:nvSpPr>
          <p:cNvPr name="Freeform 6" id="6"/>
          <p:cNvSpPr/>
          <p:nvPr/>
        </p:nvSpPr>
        <p:spPr>
          <a:xfrm flipH="false" flipV="false" rot="0">
            <a:off x="783373" y="515779"/>
            <a:ext cx="443469" cy="305994"/>
          </a:xfrm>
          <a:custGeom>
            <a:avLst/>
            <a:gdLst/>
            <a:ahLst/>
            <a:cxnLst/>
            <a:rect r="r" b="b" t="t" l="l"/>
            <a:pathLst>
              <a:path h="305994" w="443469">
                <a:moveTo>
                  <a:pt x="0" y="0"/>
                </a:moveTo>
                <a:lnTo>
                  <a:pt x="443469" y="0"/>
                </a:lnTo>
                <a:lnTo>
                  <a:pt x="443469" y="305993"/>
                </a:lnTo>
                <a:lnTo>
                  <a:pt x="0" y="30599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16845300" y="391766"/>
            <a:ext cx="635507" cy="554019"/>
            <a:chOff x="0" y="0"/>
            <a:chExt cx="167376" cy="145915"/>
          </a:xfrm>
        </p:grpSpPr>
        <p:sp>
          <p:nvSpPr>
            <p:cNvPr name="Freeform 8" id="8"/>
            <p:cNvSpPr/>
            <p:nvPr/>
          </p:nvSpPr>
          <p:spPr>
            <a:xfrm flipH="false" flipV="false" rot="0">
              <a:off x="0" y="0"/>
              <a:ext cx="167376" cy="145915"/>
            </a:xfrm>
            <a:custGeom>
              <a:avLst/>
              <a:gdLst/>
              <a:ahLst/>
              <a:cxnLst/>
              <a:rect r="r" b="b" t="t" l="l"/>
              <a:pathLst>
                <a:path h="145915" w="167376">
                  <a:moveTo>
                    <a:pt x="72957" y="0"/>
                  </a:moveTo>
                  <a:lnTo>
                    <a:pt x="94419" y="0"/>
                  </a:lnTo>
                  <a:cubicBezTo>
                    <a:pt x="134712" y="0"/>
                    <a:pt x="167376" y="32664"/>
                    <a:pt x="167376" y="72957"/>
                  </a:cubicBezTo>
                  <a:lnTo>
                    <a:pt x="167376" y="72957"/>
                  </a:lnTo>
                  <a:cubicBezTo>
                    <a:pt x="167376" y="113250"/>
                    <a:pt x="134712" y="145915"/>
                    <a:pt x="94419" y="145915"/>
                  </a:cubicBezTo>
                  <a:lnTo>
                    <a:pt x="72957" y="145915"/>
                  </a:lnTo>
                  <a:cubicBezTo>
                    <a:pt x="32664" y="145915"/>
                    <a:pt x="0" y="113250"/>
                    <a:pt x="0" y="72957"/>
                  </a:cubicBezTo>
                  <a:lnTo>
                    <a:pt x="0" y="72957"/>
                  </a:lnTo>
                  <a:cubicBezTo>
                    <a:pt x="0" y="32664"/>
                    <a:pt x="32664" y="0"/>
                    <a:pt x="72957" y="0"/>
                  </a:cubicBezTo>
                  <a:close/>
                </a:path>
              </a:pathLst>
            </a:custGeom>
            <a:gradFill rotWithShape="true">
              <a:gsLst>
                <a:gs pos="0">
                  <a:srgbClr val="9B9B9B">
                    <a:alpha val="28000"/>
                  </a:srgbClr>
                </a:gs>
                <a:gs pos="25000">
                  <a:srgbClr val="FFFFFF">
                    <a:alpha val="29000"/>
                  </a:srgbClr>
                </a:gs>
                <a:gs pos="50000">
                  <a:srgbClr val="FFFFFF">
                    <a:alpha val="44500"/>
                  </a:srgbClr>
                </a:gs>
                <a:gs pos="75000">
                  <a:srgbClr val="FFFFFF">
                    <a:alpha val="29000"/>
                  </a:srgbClr>
                </a:gs>
                <a:gs pos="100000">
                  <a:srgbClr val="9B9B9B">
                    <a:alpha val="28000"/>
                  </a:srgbClr>
                </a:gs>
              </a:gsLst>
              <a:lin ang="2700000"/>
            </a:grad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9" id="9"/>
            <p:cNvSpPr txBox="true"/>
            <p:nvPr/>
          </p:nvSpPr>
          <p:spPr>
            <a:xfrm>
              <a:off x="0" y="-47625"/>
              <a:ext cx="167376" cy="193540"/>
            </a:xfrm>
            <a:prstGeom prst="rect">
              <a:avLst/>
            </a:prstGeom>
          </p:spPr>
          <p:txBody>
            <a:bodyPr anchor="ctr" rtlCol="false" tIns="50800" lIns="50800" bIns="50800" rIns="50800"/>
            <a:lstStyle/>
            <a:p>
              <a:pPr algn="ctr">
                <a:lnSpc>
                  <a:spcPts val="3359"/>
                </a:lnSpc>
              </a:pPr>
            </a:p>
          </p:txBody>
        </p:sp>
      </p:grpSp>
      <p:grpSp>
        <p:nvGrpSpPr>
          <p:cNvPr name="Group 10" id="10"/>
          <p:cNvGrpSpPr/>
          <p:nvPr/>
        </p:nvGrpSpPr>
        <p:grpSpPr>
          <a:xfrm rot="0">
            <a:off x="13913154" y="391766"/>
            <a:ext cx="2743897" cy="554019"/>
            <a:chOff x="0" y="0"/>
            <a:chExt cx="722672" cy="145915"/>
          </a:xfrm>
        </p:grpSpPr>
        <p:sp>
          <p:nvSpPr>
            <p:cNvPr name="Freeform 11" id="11"/>
            <p:cNvSpPr/>
            <p:nvPr/>
          </p:nvSpPr>
          <p:spPr>
            <a:xfrm flipH="false" flipV="false" rot="0">
              <a:off x="0" y="0"/>
              <a:ext cx="722672" cy="145915"/>
            </a:xfrm>
            <a:custGeom>
              <a:avLst/>
              <a:gdLst/>
              <a:ahLst/>
              <a:cxnLst/>
              <a:rect r="r" b="b" t="t" l="l"/>
              <a:pathLst>
                <a:path h="145915" w="722672">
                  <a:moveTo>
                    <a:pt x="72957" y="0"/>
                  </a:moveTo>
                  <a:lnTo>
                    <a:pt x="649715" y="0"/>
                  </a:lnTo>
                  <a:cubicBezTo>
                    <a:pt x="690008" y="0"/>
                    <a:pt x="722672" y="32664"/>
                    <a:pt x="722672" y="72957"/>
                  </a:cubicBezTo>
                  <a:lnTo>
                    <a:pt x="722672" y="72957"/>
                  </a:lnTo>
                  <a:cubicBezTo>
                    <a:pt x="722672" y="113250"/>
                    <a:pt x="690008" y="145915"/>
                    <a:pt x="649715" y="145915"/>
                  </a:cubicBezTo>
                  <a:lnTo>
                    <a:pt x="72957" y="145915"/>
                  </a:lnTo>
                  <a:cubicBezTo>
                    <a:pt x="32664" y="145915"/>
                    <a:pt x="0" y="113250"/>
                    <a:pt x="0" y="72957"/>
                  </a:cubicBezTo>
                  <a:lnTo>
                    <a:pt x="0" y="72957"/>
                  </a:lnTo>
                  <a:cubicBezTo>
                    <a:pt x="0" y="32664"/>
                    <a:pt x="32664" y="0"/>
                    <a:pt x="72957" y="0"/>
                  </a:cubicBezTo>
                  <a:close/>
                </a:path>
              </a:pathLst>
            </a:custGeom>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12" id="12"/>
            <p:cNvSpPr txBox="true"/>
            <p:nvPr/>
          </p:nvSpPr>
          <p:spPr>
            <a:xfrm>
              <a:off x="0" y="-47625"/>
              <a:ext cx="722672" cy="193540"/>
            </a:xfrm>
            <a:prstGeom prst="rect">
              <a:avLst/>
            </a:prstGeom>
          </p:spPr>
          <p:txBody>
            <a:bodyPr anchor="ctr" rtlCol="false" tIns="50800" lIns="50800" bIns="50800" rIns="50800"/>
            <a:lstStyle/>
            <a:p>
              <a:pPr algn="ctr">
                <a:lnSpc>
                  <a:spcPts val="3359"/>
                </a:lnSpc>
              </a:pPr>
            </a:p>
          </p:txBody>
        </p:sp>
      </p:grpSp>
      <p:grpSp>
        <p:nvGrpSpPr>
          <p:cNvPr name="Group 13" id="13"/>
          <p:cNvGrpSpPr/>
          <p:nvPr/>
        </p:nvGrpSpPr>
        <p:grpSpPr>
          <a:xfrm rot="0">
            <a:off x="8999840" y="4535328"/>
            <a:ext cx="8480967" cy="1533191"/>
            <a:chOff x="0" y="0"/>
            <a:chExt cx="2233670" cy="403803"/>
          </a:xfrm>
        </p:grpSpPr>
        <p:sp>
          <p:nvSpPr>
            <p:cNvPr name="Freeform 14" id="14"/>
            <p:cNvSpPr/>
            <p:nvPr/>
          </p:nvSpPr>
          <p:spPr>
            <a:xfrm flipH="false" flipV="false" rot="0">
              <a:off x="0" y="0"/>
              <a:ext cx="2233670" cy="403803"/>
            </a:xfrm>
            <a:custGeom>
              <a:avLst/>
              <a:gdLst/>
              <a:ahLst/>
              <a:cxnLst/>
              <a:rect r="r" b="b" t="t" l="l"/>
              <a:pathLst>
                <a:path h="403803" w="2233670">
                  <a:moveTo>
                    <a:pt x="36514" y="0"/>
                  </a:moveTo>
                  <a:lnTo>
                    <a:pt x="2197156" y="0"/>
                  </a:lnTo>
                  <a:cubicBezTo>
                    <a:pt x="2206840" y="0"/>
                    <a:pt x="2216128" y="3847"/>
                    <a:pt x="2222975" y="10695"/>
                  </a:cubicBezTo>
                  <a:cubicBezTo>
                    <a:pt x="2229823" y="17543"/>
                    <a:pt x="2233670" y="26830"/>
                    <a:pt x="2233670" y="36514"/>
                  </a:cubicBezTo>
                  <a:lnTo>
                    <a:pt x="2233670" y="367289"/>
                  </a:lnTo>
                  <a:cubicBezTo>
                    <a:pt x="2233670" y="387455"/>
                    <a:pt x="2217322" y="403803"/>
                    <a:pt x="2197156" y="403803"/>
                  </a:cubicBezTo>
                  <a:lnTo>
                    <a:pt x="36514" y="403803"/>
                  </a:lnTo>
                  <a:cubicBezTo>
                    <a:pt x="26830" y="403803"/>
                    <a:pt x="17543" y="399956"/>
                    <a:pt x="10695" y="393109"/>
                  </a:cubicBezTo>
                  <a:cubicBezTo>
                    <a:pt x="3847" y="386261"/>
                    <a:pt x="0" y="376973"/>
                    <a:pt x="0" y="367289"/>
                  </a:cubicBezTo>
                  <a:lnTo>
                    <a:pt x="0" y="36514"/>
                  </a:lnTo>
                  <a:cubicBezTo>
                    <a:pt x="0" y="26830"/>
                    <a:pt x="3847" y="17543"/>
                    <a:pt x="10695" y="10695"/>
                  </a:cubicBezTo>
                  <a:cubicBezTo>
                    <a:pt x="17543" y="3847"/>
                    <a:pt x="26830" y="0"/>
                    <a:pt x="36514" y="0"/>
                  </a:cubicBezTo>
                  <a:close/>
                </a:path>
              </a:pathLst>
            </a:custGeom>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15" id="15"/>
            <p:cNvSpPr txBox="true"/>
            <p:nvPr/>
          </p:nvSpPr>
          <p:spPr>
            <a:xfrm>
              <a:off x="0" y="-47625"/>
              <a:ext cx="2233670" cy="451428"/>
            </a:xfrm>
            <a:prstGeom prst="rect">
              <a:avLst/>
            </a:prstGeom>
          </p:spPr>
          <p:txBody>
            <a:bodyPr anchor="ctr" rtlCol="false" tIns="50800" lIns="50800" bIns="50800" rIns="50800"/>
            <a:lstStyle/>
            <a:p>
              <a:pPr algn="ctr">
                <a:lnSpc>
                  <a:spcPts val="3359"/>
                </a:lnSpc>
              </a:pPr>
            </a:p>
          </p:txBody>
        </p:sp>
      </p:grpSp>
      <p:sp>
        <p:nvSpPr>
          <p:cNvPr name="TextBox 16" id="16"/>
          <p:cNvSpPr txBox="true"/>
          <p:nvPr/>
        </p:nvSpPr>
        <p:spPr>
          <a:xfrm rot="0">
            <a:off x="815264" y="983410"/>
            <a:ext cx="7124634" cy="3415619"/>
          </a:xfrm>
          <a:prstGeom prst="rect">
            <a:avLst/>
          </a:prstGeom>
        </p:spPr>
        <p:txBody>
          <a:bodyPr anchor="t" rtlCol="false" tIns="0" lIns="0" bIns="0" rIns="0">
            <a:spAutoFit/>
          </a:bodyPr>
          <a:lstStyle/>
          <a:p>
            <a:pPr algn="l">
              <a:lnSpc>
                <a:spcPts val="27861"/>
              </a:lnSpc>
            </a:pPr>
            <a:r>
              <a:rPr lang="en-US" sz="19900" spc="-238" b="true">
                <a:solidFill>
                  <a:srgbClr val="FFFFFF"/>
                </a:solidFill>
                <a:latin typeface="Geometrica Sans Medium"/>
                <a:ea typeface="Geometrica Sans Medium"/>
                <a:cs typeface="Geometrica Sans Medium"/>
                <a:sym typeface="Geometrica Sans Medium"/>
              </a:rPr>
              <a:t>Thank</a:t>
            </a:r>
          </a:p>
        </p:txBody>
      </p:sp>
      <p:sp>
        <p:nvSpPr>
          <p:cNvPr name="TextBox 17" id="17"/>
          <p:cNvSpPr txBox="true"/>
          <p:nvPr/>
        </p:nvSpPr>
        <p:spPr>
          <a:xfrm rot="0">
            <a:off x="3572012" y="3513104"/>
            <a:ext cx="5246853" cy="3415619"/>
          </a:xfrm>
          <a:prstGeom prst="rect">
            <a:avLst/>
          </a:prstGeom>
        </p:spPr>
        <p:txBody>
          <a:bodyPr anchor="t" rtlCol="false" tIns="0" lIns="0" bIns="0" rIns="0">
            <a:spAutoFit/>
          </a:bodyPr>
          <a:lstStyle/>
          <a:p>
            <a:pPr algn="l">
              <a:lnSpc>
                <a:spcPts val="27861"/>
              </a:lnSpc>
            </a:pPr>
            <a:r>
              <a:rPr lang="en-US" sz="19900" spc="-238" b="true">
                <a:solidFill>
                  <a:srgbClr val="FFFFFF"/>
                </a:solidFill>
                <a:latin typeface="Geometrica Sans Medium"/>
                <a:ea typeface="Geometrica Sans Medium"/>
                <a:cs typeface="Geometrica Sans Medium"/>
                <a:sym typeface="Geometrica Sans Medium"/>
              </a:rPr>
              <a:t>You</a:t>
            </a:r>
          </a:p>
        </p:txBody>
      </p:sp>
      <p:sp>
        <p:nvSpPr>
          <p:cNvPr name="Freeform 18" id="18"/>
          <p:cNvSpPr/>
          <p:nvPr/>
        </p:nvSpPr>
        <p:spPr>
          <a:xfrm flipH="false" flipV="false" rot="0">
            <a:off x="-574377" y="6697169"/>
            <a:ext cx="19436754" cy="5976802"/>
          </a:xfrm>
          <a:custGeom>
            <a:avLst/>
            <a:gdLst/>
            <a:ahLst/>
            <a:cxnLst/>
            <a:rect r="r" b="b" t="t" l="l"/>
            <a:pathLst>
              <a:path h="5976802" w="19436754">
                <a:moveTo>
                  <a:pt x="0" y="0"/>
                </a:moveTo>
                <a:lnTo>
                  <a:pt x="19436754" y="0"/>
                </a:lnTo>
                <a:lnTo>
                  <a:pt x="19436754" y="5976802"/>
                </a:lnTo>
                <a:lnTo>
                  <a:pt x="0" y="5976802"/>
                </a:lnTo>
                <a:lnTo>
                  <a:pt x="0" y="0"/>
                </a:lnTo>
                <a:close/>
              </a:path>
            </a:pathLst>
          </a:custGeom>
          <a:blipFill>
            <a:blip r:embed="rId5">
              <a:alphaModFix amt="70000"/>
            </a:blip>
            <a:stretch>
              <a:fillRect l="0" t="0" r="0" b="0"/>
            </a:stretch>
          </a:blipFill>
        </p:spPr>
      </p:sp>
      <p:sp>
        <p:nvSpPr>
          <p:cNvPr name="TextBox 19" id="19"/>
          <p:cNvSpPr txBox="true"/>
          <p:nvPr/>
        </p:nvSpPr>
        <p:spPr>
          <a:xfrm rot="0">
            <a:off x="1383454" y="471410"/>
            <a:ext cx="2385672" cy="382270"/>
          </a:xfrm>
          <a:prstGeom prst="rect">
            <a:avLst/>
          </a:prstGeom>
        </p:spPr>
        <p:txBody>
          <a:bodyPr anchor="t" rtlCol="false" tIns="0" lIns="0" bIns="0" rIns="0">
            <a:spAutoFit/>
          </a:bodyPr>
          <a:lstStyle/>
          <a:p>
            <a:pPr algn="l">
              <a:lnSpc>
                <a:spcPts val="3079"/>
              </a:lnSpc>
            </a:pPr>
            <a:r>
              <a:rPr lang="en-US" sz="2199" spc="-142">
                <a:solidFill>
                  <a:srgbClr val="FFFFFF"/>
                </a:solidFill>
                <a:latin typeface="TS Qamus"/>
                <a:ea typeface="TS Qamus"/>
                <a:cs typeface="TS Qamus"/>
                <a:sym typeface="TS Qamus"/>
              </a:rPr>
              <a:t>Salford &amp; Co.</a:t>
            </a:r>
          </a:p>
        </p:txBody>
      </p:sp>
      <p:sp>
        <p:nvSpPr>
          <p:cNvPr name="TextBox 20" id="20"/>
          <p:cNvSpPr txBox="true"/>
          <p:nvPr/>
        </p:nvSpPr>
        <p:spPr>
          <a:xfrm rot="0">
            <a:off x="9152240" y="3543982"/>
            <a:ext cx="8107060" cy="507365"/>
          </a:xfrm>
          <a:prstGeom prst="rect">
            <a:avLst/>
          </a:prstGeom>
        </p:spPr>
        <p:txBody>
          <a:bodyPr anchor="t" rtlCol="false" tIns="0" lIns="0" bIns="0" rIns="0">
            <a:spAutoFit/>
          </a:bodyPr>
          <a:lstStyle/>
          <a:p>
            <a:pPr algn="l">
              <a:lnSpc>
                <a:spcPts val="1960"/>
              </a:lnSpc>
            </a:pPr>
            <a:r>
              <a:rPr lang="en-US" sz="1400" i="true" spc="-54">
                <a:solidFill>
                  <a:srgbClr val="C6C6C6"/>
                </a:solidFill>
                <a:latin typeface="Poppins Light Italics"/>
                <a:ea typeface="Poppins Light Italics"/>
                <a:cs typeface="Poppins Light Italics"/>
                <a:sym typeface="Poppins Light Italics"/>
              </a:rPr>
              <a:t>Lorem ipsum dolor sit amet, consectetur adipiscing elit. Quisque molestie nisl eu sem tristique, sit amet convallis ex aliquam. Maecenas varius lectus hendrerit augue blandit.</a:t>
            </a:r>
          </a:p>
        </p:txBody>
      </p:sp>
      <p:sp>
        <p:nvSpPr>
          <p:cNvPr name="TextBox 21" id="21"/>
          <p:cNvSpPr txBox="true"/>
          <p:nvPr/>
        </p:nvSpPr>
        <p:spPr>
          <a:xfrm rot="0">
            <a:off x="14170902" y="477323"/>
            <a:ext cx="2228402" cy="325755"/>
          </a:xfrm>
          <a:prstGeom prst="rect">
            <a:avLst/>
          </a:prstGeom>
        </p:spPr>
        <p:txBody>
          <a:bodyPr anchor="t" rtlCol="false" tIns="0" lIns="0" bIns="0" rIns="0">
            <a:spAutoFit/>
          </a:bodyPr>
          <a:lstStyle/>
          <a:p>
            <a:pPr algn="ctr">
              <a:lnSpc>
                <a:spcPts val="2520"/>
              </a:lnSpc>
            </a:pPr>
            <a:r>
              <a:rPr lang="en-US" sz="1800" spc="-117">
                <a:solidFill>
                  <a:srgbClr val="FFFFFF"/>
                </a:solidFill>
                <a:latin typeface="Poppins"/>
                <a:ea typeface="Poppins"/>
                <a:cs typeface="Poppins"/>
                <a:sym typeface="Poppins"/>
              </a:rPr>
              <a:t>6 August, 2025</a:t>
            </a:r>
          </a:p>
        </p:txBody>
      </p:sp>
      <p:sp>
        <p:nvSpPr>
          <p:cNvPr name="Freeform 22" id="22"/>
          <p:cNvSpPr/>
          <p:nvPr/>
        </p:nvSpPr>
        <p:spPr>
          <a:xfrm flipH="false" flipV="false" rot="0">
            <a:off x="9377279" y="4855025"/>
            <a:ext cx="268639" cy="268639"/>
          </a:xfrm>
          <a:custGeom>
            <a:avLst/>
            <a:gdLst/>
            <a:ahLst/>
            <a:cxnLst/>
            <a:rect r="r" b="b" t="t" l="l"/>
            <a:pathLst>
              <a:path h="268639" w="268639">
                <a:moveTo>
                  <a:pt x="0" y="0"/>
                </a:moveTo>
                <a:lnTo>
                  <a:pt x="268639" y="0"/>
                </a:lnTo>
                <a:lnTo>
                  <a:pt x="268639" y="268639"/>
                </a:lnTo>
                <a:lnTo>
                  <a:pt x="0" y="26863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3" id="23"/>
          <p:cNvSpPr txBox="true"/>
          <p:nvPr/>
        </p:nvSpPr>
        <p:spPr>
          <a:xfrm rot="0">
            <a:off x="9942664" y="4827236"/>
            <a:ext cx="2287369" cy="283210"/>
          </a:xfrm>
          <a:prstGeom prst="rect">
            <a:avLst/>
          </a:prstGeom>
        </p:spPr>
        <p:txBody>
          <a:bodyPr anchor="t" rtlCol="false" tIns="0" lIns="0" bIns="0" rIns="0">
            <a:spAutoFit/>
          </a:bodyPr>
          <a:lstStyle/>
          <a:p>
            <a:pPr algn="l" marL="0" indent="0" lvl="0">
              <a:lnSpc>
                <a:spcPts val="2239"/>
              </a:lnSpc>
              <a:spcBef>
                <a:spcPct val="0"/>
              </a:spcBef>
            </a:pPr>
            <a:r>
              <a:rPr lang="en-US" sz="1599" spc="-51" strike="noStrike" u="none">
                <a:solidFill>
                  <a:srgbClr val="FFFFFF"/>
                </a:solidFill>
                <a:latin typeface="Poppins"/>
                <a:ea typeface="Poppins"/>
                <a:cs typeface="Poppins"/>
                <a:sym typeface="Poppins"/>
              </a:rPr>
              <a:t>+123-456-7890</a:t>
            </a:r>
          </a:p>
        </p:txBody>
      </p:sp>
      <p:sp>
        <p:nvSpPr>
          <p:cNvPr name="Freeform 24" id="24"/>
          <p:cNvSpPr/>
          <p:nvPr/>
        </p:nvSpPr>
        <p:spPr>
          <a:xfrm flipH="false" flipV="false" rot="0">
            <a:off x="9377279" y="5425973"/>
            <a:ext cx="249899" cy="291569"/>
          </a:xfrm>
          <a:custGeom>
            <a:avLst/>
            <a:gdLst/>
            <a:ahLst/>
            <a:cxnLst/>
            <a:rect r="r" b="b" t="t" l="l"/>
            <a:pathLst>
              <a:path h="291569" w="249899">
                <a:moveTo>
                  <a:pt x="0" y="0"/>
                </a:moveTo>
                <a:lnTo>
                  <a:pt x="249899" y="0"/>
                </a:lnTo>
                <a:lnTo>
                  <a:pt x="249899" y="291568"/>
                </a:lnTo>
                <a:lnTo>
                  <a:pt x="0" y="29156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TextBox 25" id="25"/>
          <p:cNvSpPr txBox="true"/>
          <p:nvPr/>
        </p:nvSpPr>
        <p:spPr>
          <a:xfrm rot="0">
            <a:off x="9942664" y="5368551"/>
            <a:ext cx="3134641" cy="283210"/>
          </a:xfrm>
          <a:prstGeom prst="rect">
            <a:avLst/>
          </a:prstGeom>
        </p:spPr>
        <p:txBody>
          <a:bodyPr anchor="t" rtlCol="false" tIns="0" lIns="0" bIns="0" rIns="0">
            <a:spAutoFit/>
          </a:bodyPr>
          <a:lstStyle/>
          <a:p>
            <a:pPr algn="l" marL="0" indent="0" lvl="0">
              <a:lnSpc>
                <a:spcPts val="2239"/>
              </a:lnSpc>
              <a:spcBef>
                <a:spcPct val="0"/>
              </a:spcBef>
            </a:pPr>
            <a:r>
              <a:rPr lang="en-US" sz="1599" spc="-51" strike="noStrike" u="none">
                <a:solidFill>
                  <a:srgbClr val="FFFFFF"/>
                </a:solidFill>
                <a:latin typeface="Poppins"/>
                <a:ea typeface="Poppins"/>
                <a:cs typeface="Poppins"/>
                <a:sym typeface="Poppins"/>
              </a:rPr>
              <a:t>www.reallygreatsite.com</a:t>
            </a:r>
          </a:p>
        </p:txBody>
      </p:sp>
      <p:sp>
        <p:nvSpPr>
          <p:cNvPr name="Freeform 26" id="26"/>
          <p:cNvSpPr/>
          <p:nvPr/>
        </p:nvSpPr>
        <p:spPr>
          <a:xfrm flipH="false" flipV="false" rot="0">
            <a:off x="13134455" y="4855025"/>
            <a:ext cx="268639" cy="268639"/>
          </a:xfrm>
          <a:custGeom>
            <a:avLst/>
            <a:gdLst/>
            <a:ahLst/>
            <a:cxnLst/>
            <a:rect r="r" b="b" t="t" l="l"/>
            <a:pathLst>
              <a:path h="268639" w="268639">
                <a:moveTo>
                  <a:pt x="0" y="0"/>
                </a:moveTo>
                <a:lnTo>
                  <a:pt x="268639" y="0"/>
                </a:lnTo>
                <a:lnTo>
                  <a:pt x="268639" y="268639"/>
                </a:lnTo>
                <a:lnTo>
                  <a:pt x="0" y="26863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TextBox 27" id="27"/>
          <p:cNvSpPr txBox="true"/>
          <p:nvPr/>
        </p:nvSpPr>
        <p:spPr>
          <a:xfrm rot="0">
            <a:off x="13698369" y="4827236"/>
            <a:ext cx="3277384" cy="283210"/>
          </a:xfrm>
          <a:prstGeom prst="rect">
            <a:avLst/>
          </a:prstGeom>
        </p:spPr>
        <p:txBody>
          <a:bodyPr anchor="t" rtlCol="false" tIns="0" lIns="0" bIns="0" rIns="0">
            <a:spAutoFit/>
          </a:bodyPr>
          <a:lstStyle/>
          <a:p>
            <a:pPr algn="l" marL="0" indent="0" lvl="0">
              <a:lnSpc>
                <a:spcPts val="2239"/>
              </a:lnSpc>
              <a:spcBef>
                <a:spcPct val="0"/>
              </a:spcBef>
            </a:pPr>
            <a:r>
              <a:rPr lang="en-US" sz="1599" spc="-51" strike="noStrike" u="none">
                <a:solidFill>
                  <a:srgbClr val="FFFFFF"/>
                </a:solidFill>
                <a:latin typeface="Poppins"/>
                <a:ea typeface="Poppins"/>
                <a:cs typeface="Poppins"/>
                <a:sym typeface="Poppins"/>
              </a:rPr>
              <a:t>hello@reallygreatsite.com</a:t>
            </a:r>
          </a:p>
        </p:txBody>
      </p:sp>
      <p:sp>
        <p:nvSpPr>
          <p:cNvPr name="Freeform 28" id="28"/>
          <p:cNvSpPr/>
          <p:nvPr/>
        </p:nvSpPr>
        <p:spPr>
          <a:xfrm flipH="false" flipV="false" rot="0">
            <a:off x="13134455" y="5405545"/>
            <a:ext cx="268639" cy="268639"/>
          </a:xfrm>
          <a:custGeom>
            <a:avLst/>
            <a:gdLst/>
            <a:ahLst/>
            <a:cxnLst/>
            <a:rect r="r" b="b" t="t" l="l"/>
            <a:pathLst>
              <a:path h="268639" w="268639">
                <a:moveTo>
                  <a:pt x="0" y="0"/>
                </a:moveTo>
                <a:lnTo>
                  <a:pt x="268639" y="0"/>
                </a:lnTo>
                <a:lnTo>
                  <a:pt x="268639" y="268639"/>
                </a:lnTo>
                <a:lnTo>
                  <a:pt x="0" y="26863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TextBox 29" id="29"/>
          <p:cNvSpPr txBox="true"/>
          <p:nvPr/>
        </p:nvSpPr>
        <p:spPr>
          <a:xfrm rot="0">
            <a:off x="13698369" y="5379182"/>
            <a:ext cx="3861448" cy="283210"/>
          </a:xfrm>
          <a:prstGeom prst="rect">
            <a:avLst/>
          </a:prstGeom>
        </p:spPr>
        <p:txBody>
          <a:bodyPr anchor="t" rtlCol="false" tIns="0" lIns="0" bIns="0" rIns="0">
            <a:spAutoFit/>
          </a:bodyPr>
          <a:lstStyle/>
          <a:p>
            <a:pPr algn="l" marL="0" indent="0" lvl="0">
              <a:lnSpc>
                <a:spcPts val="2239"/>
              </a:lnSpc>
              <a:spcBef>
                <a:spcPct val="0"/>
              </a:spcBef>
            </a:pPr>
            <a:r>
              <a:rPr lang="en-US" sz="1599" spc="-51" strike="noStrike" u="none">
                <a:solidFill>
                  <a:srgbClr val="FFFFFF"/>
                </a:solidFill>
                <a:latin typeface="Poppins"/>
                <a:ea typeface="Poppins"/>
                <a:cs typeface="Poppins"/>
                <a:sym typeface="Poppins"/>
              </a:rPr>
              <a:t>123 Anywhere St., Any City, ST 12345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DAHTHB-v4Fc</dc:identifier>
  <dcterms:modified xsi:type="dcterms:W3CDTF">2011-08-01T06:04:30Z</dcterms:modified>
  <cp:revision>1</cp:revision>
  <dc:title>Rekomendasi</dc:title>
</cp:coreProperties>
</file>